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73" r:id="rId5"/>
    <p:sldId id="259" r:id="rId6"/>
    <p:sldId id="260" r:id="rId7"/>
    <p:sldId id="261" r:id="rId8"/>
    <p:sldId id="262" r:id="rId9"/>
    <p:sldId id="271" r:id="rId10"/>
    <p:sldId id="272" r:id="rId11"/>
    <p:sldId id="263" r:id="rId12"/>
    <p:sldId id="264" r:id="rId13"/>
    <p:sldId id="265" r:id="rId14"/>
    <p:sldId id="270" r:id="rId15"/>
    <p:sldId id="269" r:id="rId16"/>
  </p:sldIdLst>
  <p:sldSz cx="14630400" cy="8229600"/>
  <p:notesSz cx="8229600" cy="14630400"/>
  <p:embeddedFontLst>
    <p:embeddedFont>
      <p:font typeface="Inter"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AC31C3-2D9B-4571-8029-CE0B9AEBFC2D}" v="103" dt="2026-04-16T18:04:31.131"/>
    <p1510:client id="{1FF5ADB1-2C3D-4446-9777-343623FB4094}" v="2" dt="2026-04-16T19:09:58.770"/>
    <p1510:client id="{257375D3-463E-BA77-528E-5EC10E057A1D}" v="2309" dt="2026-04-16T18:18:00.242"/>
    <p1510:client id="{26746F8F-FC9D-BCAF-F5A3-11D301C7E830}" v="495" dt="2026-04-16T18:18:01.434"/>
    <p1510:client id="{BD43CACC-D584-426E-B1ED-5CF8DD2481B3}" v="364" dt="2026-04-16T19:51:14.4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6" d="100"/>
          <a:sy n="126"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9708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hyperlink" Target="http://GOG.com"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svg"/><Relationship Id="rId7" Type="http://schemas.openxmlformats.org/officeDocument/2006/relationships/image" Target="../media/image17.svg"/><Relationship Id="rId12"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6.sv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svg"/></Relationships>
</file>

<file path=ppt/slides/_rels/slide7.xml.rels><?xml version="1.0" encoding="UTF-8" standalone="yes"?>
<Relationships xmlns="http://schemas.openxmlformats.org/package/2006/relationships"><Relationship Id="rId3" Type="http://schemas.openxmlformats.org/officeDocument/2006/relationships/hyperlink" Target="http://GOG.com"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gog.com" TargetMode="Externa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2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23.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2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Shape 0"/>
          <p:cNvSpPr/>
          <p:nvPr/>
        </p:nvSpPr>
        <p:spPr>
          <a:xfrm>
            <a:off x="9144000" y="0"/>
            <a:ext cx="5486400" cy="8229600"/>
          </a:xfrm>
          <a:prstGeom prst="rect">
            <a:avLst/>
          </a:prstGeom>
          <a:solidFill>
            <a:srgbClr val="DFDFE0"/>
          </a:solidFill>
          <a:ln/>
        </p:spPr>
        <p:txBody>
          <a:bodyPr/>
          <a:lstStyle/>
          <a:p>
            <a:endParaRPr lang="en-US"/>
          </a:p>
        </p:txBody>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793790" y="2916674"/>
            <a:ext cx="7556421" cy="1240155"/>
          </a:xfrm>
          <a:prstGeom prst="rect">
            <a:avLst/>
          </a:prstGeom>
          <a:noFill/>
          <a:ln/>
        </p:spPr>
        <p:txBody>
          <a:bodyPr wrap="square" lIns="0" tIns="0" rIns="0" bIns="0" rtlCol="0" anchor="t"/>
          <a:lstStyle/>
          <a:p>
            <a:pPr marL="0" indent="0" algn="l">
              <a:lnSpc>
                <a:spcPts val="4850"/>
              </a:lnSpc>
              <a:buNone/>
            </a:pPr>
            <a:r>
              <a:rPr lang="en-US" sz="3900" b="1">
                <a:solidFill>
                  <a:srgbClr val="FFFFFF"/>
                </a:solidFill>
                <a:latin typeface="Inter Bold" pitchFamily="34" charset="0"/>
                <a:ea typeface="Inter Bold" pitchFamily="34" charset="-122"/>
                <a:cs typeface="Inter Bold" pitchFamily="34" charset="-120"/>
              </a:rPr>
              <a:t>Automated End-to-End Testing of </a:t>
            </a:r>
            <a:r>
              <a:rPr lang="en-US" sz="3900" b="1" u="sng">
                <a:solidFill>
                  <a:srgbClr val="7B66FF"/>
                </a:solidFill>
                <a:latin typeface="Inter Bold" pitchFamily="34" charset="0"/>
                <a:ea typeface="Inter Bold" pitchFamily="34" charset="-122"/>
                <a:cs typeface="Inter Bold" pitchFamily="34" charset="-120"/>
                <a:hlinkClick r:id="rId5">
                  <a:extLst>
                    <a:ext uri="{A12FA001-AC4F-418D-AE19-62706E023703}">
                      <ahyp:hlinkClr xmlns:ahyp="http://schemas.microsoft.com/office/drawing/2018/hyperlinkcolor" val="tx"/>
                    </a:ext>
                  </a:extLst>
                </a:hlinkClick>
              </a:rPr>
              <a:t>GOG.com</a:t>
            </a:r>
            <a:endParaRPr lang="en-US" sz="3900"/>
          </a:p>
        </p:txBody>
      </p:sp>
      <p:sp>
        <p:nvSpPr>
          <p:cNvPr id="6" name="Text 2"/>
          <p:cNvSpPr/>
          <p:nvPr/>
        </p:nvSpPr>
        <p:spPr>
          <a:xfrm>
            <a:off x="793790" y="4454485"/>
            <a:ext cx="7556421" cy="317540"/>
          </a:xfrm>
          <a:prstGeom prst="rect">
            <a:avLst/>
          </a:prstGeom>
          <a:noFill/>
          <a:ln/>
        </p:spPr>
        <p:txBody>
          <a:bodyPr wrap="non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CEN 4072: Software Testing – Spring 2026</a:t>
            </a:r>
            <a:endParaRPr lang="en-US" sz="1550"/>
          </a:p>
        </p:txBody>
      </p:sp>
      <p:sp>
        <p:nvSpPr>
          <p:cNvPr id="7" name="Text 3"/>
          <p:cNvSpPr/>
          <p:nvPr/>
        </p:nvSpPr>
        <p:spPr>
          <a:xfrm>
            <a:off x="793790" y="4995267"/>
            <a:ext cx="7556421" cy="317540"/>
          </a:xfrm>
          <a:prstGeom prst="rect">
            <a:avLst/>
          </a:prstGeom>
          <a:noFill/>
          <a:ln/>
        </p:spPr>
        <p:txBody>
          <a:bodyPr wrap="non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Group Number: 15</a:t>
            </a:r>
          </a:p>
          <a:p>
            <a:pPr marL="0" indent="0" algn="l">
              <a:lnSpc>
                <a:spcPts val="2500"/>
              </a:lnSpc>
              <a:buNone/>
            </a:pPr>
            <a:r>
              <a:rPr lang="en-US" sz="1550">
                <a:solidFill>
                  <a:srgbClr val="E5E0DF"/>
                </a:solidFill>
                <a:latin typeface="Inter" pitchFamily="34" charset="0"/>
                <a:ea typeface="Inter" pitchFamily="34" charset="-122"/>
              </a:rPr>
              <a:t>Dennis Kerry, Myles Vinal, Robert Benstine</a:t>
            </a:r>
            <a:endParaRPr lang="en-US" sz="1550"/>
          </a:p>
        </p:txBody>
      </p:sp>
      <p:pic>
        <p:nvPicPr>
          <p:cNvPr id="1028" name="Picture 4">
            <a:extLst>
              <a:ext uri="{FF2B5EF4-FFF2-40B4-BE49-F238E27FC236}">
                <a16:creationId xmlns:a16="http://schemas.microsoft.com/office/drawing/2014/main" id="{D2BE24B4-C7E6-0849-53B8-A32F112A425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075" r="33592"/>
          <a:stretch>
            <a:fillRect/>
          </a:stretch>
        </p:blipFill>
        <p:spPr bwMode="auto">
          <a:xfrm>
            <a:off x="9144000" y="0"/>
            <a:ext cx="5486400" cy="82295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66788"/>
            <a:ext cx="6101715" cy="620078"/>
          </a:xfrm>
          <a:prstGeom prst="rect">
            <a:avLst/>
          </a:prstGeom>
          <a:noFill/>
          <a:ln/>
        </p:spPr>
        <p:txBody>
          <a:bodyPr wrap="none" lIns="0" tIns="0" rIns="0" bIns="0" rtlCol="0" anchor="t"/>
          <a:lstStyle/>
          <a:p>
            <a:pPr marL="0" indent="0" algn="l">
              <a:lnSpc>
                <a:spcPts val="4850"/>
              </a:lnSpc>
              <a:buNone/>
            </a:pPr>
            <a:r>
              <a:rPr lang="en-US" sz="3900" b="1">
                <a:solidFill>
                  <a:srgbClr val="FFFFFF"/>
                </a:solidFill>
                <a:latin typeface="Inter Bold" pitchFamily="34" charset="0"/>
                <a:ea typeface="Inter Bold" pitchFamily="34" charset="-122"/>
                <a:cs typeface="Inter Bold" pitchFamily="34" charset="-120"/>
              </a:rPr>
              <a:t>Project Goal &amp; Motivation</a:t>
            </a:r>
            <a:endParaRPr lang="en-US" sz="3900"/>
          </a:p>
        </p:txBody>
      </p:sp>
      <p:sp>
        <p:nvSpPr>
          <p:cNvPr id="3" name="Shape 1"/>
          <p:cNvSpPr/>
          <p:nvPr/>
        </p:nvSpPr>
        <p:spPr>
          <a:xfrm>
            <a:off x="793790" y="1983700"/>
            <a:ext cx="6422231" cy="2269927"/>
          </a:xfrm>
          <a:prstGeom prst="roundRect">
            <a:avLst>
              <a:gd name="adj" fmla="val 3672"/>
            </a:avLst>
          </a:prstGeom>
          <a:solidFill>
            <a:srgbClr val="110080"/>
          </a:solidFill>
          <a:ln w="7620">
            <a:solidFill>
              <a:srgbClr val="2A1999"/>
            </a:solidFill>
            <a:prstDash val="solid"/>
          </a:ln>
        </p:spPr>
        <p:txBody>
          <a:bodyPr/>
          <a:lstStyle/>
          <a:p>
            <a:endParaRPr lang="en-US"/>
          </a:p>
        </p:txBody>
      </p:sp>
      <p:sp>
        <p:nvSpPr>
          <p:cNvPr id="4" name="Shape 2"/>
          <p:cNvSpPr/>
          <p:nvPr/>
        </p:nvSpPr>
        <p:spPr>
          <a:xfrm>
            <a:off x="999768" y="2189678"/>
            <a:ext cx="595313" cy="595313"/>
          </a:xfrm>
          <a:prstGeom prst="roundRect">
            <a:avLst>
              <a:gd name="adj" fmla="val 15358451"/>
            </a:avLst>
          </a:prstGeom>
          <a:solidFill>
            <a:srgbClr val="2B0AFF"/>
          </a:solidFill>
          <a:ln/>
        </p:spPr>
        <p:txBody>
          <a:bodyPr/>
          <a:lstStyle/>
          <a:p>
            <a:endParaRPr lang="en-US"/>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3479" y="2353270"/>
            <a:ext cx="267891" cy="267891"/>
          </a:xfrm>
          <a:prstGeom prst="rect">
            <a:avLst/>
          </a:prstGeom>
        </p:spPr>
      </p:pic>
      <p:sp>
        <p:nvSpPr>
          <p:cNvPr id="6" name="Text 3"/>
          <p:cNvSpPr/>
          <p:nvPr/>
        </p:nvSpPr>
        <p:spPr>
          <a:xfrm>
            <a:off x="999768" y="2983349"/>
            <a:ext cx="3119080"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Automate System Testing</a:t>
            </a:r>
            <a:endParaRPr lang="en-US" sz="1950"/>
          </a:p>
        </p:txBody>
      </p:sp>
      <p:sp>
        <p:nvSpPr>
          <p:cNvPr id="7" name="Text 4"/>
          <p:cNvSpPr/>
          <p:nvPr/>
        </p:nvSpPr>
        <p:spPr>
          <a:xfrm>
            <a:off x="999768" y="3412569"/>
            <a:ext cx="6010275" cy="635079"/>
          </a:xfrm>
          <a:prstGeom prst="rect">
            <a:avLst/>
          </a:prstGeom>
          <a:noFill/>
          <a:ln/>
        </p:spPr>
        <p:txBody>
          <a:bodyPr wrap="squar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Automate end-to-end testing of GOG.com to verify core user-facing features work correctly and consistently</a:t>
            </a:r>
            <a:endParaRPr lang="en-US" sz="1550"/>
          </a:p>
        </p:txBody>
      </p:sp>
      <p:sp>
        <p:nvSpPr>
          <p:cNvPr id="8" name="Shape 5"/>
          <p:cNvSpPr/>
          <p:nvPr/>
        </p:nvSpPr>
        <p:spPr>
          <a:xfrm>
            <a:off x="7414379" y="1983700"/>
            <a:ext cx="6422231" cy="2269927"/>
          </a:xfrm>
          <a:prstGeom prst="roundRect">
            <a:avLst>
              <a:gd name="adj" fmla="val 3672"/>
            </a:avLst>
          </a:prstGeom>
          <a:solidFill>
            <a:srgbClr val="110080"/>
          </a:solidFill>
          <a:ln w="7620">
            <a:solidFill>
              <a:srgbClr val="2A1999"/>
            </a:solidFill>
            <a:prstDash val="solid"/>
          </a:ln>
        </p:spPr>
        <p:txBody>
          <a:bodyPr/>
          <a:lstStyle/>
          <a:p>
            <a:endParaRPr lang="en-US"/>
          </a:p>
        </p:txBody>
      </p:sp>
      <p:sp>
        <p:nvSpPr>
          <p:cNvPr id="9" name="Shape 6"/>
          <p:cNvSpPr/>
          <p:nvPr/>
        </p:nvSpPr>
        <p:spPr>
          <a:xfrm>
            <a:off x="7620357" y="2189678"/>
            <a:ext cx="595313" cy="595313"/>
          </a:xfrm>
          <a:prstGeom prst="roundRect">
            <a:avLst>
              <a:gd name="adj" fmla="val 15358451"/>
            </a:avLst>
          </a:prstGeom>
          <a:solidFill>
            <a:srgbClr val="2B0AFF"/>
          </a:solidFill>
          <a:ln/>
        </p:spPr>
        <p:txBody>
          <a:bodyPr/>
          <a:lstStyle/>
          <a:p>
            <a:endParaRPr lang="en-US"/>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84068" y="2353270"/>
            <a:ext cx="267891" cy="267891"/>
          </a:xfrm>
          <a:prstGeom prst="rect">
            <a:avLst/>
          </a:prstGeom>
        </p:spPr>
      </p:pic>
      <p:sp>
        <p:nvSpPr>
          <p:cNvPr id="11" name="Text 7"/>
          <p:cNvSpPr/>
          <p:nvPr/>
        </p:nvSpPr>
        <p:spPr>
          <a:xfrm>
            <a:off x="7620357" y="2983349"/>
            <a:ext cx="2480905"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Detect Regressions</a:t>
            </a:r>
            <a:endParaRPr lang="en-US" sz="1950"/>
          </a:p>
        </p:txBody>
      </p:sp>
      <p:sp>
        <p:nvSpPr>
          <p:cNvPr id="12" name="Text 8"/>
          <p:cNvSpPr/>
          <p:nvPr/>
        </p:nvSpPr>
        <p:spPr>
          <a:xfrm>
            <a:off x="7620357" y="3412569"/>
            <a:ext cx="6010275" cy="635079"/>
          </a:xfrm>
          <a:prstGeom prst="rect">
            <a:avLst/>
          </a:prstGeom>
          <a:noFill/>
          <a:ln/>
        </p:spPr>
        <p:txBody>
          <a:bodyPr wrap="squar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Catch regressions from front-end updates, SPA routing changes, or UI restructuring</a:t>
            </a:r>
            <a:endParaRPr lang="en-US" sz="1550"/>
          </a:p>
        </p:txBody>
      </p:sp>
      <p:sp>
        <p:nvSpPr>
          <p:cNvPr id="13" name="Shape 9"/>
          <p:cNvSpPr/>
          <p:nvPr/>
        </p:nvSpPr>
        <p:spPr>
          <a:xfrm>
            <a:off x="793790" y="4451985"/>
            <a:ext cx="6422231" cy="2269927"/>
          </a:xfrm>
          <a:prstGeom prst="roundRect">
            <a:avLst>
              <a:gd name="adj" fmla="val 3672"/>
            </a:avLst>
          </a:prstGeom>
          <a:solidFill>
            <a:srgbClr val="110080"/>
          </a:solidFill>
          <a:ln w="7620">
            <a:solidFill>
              <a:srgbClr val="2A1999"/>
            </a:solidFill>
            <a:prstDash val="solid"/>
          </a:ln>
        </p:spPr>
        <p:txBody>
          <a:bodyPr/>
          <a:lstStyle/>
          <a:p>
            <a:endParaRPr lang="en-US"/>
          </a:p>
        </p:txBody>
      </p:sp>
      <p:sp>
        <p:nvSpPr>
          <p:cNvPr id="14" name="Shape 10"/>
          <p:cNvSpPr/>
          <p:nvPr/>
        </p:nvSpPr>
        <p:spPr>
          <a:xfrm>
            <a:off x="999768" y="4657963"/>
            <a:ext cx="595313" cy="595313"/>
          </a:xfrm>
          <a:prstGeom prst="roundRect">
            <a:avLst>
              <a:gd name="adj" fmla="val 15358451"/>
            </a:avLst>
          </a:prstGeom>
          <a:solidFill>
            <a:srgbClr val="2B0AFF"/>
          </a:solidFill>
          <a:ln/>
        </p:spPr>
        <p:txBody>
          <a:bodyPr/>
          <a:lstStyle/>
          <a:p>
            <a:endParaRPr lang="en-US"/>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63479" y="4821555"/>
            <a:ext cx="267891" cy="267891"/>
          </a:xfrm>
          <a:prstGeom prst="rect">
            <a:avLst/>
          </a:prstGeom>
        </p:spPr>
      </p:pic>
      <p:sp>
        <p:nvSpPr>
          <p:cNvPr id="16" name="Text 11"/>
          <p:cNvSpPr/>
          <p:nvPr/>
        </p:nvSpPr>
        <p:spPr>
          <a:xfrm>
            <a:off x="999768" y="5451634"/>
            <a:ext cx="2480905"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Validate User Flows</a:t>
            </a:r>
            <a:endParaRPr lang="en-US" sz="1950"/>
          </a:p>
        </p:txBody>
      </p:sp>
      <p:sp>
        <p:nvSpPr>
          <p:cNvPr id="17" name="Text 12"/>
          <p:cNvSpPr/>
          <p:nvPr/>
        </p:nvSpPr>
        <p:spPr>
          <a:xfrm>
            <a:off x="999768" y="5880854"/>
            <a:ext cx="6010275" cy="635079"/>
          </a:xfrm>
          <a:prstGeom prst="rect">
            <a:avLst/>
          </a:prstGeom>
          <a:noFill/>
          <a:ln/>
        </p:spPr>
        <p:txBody>
          <a:bodyPr wrap="squar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Test browsing, searching, login, signup, game pages, and cart/checkout without manual testing</a:t>
            </a:r>
            <a:endParaRPr lang="en-US" sz="1550"/>
          </a:p>
        </p:txBody>
      </p:sp>
      <p:sp>
        <p:nvSpPr>
          <p:cNvPr id="18" name="Shape 13"/>
          <p:cNvSpPr/>
          <p:nvPr/>
        </p:nvSpPr>
        <p:spPr>
          <a:xfrm>
            <a:off x="7414379" y="4451985"/>
            <a:ext cx="6422231" cy="2269927"/>
          </a:xfrm>
          <a:prstGeom prst="roundRect">
            <a:avLst>
              <a:gd name="adj" fmla="val 3672"/>
            </a:avLst>
          </a:prstGeom>
          <a:solidFill>
            <a:srgbClr val="110080"/>
          </a:solidFill>
          <a:ln w="7620">
            <a:solidFill>
              <a:srgbClr val="2A1999"/>
            </a:solidFill>
            <a:prstDash val="solid"/>
          </a:ln>
        </p:spPr>
        <p:txBody>
          <a:bodyPr/>
          <a:lstStyle/>
          <a:p>
            <a:endParaRPr lang="en-US"/>
          </a:p>
        </p:txBody>
      </p:sp>
      <p:sp>
        <p:nvSpPr>
          <p:cNvPr id="19" name="Shape 14"/>
          <p:cNvSpPr/>
          <p:nvPr/>
        </p:nvSpPr>
        <p:spPr>
          <a:xfrm>
            <a:off x="7620357" y="4657963"/>
            <a:ext cx="595313" cy="595313"/>
          </a:xfrm>
          <a:prstGeom prst="roundRect">
            <a:avLst>
              <a:gd name="adj" fmla="val 15358451"/>
            </a:avLst>
          </a:prstGeom>
          <a:solidFill>
            <a:srgbClr val="2B0AFF"/>
          </a:solidFill>
          <a:ln/>
        </p:spPr>
        <p:txBody>
          <a:bodyPr/>
          <a:lstStyle/>
          <a:p>
            <a:endParaRPr lang="en-US"/>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84068" y="4821555"/>
            <a:ext cx="267891" cy="267891"/>
          </a:xfrm>
          <a:prstGeom prst="rect">
            <a:avLst/>
          </a:prstGeom>
        </p:spPr>
      </p:pic>
      <p:sp>
        <p:nvSpPr>
          <p:cNvPr id="21" name="Text 15"/>
          <p:cNvSpPr/>
          <p:nvPr/>
        </p:nvSpPr>
        <p:spPr>
          <a:xfrm>
            <a:off x="7620357" y="5451634"/>
            <a:ext cx="2480905"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Identify Constraints</a:t>
            </a:r>
            <a:endParaRPr lang="en-US" sz="1950"/>
          </a:p>
        </p:txBody>
      </p:sp>
      <p:sp>
        <p:nvSpPr>
          <p:cNvPr id="22" name="Text 16"/>
          <p:cNvSpPr/>
          <p:nvPr/>
        </p:nvSpPr>
        <p:spPr>
          <a:xfrm>
            <a:off x="7620357" y="5880854"/>
            <a:ext cx="6010275" cy="635079"/>
          </a:xfrm>
          <a:prstGeom prst="rect">
            <a:avLst/>
          </a:prstGeom>
          <a:noFill/>
          <a:ln/>
        </p:spPr>
        <p:txBody>
          <a:bodyPr wrap="squar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Address CAPTCHA, GDPR banners, age-gate overlays, lazy-loaded content, and dynamic XHR tiles</a:t>
            </a:r>
            <a:endParaRPr lang="en-US" sz="1550"/>
          </a:p>
        </p:txBody>
      </p:sp>
      <p:sp>
        <p:nvSpPr>
          <p:cNvPr id="23" name="Text 17"/>
          <p:cNvSpPr/>
          <p:nvPr/>
        </p:nvSpPr>
        <p:spPr>
          <a:xfrm>
            <a:off x="793790" y="6945154"/>
            <a:ext cx="13042821" cy="317540"/>
          </a:xfrm>
          <a:prstGeom prst="rect">
            <a:avLst/>
          </a:prstGeom>
          <a:noFill/>
          <a:ln/>
        </p:spPr>
        <p:txBody>
          <a:bodyPr wrap="none" lIns="0" tIns="0" rIns="0" bIns="0" rtlCol="0" anchor="t"/>
          <a:lstStyle/>
          <a:p>
            <a:pPr>
              <a:lnSpc>
                <a:spcPts val="2500"/>
              </a:lnSpc>
            </a:pPr>
            <a:r>
              <a:rPr lang="en-US" sz="1550">
                <a:solidFill>
                  <a:srgbClr val="E5E0DF"/>
                </a:solidFill>
                <a:latin typeface="Inter"/>
                <a:ea typeface="Inter"/>
                <a:cs typeface="Inter" pitchFamily="34" charset="-120"/>
              </a:rPr>
              <a:t>Test a gaming platform that some of the group had been unfamiliar with, working with tangible metrics we care about and can understand: </a:t>
            </a:r>
          </a:p>
          <a:p>
            <a:pPr marL="0" indent="0" algn="l">
              <a:lnSpc>
                <a:spcPts val="2500"/>
              </a:lnSpc>
              <a:buNone/>
            </a:pPr>
            <a:r>
              <a:rPr lang="en-US" sz="1550">
                <a:solidFill>
                  <a:srgbClr val="E5E0DF"/>
                </a:solidFill>
                <a:latin typeface="Inter"/>
                <a:ea typeface="Inter"/>
                <a:cs typeface="Inter" pitchFamily="34" charset="-120"/>
              </a:rPr>
              <a:t>Improve product quality confidence through repeatable, automated regression testing.</a:t>
            </a:r>
            <a:endParaRPr lang="en-US" sz="1550">
              <a:latin typeface="Inter"/>
              <a:ea typeface="Inter"/>
              <a:cs typeface="Calibri"/>
            </a:endParaRPr>
          </a:p>
        </p:txBody>
      </p:sp>
      <p:pic>
        <p:nvPicPr>
          <p:cNvPr id="24" name="Picture 23">
            <a:extLst>
              <a:ext uri="{FF2B5EF4-FFF2-40B4-BE49-F238E27FC236}">
                <a16:creationId xmlns:a16="http://schemas.microsoft.com/office/drawing/2014/main" id="{18A7C5FB-B504-B4FE-8895-1B809187D571}"/>
              </a:ext>
            </a:extLst>
          </p:cNvPr>
          <p:cNvPicPr/>
          <p:nvPr/>
        </p:nvPicPr>
        <p:blipFill>
          <a:blip r:embed="rId7"/>
          <a:stretch>
            <a:fillRect/>
          </a:stretch>
        </p:blipFill>
        <p:spPr>
          <a:xfrm>
            <a:off x="11620080" y="7715178"/>
            <a:ext cx="3010320" cy="5144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179677" y="401479"/>
            <a:ext cx="3256121" cy="406956"/>
          </a:xfrm>
          <a:prstGeom prst="rect">
            <a:avLst/>
          </a:prstGeom>
          <a:noFill/>
          <a:ln/>
        </p:spPr>
        <p:txBody>
          <a:bodyPr wrap="none" lIns="0" tIns="0" rIns="0" bIns="0" rtlCol="0" anchor="t"/>
          <a:lstStyle/>
          <a:p>
            <a:pPr marL="0" indent="0" algn="l">
              <a:lnSpc>
                <a:spcPts val="3200"/>
              </a:lnSpc>
              <a:buNone/>
            </a:pPr>
            <a:r>
              <a:rPr lang="en-US" sz="2550" b="1">
                <a:solidFill>
                  <a:srgbClr val="FFFFFF"/>
                </a:solidFill>
                <a:latin typeface="Inter Bold" pitchFamily="34" charset="0"/>
                <a:ea typeface="Inter Bold" pitchFamily="34" charset="-122"/>
                <a:cs typeface="Inter Bold" pitchFamily="34" charset="-120"/>
              </a:rPr>
              <a:t>Testing Workflow</a:t>
            </a:r>
            <a:endParaRPr lang="en-US" sz="2550"/>
          </a:p>
        </p:txBody>
      </p:sp>
      <p:pic>
        <p:nvPicPr>
          <p:cNvPr id="3" name="Image 0" descr="preencoded.png"/>
          <p:cNvPicPr>
            <a:picLocks noChangeAspect="1"/>
          </p:cNvPicPr>
          <p:nvPr/>
        </p:nvPicPr>
        <p:blipFill>
          <a:blip r:embed="rId3"/>
          <a:stretch>
            <a:fillRect/>
          </a:stretch>
        </p:blipFill>
        <p:spPr>
          <a:xfrm>
            <a:off x="8367826" y="1087755"/>
            <a:ext cx="390644" cy="1143000"/>
          </a:xfrm>
          <a:prstGeom prst="rect">
            <a:avLst/>
          </a:prstGeom>
        </p:spPr>
      </p:pic>
      <p:sp>
        <p:nvSpPr>
          <p:cNvPr id="4" name="Text 1"/>
          <p:cNvSpPr/>
          <p:nvPr/>
        </p:nvSpPr>
        <p:spPr>
          <a:xfrm>
            <a:off x="8843838" y="1217890"/>
            <a:ext cx="1628061" cy="203359"/>
          </a:xfrm>
          <a:prstGeom prst="rect">
            <a:avLst/>
          </a:prstGeom>
          <a:noFill/>
          <a:ln/>
        </p:spPr>
        <p:txBody>
          <a:bodyPr wrap="none" lIns="0" tIns="0" rIns="0" bIns="0" rtlCol="0" anchor="t"/>
          <a:lstStyle/>
          <a:p>
            <a:pPr marL="0" indent="0" algn="l">
              <a:lnSpc>
                <a:spcPts val="1600"/>
              </a:lnSpc>
              <a:buNone/>
            </a:pPr>
            <a:r>
              <a:rPr lang="en-US" sz="1250" b="1">
                <a:solidFill>
                  <a:srgbClr val="E5E0DF"/>
                </a:solidFill>
                <a:latin typeface="Inter Bold" pitchFamily="34" charset="0"/>
                <a:ea typeface="Inter Bold" pitchFamily="34" charset="-122"/>
                <a:cs typeface="Inter Bold" pitchFamily="34" charset="-120"/>
              </a:rPr>
              <a:t>Load Config</a:t>
            </a:r>
            <a:endParaRPr lang="en-US" sz="1250"/>
          </a:p>
        </p:txBody>
      </p:sp>
      <p:sp>
        <p:nvSpPr>
          <p:cNvPr id="5" name="Text 2"/>
          <p:cNvSpPr/>
          <p:nvPr/>
        </p:nvSpPr>
        <p:spPr>
          <a:xfrm>
            <a:off x="8843838" y="1472446"/>
            <a:ext cx="9795034" cy="172522"/>
          </a:xfrm>
          <a:prstGeom prst="rect">
            <a:avLst/>
          </a:prstGeom>
          <a:noFill/>
          <a:ln/>
        </p:spPr>
        <p:txBody>
          <a:bodyPr wrap="none" lIns="0" tIns="0" rIns="0" bIns="0" rtlCol="0" anchor="t"/>
          <a:lstStyle/>
          <a:p>
            <a:pPr marL="0" indent="0" algn="l">
              <a:lnSpc>
                <a:spcPts val="1350"/>
              </a:lnSpc>
              <a:buNone/>
            </a:pPr>
            <a:r>
              <a:rPr lang="en-US" sz="1000">
                <a:solidFill>
                  <a:srgbClr val="E5E0DF"/>
                </a:solidFill>
                <a:latin typeface="Inter" pitchFamily="34" charset="0"/>
                <a:ea typeface="Inter" pitchFamily="34" charset="-122"/>
                <a:cs typeface="Inter" pitchFamily="34" charset="-120"/>
              </a:rPr>
              <a:t>Read config.properties for credentials and game URLs</a:t>
            </a:r>
            <a:endParaRPr lang="en-US" sz="1000"/>
          </a:p>
        </p:txBody>
      </p:sp>
      <p:pic>
        <p:nvPicPr>
          <p:cNvPr id="6" name="Image 1" descr="preencoded.png"/>
          <p:cNvPicPr>
            <a:picLocks noChangeAspect="1"/>
          </p:cNvPicPr>
          <p:nvPr/>
        </p:nvPicPr>
        <p:blipFill>
          <a:blip r:embed="rId3"/>
          <a:stretch>
            <a:fillRect/>
          </a:stretch>
        </p:blipFill>
        <p:spPr>
          <a:xfrm>
            <a:off x="8563089" y="1954530"/>
            <a:ext cx="390644" cy="1143000"/>
          </a:xfrm>
          <a:prstGeom prst="rect">
            <a:avLst/>
          </a:prstGeom>
        </p:spPr>
      </p:pic>
      <p:sp>
        <p:nvSpPr>
          <p:cNvPr id="7" name="Text 3"/>
          <p:cNvSpPr/>
          <p:nvPr/>
        </p:nvSpPr>
        <p:spPr>
          <a:xfrm>
            <a:off x="9039101" y="2084665"/>
            <a:ext cx="1628061" cy="203359"/>
          </a:xfrm>
          <a:prstGeom prst="rect">
            <a:avLst/>
          </a:prstGeom>
          <a:noFill/>
          <a:ln/>
        </p:spPr>
        <p:txBody>
          <a:bodyPr wrap="none" lIns="0" tIns="0" rIns="0" bIns="0" rtlCol="0" anchor="t"/>
          <a:lstStyle/>
          <a:p>
            <a:pPr marL="0" indent="0" algn="l">
              <a:lnSpc>
                <a:spcPts val="1600"/>
              </a:lnSpc>
              <a:buNone/>
            </a:pPr>
            <a:r>
              <a:rPr lang="en-US" sz="1250" b="1">
                <a:solidFill>
                  <a:srgbClr val="E5E0DF"/>
                </a:solidFill>
                <a:latin typeface="Inter Bold" pitchFamily="34" charset="0"/>
                <a:ea typeface="Inter Bold" pitchFamily="34" charset="-122"/>
                <a:cs typeface="Inter Bold" pitchFamily="34" charset="-120"/>
              </a:rPr>
              <a:t>BaseTest Setup</a:t>
            </a:r>
            <a:endParaRPr lang="en-US" sz="1250"/>
          </a:p>
        </p:txBody>
      </p:sp>
      <p:sp>
        <p:nvSpPr>
          <p:cNvPr id="8" name="Text 4"/>
          <p:cNvSpPr/>
          <p:nvPr/>
        </p:nvSpPr>
        <p:spPr>
          <a:xfrm>
            <a:off x="9039101" y="2339221"/>
            <a:ext cx="9599771" cy="172522"/>
          </a:xfrm>
          <a:prstGeom prst="rect">
            <a:avLst/>
          </a:prstGeom>
          <a:noFill/>
          <a:ln/>
        </p:spPr>
        <p:txBody>
          <a:bodyPr wrap="none" lIns="0" tIns="0" rIns="0" bIns="0" rtlCol="0" anchor="t"/>
          <a:lstStyle/>
          <a:p>
            <a:pPr marL="0" indent="0" algn="l">
              <a:lnSpc>
                <a:spcPts val="1350"/>
              </a:lnSpc>
              <a:buNone/>
            </a:pPr>
            <a:r>
              <a:rPr lang="en-US" sz="1000">
                <a:solidFill>
                  <a:srgbClr val="E5E0DF"/>
                </a:solidFill>
                <a:latin typeface="Inter" pitchFamily="34" charset="0"/>
                <a:ea typeface="Inter" pitchFamily="34" charset="-122"/>
                <a:cs typeface="Inter" pitchFamily="34" charset="-120"/>
              </a:rPr>
              <a:t>@BeforeClass launches ChromeDriver with anti-automation flags</a:t>
            </a:r>
            <a:endParaRPr lang="en-US" sz="1000"/>
          </a:p>
        </p:txBody>
      </p:sp>
      <p:pic>
        <p:nvPicPr>
          <p:cNvPr id="9" name="Image 2" descr="preencoded.png"/>
          <p:cNvPicPr>
            <a:picLocks noChangeAspect="1"/>
          </p:cNvPicPr>
          <p:nvPr/>
        </p:nvPicPr>
        <p:blipFill>
          <a:blip r:embed="rId3"/>
          <a:stretch>
            <a:fillRect/>
          </a:stretch>
        </p:blipFill>
        <p:spPr>
          <a:xfrm>
            <a:off x="8758470" y="2821305"/>
            <a:ext cx="390644" cy="1143000"/>
          </a:xfrm>
          <a:prstGeom prst="rect">
            <a:avLst/>
          </a:prstGeom>
        </p:spPr>
      </p:pic>
      <p:sp>
        <p:nvSpPr>
          <p:cNvPr id="10" name="Text 5"/>
          <p:cNvSpPr/>
          <p:nvPr/>
        </p:nvSpPr>
        <p:spPr>
          <a:xfrm>
            <a:off x="9234482" y="2951440"/>
            <a:ext cx="1628061" cy="203359"/>
          </a:xfrm>
          <a:prstGeom prst="rect">
            <a:avLst/>
          </a:prstGeom>
          <a:noFill/>
          <a:ln/>
        </p:spPr>
        <p:txBody>
          <a:bodyPr wrap="none" lIns="0" tIns="0" rIns="0" bIns="0" rtlCol="0" anchor="t"/>
          <a:lstStyle/>
          <a:p>
            <a:pPr marL="0" indent="0" algn="l">
              <a:lnSpc>
                <a:spcPts val="1600"/>
              </a:lnSpc>
              <a:buNone/>
            </a:pPr>
            <a:r>
              <a:rPr lang="en-US" sz="1250" b="1">
                <a:solidFill>
                  <a:srgbClr val="E5E0DF"/>
                </a:solidFill>
                <a:latin typeface="Inter Bold" pitchFamily="34" charset="0"/>
                <a:ea typeface="Inter Bold" pitchFamily="34" charset="-122"/>
                <a:cs typeface="Inter Bold" pitchFamily="34" charset="-120"/>
              </a:rPr>
              <a:t>TestUtils Actions</a:t>
            </a:r>
            <a:endParaRPr lang="en-US" sz="1250"/>
          </a:p>
        </p:txBody>
      </p:sp>
      <p:sp>
        <p:nvSpPr>
          <p:cNvPr id="11" name="Text 6"/>
          <p:cNvSpPr/>
          <p:nvPr/>
        </p:nvSpPr>
        <p:spPr>
          <a:xfrm>
            <a:off x="9234482" y="3205996"/>
            <a:ext cx="9404390" cy="172522"/>
          </a:xfrm>
          <a:prstGeom prst="rect">
            <a:avLst/>
          </a:prstGeom>
          <a:noFill/>
          <a:ln/>
        </p:spPr>
        <p:txBody>
          <a:bodyPr wrap="none" lIns="0" tIns="0" rIns="0" bIns="0" rtlCol="0" anchor="t"/>
          <a:lstStyle/>
          <a:p>
            <a:pPr marL="0" indent="0" algn="l">
              <a:lnSpc>
                <a:spcPts val="1350"/>
              </a:lnSpc>
              <a:buNone/>
            </a:pPr>
            <a:r>
              <a:rPr lang="en-US" sz="1000">
                <a:solidFill>
                  <a:srgbClr val="E5E0DF"/>
                </a:solidFill>
                <a:latin typeface="Inter" pitchFamily="34" charset="0"/>
                <a:ea typeface="Inter" pitchFamily="34" charset="-122"/>
                <a:cs typeface="Inter" pitchFamily="34" charset="-120"/>
              </a:rPr>
              <a:t>Dismiss cookie consent, perform login, wait for page load</a:t>
            </a:r>
            <a:endParaRPr lang="en-US" sz="1000"/>
          </a:p>
        </p:txBody>
      </p:sp>
      <p:pic>
        <p:nvPicPr>
          <p:cNvPr id="12" name="Image 3" descr="preencoded.png"/>
          <p:cNvPicPr>
            <a:picLocks noChangeAspect="1"/>
          </p:cNvPicPr>
          <p:nvPr/>
        </p:nvPicPr>
        <p:blipFill>
          <a:blip r:embed="rId3"/>
          <a:stretch>
            <a:fillRect/>
          </a:stretch>
        </p:blipFill>
        <p:spPr>
          <a:xfrm>
            <a:off x="8953852" y="3688080"/>
            <a:ext cx="390644" cy="1143000"/>
          </a:xfrm>
          <a:prstGeom prst="rect">
            <a:avLst/>
          </a:prstGeom>
        </p:spPr>
      </p:pic>
      <p:sp>
        <p:nvSpPr>
          <p:cNvPr id="13" name="Text 7"/>
          <p:cNvSpPr/>
          <p:nvPr/>
        </p:nvSpPr>
        <p:spPr>
          <a:xfrm>
            <a:off x="9429864" y="3818215"/>
            <a:ext cx="1628061" cy="203359"/>
          </a:xfrm>
          <a:prstGeom prst="rect">
            <a:avLst/>
          </a:prstGeom>
          <a:noFill/>
          <a:ln/>
        </p:spPr>
        <p:txBody>
          <a:bodyPr wrap="none" lIns="0" tIns="0" rIns="0" bIns="0" rtlCol="0" anchor="t"/>
          <a:lstStyle/>
          <a:p>
            <a:pPr marL="0" indent="0" algn="l">
              <a:lnSpc>
                <a:spcPts val="1600"/>
              </a:lnSpc>
              <a:buNone/>
            </a:pPr>
            <a:r>
              <a:rPr lang="en-US" sz="1250" b="1">
                <a:solidFill>
                  <a:srgbClr val="E5E0DF"/>
                </a:solidFill>
                <a:latin typeface="Inter Bold" pitchFamily="34" charset="0"/>
                <a:ea typeface="Inter Bold" pitchFamily="34" charset="-122"/>
                <a:cs typeface="Inter Bold" pitchFamily="34" charset="-120"/>
              </a:rPr>
              <a:t>Execute Tests</a:t>
            </a:r>
            <a:endParaRPr lang="en-US" sz="1250"/>
          </a:p>
        </p:txBody>
      </p:sp>
      <p:sp>
        <p:nvSpPr>
          <p:cNvPr id="14" name="Text 8"/>
          <p:cNvSpPr/>
          <p:nvPr/>
        </p:nvSpPr>
        <p:spPr>
          <a:xfrm>
            <a:off x="9429864" y="4072771"/>
            <a:ext cx="9209008" cy="172522"/>
          </a:xfrm>
          <a:prstGeom prst="rect">
            <a:avLst/>
          </a:prstGeom>
          <a:noFill/>
          <a:ln/>
        </p:spPr>
        <p:txBody>
          <a:bodyPr wrap="none" lIns="0" tIns="0" rIns="0" bIns="0" rtlCol="0" anchor="t"/>
          <a:lstStyle/>
          <a:p>
            <a:pPr marL="0" indent="0" algn="l">
              <a:lnSpc>
                <a:spcPts val="1350"/>
              </a:lnSpc>
              <a:buNone/>
            </a:pPr>
            <a:r>
              <a:rPr lang="en-US" sz="1000">
                <a:solidFill>
                  <a:srgbClr val="E5E0DF"/>
                </a:solidFill>
                <a:latin typeface="Inter" pitchFamily="34" charset="0"/>
                <a:ea typeface="Inter" pitchFamily="34" charset="-122"/>
                <a:cs typeface="Inter" pitchFamily="34" charset="-120"/>
              </a:rPr>
              <a:t>Run 7–8 @Test methods per class</a:t>
            </a:r>
            <a:endParaRPr lang="en-US" sz="1000"/>
          </a:p>
        </p:txBody>
      </p:sp>
      <p:pic>
        <p:nvPicPr>
          <p:cNvPr id="15" name="Image 4" descr="preencoded.png"/>
          <p:cNvPicPr>
            <a:picLocks noChangeAspect="1"/>
          </p:cNvPicPr>
          <p:nvPr/>
        </p:nvPicPr>
        <p:blipFill>
          <a:blip r:embed="rId3"/>
          <a:stretch>
            <a:fillRect/>
          </a:stretch>
        </p:blipFill>
        <p:spPr>
          <a:xfrm>
            <a:off x="8758470" y="4554855"/>
            <a:ext cx="390644" cy="1143000"/>
          </a:xfrm>
          <a:prstGeom prst="rect">
            <a:avLst/>
          </a:prstGeom>
        </p:spPr>
      </p:pic>
      <p:sp>
        <p:nvSpPr>
          <p:cNvPr id="16" name="Text 9"/>
          <p:cNvSpPr/>
          <p:nvPr/>
        </p:nvSpPr>
        <p:spPr>
          <a:xfrm>
            <a:off x="9234482" y="4684990"/>
            <a:ext cx="1628061" cy="203359"/>
          </a:xfrm>
          <a:prstGeom prst="rect">
            <a:avLst/>
          </a:prstGeom>
          <a:noFill/>
          <a:ln/>
        </p:spPr>
        <p:txBody>
          <a:bodyPr wrap="none" lIns="0" tIns="0" rIns="0" bIns="0" rtlCol="0" anchor="t"/>
          <a:lstStyle/>
          <a:p>
            <a:pPr marL="0" indent="0" algn="l">
              <a:lnSpc>
                <a:spcPts val="1600"/>
              </a:lnSpc>
              <a:buNone/>
            </a:pPr>
            <a:r>
              <a:rPr lang="en-US" sz="1250" b="1">
                <a:solidFill>
                  <a:srgbClr val="E5E0DF"/>
                </a:solidFill>
                <a:latin typeface="Inter Bold" pitchFamily="34" charset="0"/>
                <a:ea typeface="Inter Bold" pitchFamily="34" charset="-122"/>
                <a:cs typeface="Inter Bold" pitchFamily="34" charset="-120"/>
              </a:rPr>
              <a:t>TestNG Assertions</a:t>
            </a:r>
            <a:endParaRPr lang="en-US" sz="1250"/>
          </a:p>
        </p:txBody>
      </p:sp>
      <p:sp>
        <p:nvSpPr>
          <p:cNvPr id="17" name="Text 10"/>
          <p:cNvSpPr/>
          <p:nvPr/>
        </p:nvSpPr>
        <p:spPr>
          <a:xfrm>
            <a:off x="9234482" y="4939546"/>
            <a:ext cx="9404390" cy="172522"/>
          </a:xfrm>
          <a:prstGeom prst="rect">
            <a:avLst/>
          </a:prstGeom>
          <a:noFill/>
          <a:ln/>
        </p:spPr>
        <p:txBody>
          <a:bodyPr wrap="none" lIns="0" tIns="0" rIns="0" bIns="0" rtlCol="0" anchor="t"/>
          <a:lstStyle/>
          <a:p>
            <a:pPr marL="0" indent="0" algn="l">
              <a:lnSpc>
                <a:spcPts val="1350"/>
              </a:lnSpc>
              <a:buNone/>
            </a:pPr>
            <a:r>
              <a:rPr lang="en-US" sz="1000">
                <a:solidFill>
                  <a:srgbClr val="E5E0DF"/>
                </a:solidFill>
                <a:latin typeface="Inter" pitchFamily="34" charset="0"/>
                <a:ea typeface="Inter" pitchFamily="34" charset="-122"/>
                <a:cs typeface="Inter" pitchFamily="34" charset="-120"/>
              </a:rPr>
              <a:t>Validate pass/fail conditions</a:t>
            </a:r>
            <a:endParaRPr lang="en-US" sz="1000"/>
          </a:p>
        </p:txBody>
      </p:sp>
      <p:pic>
        <p:nvPicPr>
          <p:cNvPr id="18" name="Image 5" descr="preencoded.png"/>
          <p:cNvPicPr>
            <a:picLocks noChangeAspect="1"/>
          </p:cNvPicPr>
          <p:nvPr/>
        </p:nvPicPr>
        <p:blipFill>
          <a:blip r:embed="rId3"/>
          <a:stretch>
            <a:fillRect/>
          </a:stretch>
        </p:blipFill>
        <p:spPr>
          <a:xfrm>
            <a:off x="8563089" y="5421630"/>
            <a:ext cx="390644" cy="1143000"/>
          </a:xfrm>
          <a:prstGeom prst="rect">
            <a:avLst/>
          </a:prstGeom>
        </p:spPr>
      </p:pic>
      <p:sp>
        <p:nvSpPr>
          <p:cNvPr id="19" name="Text 11"/>
          <p:cNvSpPr/>
          <p:nvPr/>
        </p:nvSpPr>
        <p:spPr>
          <a:xfrm>
            <a:off x="9039101" y="5551765"/>
            <a:ext cx="1628061" cy="203359"/>
          </a:xfrm>
          <a:prstGeom prst="rect">
            <a:avLst/>
          </a:prstGeom>
          <a:noFill/>
          <a:ln/>
        </p:spPr>
        <p:txBody>
          <a:bodyPr wrap="none" lIns="0" tIns="0" rIns="0" bIns="0" rtlCol="0" anchor="t"/>
          <a:lstStyle/>
          <a:p>
            <a:pPr marL="0" indent="0" algn="l">
              <a:lnSpc>
                <a:spcPts val="1600"/>
              </a:lnSpc>
              <a:buNone/>
            </a:pPr>
            <a:r>
              <a:rPr lang="en-US" sz="1250" b="1">
                <a:solidFill>
                  <a:srgbClr val="E5E0DF"/>
                </a:solidFill>
                <a:latin typeface="Inter Bold" pitchFamily="34" charset="0"/>
                <a:ea typeface="Inter Bold" pitchFamily="34" charset="-122"/>
                <a:cs typeface="Inter Bold" pitchFamily="34" charset="-120"/>
              </a:rPr>
              <a:t>Teardown</a:t>
            </a:r>
            <a:endParaRPr lang="en-US" sz="1250"/>
          </a:p>
        </p:txBody>
      </p:sp>
      <p:sp>
        <p:nvSpPr>
          <p:cNvPr id="20" name="Text 12"/>
          <p:cNvSpPr/>
          <p:nvPr/>
        </p:nvSpPr>
        <p:spPr>
          <a:xfrm>
            <a:off x="9039101" y="5806321"/>
            <a:ext cx="9599771" cy="172522"/>
          </a:xfrm>
          <a:prstGeom prst="rect">
            <a:avLst/>
          </a:prstGeom>
          <a:noFill/>
          <a:ln/>
        </p:spPr>
        <p:txBody>
          <a:bodyPr wrap="none" lIns="0" tIns="0" rIns="0" bIns="0" rtlCol="0" anchor="t"/>
          <a:lstStyle/>
          <a:p>
            <a:pPr marL="0" indent="0" algn="l">
              <a:lnSpc>
                <a:spcPts val="1350"/>
              </a:lnSpc>
              <a:buNone/>
            </a:pPr>
            <a:r>
              <a:rPr lang="en-US" sz="1000">
                <a:solidFill>
                  <a:srgbClr val="E5E0DF"/>
                </a:solidFill>
                <a:latin typeface="Inter" pitchFamily="34" charset="0"/>
                <a:ea typeface="Inter" pitchFamily="34" charset="-122"/>
                <a:cs typeface="Inter" pitchFamily="34" charset="-120"/>
              </a:rPr>
              <a:t>@AfterClass quits driver</a:t>
            </a:r>
            <a:endParaRPr lang="en-US" sz="1000"/>
          </a:p>
        </p:txBody>
      </p:sp>
      <p:pic>
        <p:nvPicPr>
          <p:cNvPr id="21" name="Image 6" descr="preencoded.png"/>
          <p:cNvPicPr>
            <a:picLocks noChangeAspect="1"/>
          </p:cNvPicPr>
          <p:nvPr/>
        </p:nvPicPr>
        <p:blipFill>
          <a:blip r:embed="rId3"/>
          <a:stretch>
            <a:fillRect/>
          </a:stretch>
        </p:blipFill>
        <p:spPr>
          <a:xfrm>
            <a:off x="8367826" y="6288405"/>
            <a:ext cx="390644" cy="1143000"/>
          </a:xfrm>
          <a:prstGeom prst="rect">
            <a:avLst/>
          </a:prstGeom>
        </p:spPr>
      </p:pic>
      <p:sp>
        <p:nvSpPr>
          <p:cNvPr id="22" name="Text 13"/>
          <p:cNvSpPr/>
          <p:nvPr/>
        </p:nvSpPr>
        <p:spPr>
          <a:xfrm>
            <a:off x="8843838" y="6418540"/>
            <a:ext cx="1628061" cy="203359"/>
          </a:xfrm>
          <a:prstGeom prst="rect">
            <a:avLst/>
          </a:prstGeom>
          <a:noFill/>
          <a:ln/>
        </p:spPr>
        <p:txBody>
          <a:bodyPr wrap="none" lIns="0" tIns="0" rIns="0" bIns="0" rtlCol="0" anchor="t"/>
          <a:lstStyle/>
          <a:p>
            <a:pPr marL="0" indent="0" algn="l">
              <a:lnSpc>
                <a:spcPts val="1600"/>
              </a:lnSpc>
              <a:buNone/>
            </a:pPr>
            <a:r>
              <a:rPr lang="en-US" sz="1250" b="1">
                <a:solidFill>
                  <a:srgbClr val="E5E0DF"/>
                </a:solidFill>
                <a:latin typeface="Inter Bold" pitchFamily="34" charset="0"/>
                <a:ea typeface="Inter Bold" pitchFamily="34" charset="-122"/>
                <a:cs typeface="Inter Bold" pitchFamily="34" charset="-120"/>
              </a:rPr>
              <a:t>Maven Execution</a:t>
            </a:r>
            <a:endParaRPr lang="en-US" sz="1250"/>
          </a:p>
        </p:txBody>
      </p:sp>
      <p:sp>
        <p:nvSpPr>
          <p:cNvPr id="23" name="Text 14"/>
          <p:cNvSpPr/>
          <p:nvPr/>
        </p:nvSpPr>
        <p:spPr>
          <a:xfrm>
            <a:off x="8843838" y="6673096"/>
            <a:ext cx="9795034" cy="172522"/>
          </a:xfrm>
          <a:prstGeom prst="rect">
            <a:avLst/>
          </a:prstGeom>
          <a:noFill/>
          <a:ln/>
        </p:spPr>
        <p:txBody>
          <a:bodyPr wrap="none" lIns="0" tIns="0" rIns="0" bIns="0" rtlCol="0" anchor="t"/>
          <a:lstStyle/>
          <a:p>
            <a:pPr marL="0" indent="0" algn="l">
              <a:lnSpc>
                <a:spcPts val="1350"/>
              </a:lnSpc>
              <a:buNone/>
            </a:pPr>
            <a:r>
              <a:rPr lang="en-US" sz="1000">
                <a:solidFill>
                  <a:srgbClr val="E5E0DF"/>
                </a:solidFill>
                <a:latin typeface="Inter" pitchFamily="34" charset="0"/>
                <a:ea typeface="Inter" pitchFamily="34" charset="-122"/>
                <a:cs typeface="Inter" pitchFamily="34" charset="-120"/>
              </a:rPr>
              <a:t>Surefire runs 8 test classes via testng.xml</a:t>
            </a:r>
            <a:endParaRPr lang="en-US" sz="1000"/>
          </a:p>
        </p:txBody>
      </p:sp>
      <p:pic>
        <p:nvPicPr>
          <p:cNvPr id="24" name="Image 7" descr="preencoded.png"/>
          <p:cNvPicPr>
            <a:picLocks noChangeAspect="1"/>
          </p:cNvPicPr>
          <p:nvPr/>
        </p:nvPicPr>
        <p:blipFill>
          <a:blip r:embed="rId3"/>
          <a:stretch>
            <a:fillRect/>
          </a:stretch>
        </p:blipFill>
        <p:spPr>
          <a:xfrm>
            <a:off x="8563089" y="7155180"/>
            <a:ext cx="390644" cy="1143000"/>
          </a:xfrm>
          <a:prstGeom prst="rect">
            <a:avLst/>
          </a:prstGeom>
        </p:spPr>
      </p:pic>
      <p:sp>
        <p:nvSpPr>
          <p:cNvPr id="25" name="Text 15"/>
          <p:cNvSpPr/>
          <p:nvPr/>
        </p:nvSpPr>
        <p:spPr>
          <a:xfrm>
            <a:off x="9039101" y="7285315"/>
            <a:ext cx="1628061" cy="203359"/>
          </a:xfrm>
          <a:prstGeom prst="rect">
            <a:avLst/>
          </a:prstGeom>
          <a:noFill/>
          <a:ln/>
        </p:spPr>
        <p:txBody>
          <a:bodyPr wrap="none" lIns="0" tIns="0" rIns="0" bIns="0" rtlCol="0" anchor="t"/>
          <a:lstStyle/>
          <a:p>
            <a:pPr marL="0" indent="0" algn="l">
              <a:lnSpc>
                <a:spcPts val="1600"/>
              </a:lnSpc>
              <a:buNone/>
            </a:pPr>
            <a:r>
              <a:rPr lang="en-US" sz="1250" b="1">
                <a:solidFill>
                  <a:srgbClr val="E5E0DF"/>
                </a:solidFill>
                <a:latin typeface="Inter Bold" pitchFamily="34" charset="0"/>
                <a:ea typeface="Inter Bold" pitchFamily="34" charset="-122"/>
                <a:cs typeface="Inter Bold" pitchFamily="34" charset="-120"/>
              </a:rPr>
              <a:t>Report Generation</a:t>
            </a:r>
            <a:endParaRPr lang="en-US" sz="1250"/>
          </a:p>
        </p:txBody>
      </p:sp>
      <p:sp>
        <p:nvSpPr>
          <p:cNvPr id="26" name="Text 16"/>
          <p:cNvSpPr/>
          <p:nvPr/>
        </p:nvSpPr>
        <p:spPr>
          <a:xfrm>
            <a:off x="9039101" y="7539871"/>
            <a:ext cx="9599771" cy="172522"/>
          </a:xfrm>
          <a:prstGeom prst="rect">
            <a:avLst/>
          </a:prstGeom>
          <a:noFill/>
          <a:ln/>
        </p:spPr>
        <p:txBody>
          <a:bodyPr wrap="none" lIns="0" tIns="0" rIns="0" bIns="0" rtlCol="0" anchor="t"/>
          <a:lstStyle/>
          <a:p>
            <a:pPr marL="0" indent="0" algn="l">
              <a:lnSpc>
                <a:spcPts val="1350"/>
              </a:lnSpc>
              <a:buNone/>
            </a:pPr>
            <a:r>
              <a:rPr lang="en-US" sz="1000">
                <a:solidFill>
                  <a:srgbClr val="E5E0DF"/>
                </a:solidFill>
                <a:latin typeface="Inter" pitchFamily="34" charset="0"/>
                <a:ea typeface="Inter" pitchFamily="34" charset="-122"/>
                <a:cs typeface="Inter" pitchFamily="34" charset="-120"/>
              </a:rPr>
              <a:t>TestNG HTML report in target/surefire-reports/</a:t>
            </a:r>
            <a:endParaRPr lang="en-US" sz="1000"/>
          </a:p>
        </p:txBody>
      </p:sp>
      <p:pic>
        <p:nvPicPr>
          <p:cNvPr id="27" name="Picture 26">
            <a:extLst>
              <a:ext uri="{FF2B5EF4-FFF2-40B4-BE49-F238E27FC236}">
                <a16:creationId xmlns:a16="http://schemas.microsoft.com/office/drawing/2014/main" id="{D8917F21-0991-B79F-02DB-ECBA3B61B84F}"/>
              </a:ext>
            </a:extLst>
          </p:cNvPr>
          <p:cNvPicPr/>
          <p:nvPr/>
        </p:nvPicPr>
        <p:blipFill>
          <a:blip r:embed="rId4"/>
          <a:stretch>
            <a:fillRect/>
          </a:stretch>
        </p:blipFill>
        <p:spPr>
          <a:xfrm>
            <a:off x="11620080" y="7715178"/>
            <a:ext cx="3010320" cy="514422"/>
          </a:xfrm>
          <a:prstGeom prst="rect">
            <a:avLst/>
          </a:prstGeom>
        </p:spPr>
      </p:pic>
      <p:pic>
        <p:nvPicPr>
          <p:cNvPr id="2050" name="Picture 2" descr="How to Combine and Organize Your Game Libraries With GOG Galaxy | PCMag">
            <a:extLst>
              <a:ext uri="{FF2B5EF4-FFF2-40B4-BE49-F238E27FC236}">
                <a16:creationId xmlns:a16="http://schemas.microsoft.com/office/drawing/2014/main" id="{B6A1AABA-EF63-365B-90E4-18B4FEC5EED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2411"/>
          <a:stretch>
            <a:fillRect/>
          </a:stretch>
        </p:blipFill>
        <p:spPr bwMode="auto">
          <a:xfrm>
            <a:off x="590322" y="1114389"/>
            <a:ext cx="7021286"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1">
            <a:extLst>
              <a:ext uri="{FF2B5EF4-FFF2-40B4-BE49-F238E27FC236}">
                <a16:creationId xmlns:a16="http://schemas.microsoft.com/office/drawing/2014/main" id="{949C1BE9-ED06-5C57-D757-B5B56822FD39}"/>
              </a:ext>
            </a:extLst>
          </p:cNvPr>
          <p:cNvSpPr/>
          <p:nvPr/>
        </p:nvSpPr>
        <p:spPr>
          <a:xfrm>
            <a:off x="-7875" y="1219613"/>
            <a:ext cx="14626778" cy="5915000"/>
          </a:xfrm>
          <a:prstGeom prst="roundRect">
            <a:avLst>
              <a:gd name="adj" fmla="val 3672"/>
            </a:avLst>
          </a:prstGeom>
          <a:solidFill>
            <a:srgbClr val="110080"/>
          </a:solidFill>
          <a:ln w="7620">
            <a:solidFill>
              <a:srgbClr val="2A1999"/>
            </a:solidFill>
            <a:prstDash val="solid"/>
          </a:ln>
        </p:spPr>
        <p:txBody>
          <a:bodyPr/>
          <a:lstStyle/>
          <a:p>
            <a:endParaRPr lang="en-US"/>
          </a:p>
        </p:txBody>
      </p:sp>
      <p:sp>
        <p:nvSpPr>
          <p:cNvPr id="2" name="TextBox 1">
            <a:extLst>
              <a:ext uri="{FF2B5EF4-FFF2-40B4-BE49-F238E27FC236}">
                <a16:creationId xmlns:a16="http://schemas.microsoft.com/office/drawing/2014/main" id="{DBE666F1-E532-73FB-7E5E-48A6C442C4C0}"/>
              </a:ext>
            </a:extLst>
          </p:cNvPr>
          <p:cNvSpPr txBox="1"/>
          <p:nvPr/>
        </p:nvSpPr>
        <p:spPr>
          <a:xfrm>
            <a:off x="1402915" y="457200"/>
            <a:ext cx="7315200" cy="7617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50" b="1" i="0" u="none" strike="noStrike">
                <a:solidFill>
                  <a:srgbClr val="FFFFFF"/>
                </a:solidFill>
                <a:latin typeface="Inter Bold"/>
              </a:rPr>
              <a:t>Workf</a:t>
            </a:r>
            <a:r>
              <a:rPr lang="en-US" sz="2550" b="1" i="0" u="none" strike="noStrike">
                <a:solidFill>
                  <a:schemeClr val="bg1"/>
                </a:solidFill>
                <a:latin typeface="Inter Bold"/>
              </a:rPr>
              <a:t>low</a:t>
            </a:r>
            <a:r>
              <a:rPr sz="2550" b="0" i="0">
                <a:solidFill>
                  <a:schemeClr val="bg1"/>
                </a:solidFill>
                <a:latin typeface="Inter Bold"/>
                <a:ea typeface="Inter Bold"/>
                <a:cs typeface="Inter Bold"/>
              </a:rPr>
              <a:t>​</a:t>
            </a:r>
            <a:r>
              <a:rPr lang="en-US" sz="2550">
                <a:solidFill>
                  <a:schemeClr val="bg1"/>
                </a:solidFill>
                <a:latin typeface="Inter Bold"/>
                <a:ea typeface="Inter Bold"/>
                <a:cs typeface="Inter Bold"/>
              </a:rPr>
              <a:t> </a:t>
            </a:r>
            <a:r>
              <a:rPr lang="en-US" sz="2550" b="1">
                <a:solidFill>
                  <a:schemeClr val="bg1"/>
                </a:solidFill>
                <a:latin typeface="Inter Bold"/>
                <a:ea typeface="Inter Bold"/>
                <a:cs typeface="Inter Bold"/>
              </a:rPr>
              <a:t>Diagram</a:t>
            </a:r>
            <a:endParaRPr lang="en-US" b="1">
              <a:solidFill>
                <a:schemeClr val="bg1"/>
              </a:solidFill>
            </a:endParaRPr>
          </a:p>
          <a:p>
            <a:pPr algn="ctr"/>
            <a:endParaRPr lang="en-US"/>
          </a:p>
        </p:txBody>
      </p:sp>
      <p:pic>
        <p:nvPicPr>
          <p:cNvPr id="4" name="Picture 3">
            <a:extLst>
              <a:ext uri="{FF2B5EF4-FFF2-40B4-BE49-F238E27FC236}">
                <a16:creationId xmlns:a16="http://schemas.microsoft.com/office/drawing/2014/main" id="{7155B466-37FD-1E9E-93E8-B97F7FA51928}"/>
              </a:ext>
            </a:extLst>
          </p:cNvPr>
          <p:cNvPicPr>
            <a:picLocks noChangeAspect="1"/>
          </p:cNvPicPr>
          <p:nvPr/>
        </p:nvPicPr>
        <p:blipFill>
          <a:blip r:embed="rId2"/>
          <a:stretch>
            <a:fillRect/>
          </a:stretch>
        </p:blipFill>
        <p:spPr>
          <a:xfrm>
            <a:off x="605" y="1493737"/>
            <a:ext cx="14629190" cy="5242126"/>
          </a:xfrm>
          <a:prstGeom prst="rect">
            <a:avLst/>
          </a:prstGeom>
        </p:spPr>
      </p:pic>
      <p:pic>
        <p:nvPicPr>
          <p:cNvPr id="5" name="Picture 4">
            <a:extLst>
              <a:ext uri="{FF2B5EF4-FFF2-40B4-BE49-F238E27FC236}">
                <a16:creationId xmlns:a16="http://schemas.microsoft.com/office/drawing/2014/main" id="{D7EF8ED1-1038-F1D0-7B3A-8963E58C0CBC}"/>
              </a:ext>
            </a:extLst>
          </p:cNvPr>
          <p:cNvPicPr/>
          <p:nvPr/>
        </p:nvPicPr>
        <p:blipFill>
          <a:blip r:embed="rId3"/>
          <a:stretch>
            <a:fillRect/>
          </a:stretch>
        </p:blipFill>
        <p:spPr>
          <a:xfrm>
            <a:off x="11620080" y="7715178"/>
            <a:ext cx="3010320" cy="514422"/>
          </a:xfrm>
          <a:prstGeom prst="rect">
            <a:avLst/>
          </a:prstGeom>
        </p:spPr>
      </p:pic>
    </p:spTree>
    <p:extLst>
      <p:ext uri="{BB962C8B-B14F-4D97-AF65-F5344CB8AC3E}">
        <p14:creationId xmlns:p14="http://schemas.microsoft.com/office/powerpoint/2010/main" val="3940440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417201"/>
            <a:ext cx="4961811" cy="620078"/>
          </a:xfrm>
          <a:prstGeom prst="rect">
            <a:avLst/>
          </a:prstGeom>
          <a:noFill/>
          <a:ln/>
        </p:spPr>
        <p:txBody>
          <a:bodyPr wrap="none" lIns="0" tIns="0" rIns="0" bIns="0" rtlCol="0" anchor="t"/>
          <a:lstStyle/>
          <a:p>
            <a:pPr marL="0" indent="0" algn="l">
              <a:lnSpc>
                <a:spcPts val="4850"/>
              </a:lnSpc>
              <a:buNone/>
            </a:pPr>
            <a:r>
              <a:rPr lang="en-US" sz="3900" b="1">
                <a:solidFill>
                  <a:srgbClr val="FFFFFF"/>
                </a:solidFill>
                <a:latin typeface="Inter Bold" pitchFamily="34" charset="0"/>
                <a:ea typeface="Inter Bold" pitchFamily="34" charset="-122"/>
                <a:cs typeface="Inter Bold" pitchFamily="34" charset="-120"/>
              </a:rPr>
              <a:t>Team Contributions</a:t>
            </a:r>
            <a:endParaRPr lang="en-US" sz="3900"/>
          </a:p>
        </p:txBody>
      </p:sp>
      <p:sp>
        <p:nvSpPr>
          <p:cNvPr id="3" name="Text 1"/>
          <p:cNvSpPr/>
          <p:nvPr/>
        </p:nvSpPr>
        <p:spPr>
          <a:xfrm>
            <a:off x="793790" y="2533293"/>
            <a:ext cx="2480905" cy="310158"/>
          </a:xfrm>
          <a:prstGeom prst="rect">
            <a:avLst/>
          </a:prstGeom>
          <a:noFill/>
          <a:ln/>
        </p:spPr>
        <p:txBody>
          <a:bodyPr wrap="none" lIns="0" tIns="0" rIns="0" bIns="0" rtlCol="0" anchor="t"/>
          <a:lstStyle/>
          <a:p>
            <a:pPr marL="0" indent="0" algn="l">
              <a:lnSpc>
                <a:spcPts val="2400"/>
              </a:lnSpc>
              <a:buNone/>
            </a:pPr>
            <a:r>
              <a:rPr lang="en-US" sz="1950" b="1">
                <a:solidFill>
                  <a:srgbClr val="FFFFFF"/>
                </a:solidFill>
                <a:latin typeface="Inter Bold" pitchFamily="34" charset="0"/>
                <a:ea typeface="Inter Bold" pitchFamily="34" charset="-122"/>
                <a:cs typeface="Inter Bold" pitchFamily="34" charset="-120"/>
              </a:rPr>
              <a:t>Dennis Kerry</a:t>
            </a:r>
            <a:endParaRPr lang="en-US" sz="1950"/>
          </a:p>
        </p:txBody>
      </p:sp>
      <p:sp>
        <p:nvSpPr>
          <p:cNvPr id="4" name="Text 2"/>
          <p:cNvSpPr/>
          <p:nvPr/>
        </p:nvSpPr>
        <p:spPr>
          <a:xfrm>
            <a:off x="793790" y="3041809"/>
            <a:ext cx="4024313" cy="2679144"/>
          </a:xfrm>
          <a:prstGeom prst="rect">
            <a:avLst/>
          </a:prstGeom>
          <a:noFill/>
          <a:ln/>
        </p:spPr>
        <p:txBody>
          <a:bodyPr wrap="square" lIns="0" tIns="0" rIns="0" bIns="0" rtlCol="0" anchor="t"/>
          <a:lstStyle/>
          <a:p>
            <a:pPr marL="342900" indent="-342900" algn="l">
              <a:lnSpc>
                <a:spcPts val="2500"/>
              </a:lnSpc>
              <a:buSzPct val="100000"/>
              <a:buChar char="•"/>
            </a:pPr>
            <a:r>
              <a:rPr lang="en-US" sz="1550" err="1">
                <a:solidFill>
                  <a:srgbClr val="E5E0DF"/>
                </a:solidFill>
                <a:latin typeface="Inter" pitchFamily="34" charset="0"/>
                <a:ea typeface="Inter" pitchFamily="34" charset="-122"/>
                <a:cs typeface="Inter" pitchFamily="34" charset="-120"/>
              </a:rPr>
              <a:t>HomePageTest</a:t>
            </a:r>
            <a:r>
              <a:rPr lang="en-US" sz="1550">
                <a:solidFill>
                  <a:srgbClr val="E5E0DF"/>
                </a:solidFill>
                <a:latin typeface="Inter" pitchFamily="34" charset="0"/>
                <a:ea typeface="Inter" pitchFamily="34" charset="-122"/>
                <a:cs typeface="Inter" pitchFamily="34" charset="-120"/>
              </a:rPr>
              <a:t> (10 tests): title, header, logo, tiles, sign-in, footer, HTTPS</a:t>
            </a:r>
            <a:endParaRPr lang="en-US" sz="1550"/>
          </a:p>
          <a:p>
            <a:pPr marL="342900" indent="-342900" algn="l">
              <a:lnSpc>
                <a:spcPts val="2500"/>
              </a:lnSpc>
              <a:buSzPct val="100000"/>
              <a:buChar char="•"/>
            </a:pPr>
            <a:r>
              <a:rPr lang="en-US" sz="1550" err="1">
                <a:solidFill>
                  <a:srgbClr val="E5E0DF"/>
                </a:solidFill>
                <a:latin typeface="Inter" pitchFamily="34" charset="0"/>
                <a:ea typeface="Inter" pitchFamily="34" charset="-122"/>
                <a:cs typeface="Inter" pitchFamily="34" charset="-120"/>
              </a:rPr>
              <a:t>LoginPageTest</a:t>
            </a:r>
            <a:r>
              <a:rPr lang="en-US" sz="1550">
                <a:solidFill>
                  <a:srgbClr val="E5E0DF"/>
                </a:solidFill>
                <a:latin typeface="Inter" pitchFamily="34" charset="0"/>
                <a:ea typeface="Inter" pitchFamily="34" charset="-122"/>
                <a:cs typeface="Inter" pitchFamily="34" charset="-120"/>
              </a:rPr>
              <a:t> (9 tests): form fields, invalid login error, forgot password, create account link</a:t>
            </a:r>
            <a:endParaRPr lang="en-US" sz="1550"/>
          </a:p>
          <a:p>
            <a:pPr marL="342900" indent="-342900" algn="l">
              <a:lnSpc>
                <a:spcPts val="2500"/>
              </a:lnSpc>
              <a:buSzPct val="100000"/>
              <a:buChar char="•"/>
            </a:pPr>
            <a:r>
              <a:rPr lang="en-US" sz="1550" err="1">
                <a:solidFill>
                  <a:srgbClr val="E5E0DF"/>
                </a:solidFill>
                <a:latin typeface="Inter" pitchFamily="34" charset="0"/>
                <a:ea typeface="Inter" pitchFamily="34" charset="-122"/>
                <a:cs typeface="Inter" pitchFamily="34" charset="-120"/>
              </a:rPr>
              <a:t>NavigationTest</a:t>
            </a:r>
            <a:r>
              <a:rPr lang="en-US" sz="1550">
                <a:solidFill>
                  <a:srgbClr val="E5E0DF"/>
                </a:solidFill>
                <a:latin typeface="Inter" pitchFamily="34" charset="0"/>
                <a:ea typeface="Inter" pitchFamily="34" charset="-122"/>
                <a:cs typeface="Inter" pitchFamily="34" charset="-120"/>
              </a:rPr>
              <a:t> (9 tests): logo navigation, store link, catalog routing, header persistence, cart icon</a:t>
            </a:r>
            <a:endParaRPr lang="en-US" sz="1550"/>
          </a:p>
        </p:txBody>
      </p:sp>
      <p:sp>
        <p:nvSpPr>
          <p:cNvPr id="5" name="Text 3"/>
          <p:cNvSpPr/>
          <p:nvPr/>
        </p:nvSpPr>
        <p:spPr>
          <a:xfrm>
            <a:off x="5309830" y="2533293"/>
            <a:ext cx="2480905" cy="310158"/>
          </a:xfrm>
          <a:prstGeom prst="rect">
            <a:avLst/>
          </a:prstGeom>
          <a:noFill/>
          <a:ln/>
        </p:spPr>
        <p:txBody>
          <a:bodyPr wrap="none" lIns="0" tIns="0" rIns="0" bIns="0" rtlCol="0" anchor="t"/>
          <a:lstStyle/>
          <a:p>
            <a:pPr marL="0" indent="0" algn="l">
              <a:lnSpc>
                <a:spcPts val="2400"/>
              </a:lnSpc>
              <a:buNone/>
            </a:pPr>
            <a:r>
              <a:rPr lang="en-US" sz="1950" b="1">
                <a:solidFill>
                  <a:srgbClr val="FFFFFF"/>
                </a:solidFill>
                <a:latin typeface="Inter Bold" pitchFamily="34" charset="0"/>
                <a:ea typeface="Inter Bold" pitchFamily="34" charset="-122"/>
                <a:cs typeface="Inter Bold" pitchFamily="34" charset="-120"/>
              </a:rPr>
              <a:t>Robert Benstine</a:t>
            </a:r>
            <a:endParaRPr lang="en-US" sz="1950"/>
          </a:p>
        </p:txBody>
      </p:sp>
      <p:sp>
        <p:nvSpPr>
          <p:cNvPr id="6" name="Text 4"/>
          <p:cNvSpPr/>
          <p:nvPr/>
        </p:nvSpPr>
        <p:spPr>
          <a:xfrm>
            <a:off x="5309830" y="3041809"/>
            <a:ext cx="4024313" cy="3314224"/>
          </a:xfrm>
          <a:prstGeom prst="rect">
            <a:avLst/>
          </a:prstGeom>
          <a:noFill/>
          <a:ln/>
        </p:spPr>
        <p:txBody>
          <a:bodyPr wrap="square" lIns="0" tIns="0" rIns="0" bIns="0" rtlCol="0" anchor="t"/>
          <a:lstStyle/>
          <a:p>
            <a:pPr marL="342900" indent="-342900" algn="l">
              <a:lnSpc>
                <a:spcPts val="2500"/>
              </a:lnSpc>
              <a:buSzPct val="100000"/>
              <a:buChar char="•"/>
            </a:pPr>
            <a:r>
              <a:rPr lang="en-US" sz="1550" err="1">
                <a:solidFill>
                  <a:srgbClr val="E5E0DF"/>
                </a:solidFill>
                <a:latin typeface="Inter"/>
                <a:ea typeface="Inter"/>
                <a:cs typeface="Inter" pitchFamily="34" charset="-120"/>
              </a:rPr>
              <a:t>GamePageTest</a:t>
            </a:r>
            <a:r>
              <a:rPr lang="en-US" sz="1550">
                <a:solidFill>
                  <a:srgbClr val="E5E0DF"/>
                </a:solidFill>
                <a:latin typeface="Inter"/>
                <a:ea typeface="Inter"/>
                <a:cs typeface="Inter" pitchFamily="34" charset="-120"/>
              </a:rPr>
              <a:t> (10 tests): product page load, title H1, buy button, description, screenshots, system requirements, HTTPS</a:t>
            </a:r>
            <a:endParaRPr lang="en-US" sz="1550">
              <a:latin typeface="Inter"/>
              <a:ea typeface="Inter"/>
            </a:endParaRPr>
          </a:p>
          <a:p>
            <a:pPr marL="342900" indent="-342900" algn="l">
              <a:lnSpc>
                <a:spcPts val="2500"/>
              </a:lnSpc>
              <a:buSzPct val="100000"/>
              <a:buChar char="•"/>
            </a:pPr>
            <a:r>
              <a:rPr lang="en-US" sz="1550" err="1">
                <a:solidFill>
                  <a:srgbClr val="E5E0DF"/>
                </a:solidFill>
                <a:latin typeface="Inter"/>
                <a:ea typeface="Inter"/>
                <a:cs typeface="Inter" pitchFamily="34" charset="-120"/>
              </a:rPr>
              <a:t>CartPageTest</a:t>
            </a:r>
            <a:r>
              <a:rPr lang="en-US" sz="1550">
                <a:solidFill>
                  <a:srgbClr val="E5E0DF"/>
                </a:solidFill>
                <a:latin typeface="Inter"/>
                <a:ea typeface="Inter"/>
                <a:cs typeface="Inter" pitchFamily="34" charset="-120"/>
              </a:rPr>
              <a:t> (9 tests): cart page load, title, main content, empty-cart state, continue-shopping link, header, HTTPS</a:t>
            </a:r>
            <a:endParaRPr lang="en-US" sz="1550">
              <a:latin typeface="Inter"/>
              <a:ea typeface="Inter"/>
            </a:endParaRPr>
          </a:p>
          <a:p>
            <a:pPr marL="342900" indent="-342900" algn="l">
              <a:lnSpc>
                <a:spcPts val="2500"/>
              </a:lnSpc>
              <a:buSzPct val="100000"/>
              <a:buChar char="•"/>
            </a:pPr>
            <a:r>
              <a:rPr lang="en-US" sz="1550" err="1">
                <a:solidFill>
                  <a:srgbClr val="E5E0DF"/>
                </a:solidFill>
                <a:latin typeface="Inter"/>
                <a:ea typeface="Inter"/>
                <a:cs typeface="Inter" pitchFamily="34" charset="-120"/>
              </a:rPr>
              <a:t>BaseTest</a:t>
            </a:r>
            <a:r>
              <a:rPr lang="en-US" sz="1550">
                <a:solidFill>
                  <a:srgbClr val="E5E0DF"/>
                </a:solidFill>
                <a:latin typeface="Inter"/>
                <a:ea typeface="Inter"/>
                <a:cs typeface="Inter" pitchFamily="34" charset="-120"/>
              </a:rPr>
              <a:t> &amp; </a:t>
            </a:r>
            <a:r>
              <a:rPr lang="en-US" sz="1550" err="1">
                <a:solidFill>
                  <a:srgbClr val="E5E0DF"/>
                </a:solidFill>
                <a:latin typeface="Inter"/>
                <a:ea typeface="Inter"/>
                <a:cs typeface="Inter" pitchFamily="34" charset="-120"/>
              </a:rPr>
              <a:t>AuthenticatedTest</a:t>
            </a:r>
            <a:r>
              <a:rPr lang="en-US" sz="1550">
                <a:solidFill>
                  <a:srgbClr val="E5E0DF"/>
                </a:solidFill>
                <a:latin typeface="Inter"/>
                <a:ea typeface="Inter"/>
                <a:cs typeface="Inter" pitchFamily="34" charset="-120"/>
              </a:rPr>
              <a:t> infrastructure: </a:t>
            </a:r>
            <a:r>
              <a:rPr lang="en-US" sz="1550" err="1">
                <a:solidFill>
                  <a:srgbClr val="E5E0DF"/>
                </a:solidFill>
                <a:latin typeface="Inter"/>
                <a:ea typeface="Inter"/>
                <a:cs typeface="Inter" pitchFamily="34" charset="-120"/>
              </a:rPr>
              <a:t>ChromeDriver</a:t>
            </a:r>
            <a:r>
              <a:rPr lang="en-US" sz="1550">
                <a:solidFill>
                  <a:srgbClr val="E5E0DF"/>
                </a:solidFill>
                <a:latin typeface="Inter"/>
                <a:ea typeface="Inter"/>
                <a:cs typeface="Inter" pitchFamily="34" charset="-120"/>
              </a:rPr>
              <a:t> setup, anti-bot flags, login lifecycle</a:t>
            </a:r>
          </a:p>
          <a:p>
            <a:pPr marL="342900" indent="-342900">
              <a:lnSpc>
                <a:spcPts val="2500"/>
              </a:lnSpc>
              <a:buSzPct val="100000"/>
              <a:buFont typeface="Arial"/>
              <a:buChar char="•"/>
            </a:pPr>
            <a:r>
              <a:rPr lang="en-US" sz="1600">
                <a:solidFill>
                  <a:srgbClr val="E5E0DF"/>
                </a:solidFill>
                <a:latin typeface="Inter"/>
                <a:ea typeface="Inter"/>
                <a:cs typeface="Inter" pitchFamily="34" charset="-120"/>
              </a:rPr>
              <a:t>HTML Report Document</a:t>
            </a:r>
            <a:endParaRPr lang="en-US" sz="1550">
              <a:solidFill>
                <a:srgbClr val="E5E0DF"/>
              </a:solidFill>
              <a:latin typeface="Inter"/>
              <a:ea typeface="Inter"/>
              <a:cs typeface="Inter" pitchFamily="34" charset="-120"/>
            </a:endParaRPr>
          </a:p>
          <a:p>
            <a:pPr>
              <a:lnSpc>
                <a:spcPts val="2500"/>
              </a:lnSpc>
              <a:buSzPct val="100000"/>
            </a:pPr>
            <a:endParaRPr lang="en-US" sz="1550">
              <a:solidFill>
                <a:srgbClr val="E5E0DF"/>
              </a:solidFill>
              <a:latin typeface="Inter"/>
              <a:ea typeface="Inter"/>
              <a:cs typeface="Inter" pitchFamily="34" charset="-120"/>
            </a:endParaRPr>
          </a:p>
        </p:txBody>
      </p:sp>
      <p:sp>
        <p:nvSpPr>
          <p:cNvPr id="7" name="Text 5"/>
          <p:cNvSpPr/>
          <p:nvPr/>
        </p:nvSpPr>
        <p:spPr>
          <a:xfrm>
            <a:off x="9825871" y="2533293"/>
            <a:ext cx="2480905" cy="310158"/>
          </a:xfrm>
          <a:prstGeom prst="rect">
            <a:avLst/>
          </a:prstGeom>
          <a:noFill/>
          <a:ln/>
        </p:spPr>
        <p:txBody>
          <a:bodyPr wrap="none" lIns="0" tIns="0" rIns="0" bIns="0" rtlCol="0" anchor="t"/>
          <a:lstStyle/>
          <a:p>
            <a:pPr marL="0" indent="0" algn="l">
              <a:lnSpc>
                <a:spcPts val="2400"/>
              </a:lnSpc>
              <a:buNone/>
            </a:pPr>
            <a:r>
              <a:rPr lang="en-US" sz="1950" b="1">
                <a:solidFill>
                  <a:srgbClr val="FFFFFF"/>
                </a:solidFill>
                <a:latin typeface="Inter Bold" pitchFamily="34" charset="0"/>
                <a:ea typeface="Inter Bold" pitchFamily="34" charset="-122"/>
                <a:cs typeface="Inter Bold" pitchFamily="34" charset="-120"/>
              </a:rPr>
              <a:t>Myles Vinal</a:t>
            </a:r>
            <a:endParaRPr lang="en-US" sz="1950"/>
          </a:p>
        </p:txBody>
      </p:sp>
      <p:sp>
        <p:nvSpPr>
          <p:cNvPr id="8" name="Text 6"/>
          <p:cNvSpPr/>
          <p:nvPr/>
        </p:nvSpPr>
        <p:spPr>
          <a:xfrm>
            <a:off x="9825871" y="3041809"/>
            <a:ext cx="4024313" cy="3701177"/>
          </a:xfrm>
          <a:prstGeom prst="rect">
            <a:avLst/>
          </a:prstGeom>
          <a:noFill/>
          <a:ln/>
        </p:spPr>
        <p:txBody>
          <a:bodyPr wrap="square" lIns="0" tIns="0" rIns="0" bIns="0" rtlCol="0" anchor="t"/>
          <a:lstStyle/>
          <a:p>
            <a:pPr marL="342900" indent="-342900" algn="l">
              <a:lnSpc>
                <a:spcPts val="2500"/>
              </a:lnSpc>
              <a:buSzPct val="100000"/>
              <a:buChar char="•"/>
            </a:pPr>
            <a:r>
              <a:rPr lang="en-US" sz="1550" err="1">
                <a:solidFill>
                  <a:srgbClr val="E5E0DF"/>
                </a:solidFill>
                <a:latin typeface="Inter" pitchFamily="34" charset="0"/>
                <a:ea typeface="Inter" pitchFamily="34" charset="-122"/>
                <a:cs typeface="Inter" pitchFamily="34" charset="-120"/>
              </a:rPr>
              <a:t>SearchTest</a:t>
            </a:r>
            <a:r>
              <a:rPr lang="en-US" sz="1550">
                <a:solidFill>
                  <a:srgbClr val="E5E0DF"/>
                </a:solidFill>
                <a:latin typeface="Inter" pitchFamily="34" charset="0"/>
                <a:ea typeface="Inter" pitchFamily="34" charset="-122"/>
                <a:cs typeface="Inter" pitchFamily="34" charset="-120"/>
              </a:rPr>
              <a:t> (8 tests): search icon, results page load, result tiles, tile titles, tile images, filter controls</a:t>
            </a:r>
            <a:endParaRPr lang="en-US" sz="1550"/>
          </a:p>
          <a:p>
            <a:pPr marL="342900" indent="-342900" algn="l">
              <a:lnSpc>
                <a:spcPts val="2500"/>
              </a:lnSpc>
              <a:buSzPct val="100000"/>
              <a:buChar char="•"/>
            </a:pPr>
            <a:r>
              <a:rPr lang="en-US" sz="1550" err="1">
                <a:solidFill>
                  <a:srgbClr val="E5E0DF"/>
                </a:solidFill>
                <a:latin typeface="Inter" pitchFamily="34" charset="0"/>
                <a:ea typeface="Inter" pitchFamily="34" charset="-122"/>
                <a:cs typeface="Inter" pitchFamily="34" charset="-120"/>
              </a:rPr>
              <a:t>GenreBrowseTest</a:t>
            </a:r>
            <a:r>
              <a:rPr lang="en-US" sz="1550">
                <a:solidFill>
                  <a:srgbClr val="E5E0DF"/>
                </a:solidFill>
                <a:latin typeface="Inter" pitchFamily="34" charset="0"/>
                <a:ea typeface="Inter" pitchFamily="34" charset="-122"/>
                <a:cs typeface="Inter" pitchFamily="34" charset="-120"/>
              </a:rPr>
              <a:t> (8 tests): catalog page, RPG genre filter, tile images, sort/filter controls, page heading</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TestUtils shared utility: performLogin, dismissCookieConsent, waitForPageLoad, isElementPresent</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testng.xml integration and Maven Surefire configuration</a:t>
            </a:r>
            <a:endParaRPr lang="en-US" sz="1550"/>
          </a:p>
        </p:txBody>
      </p:sp>
      <p:pic>
        <p:nvPicPr>
          <p:cNvPr id="9" name="Picture 8">
            <a:extLst>
              <a:ext uri="{FF2B5EF4-FFF2-40B4-BE49-F238E27FC236}">
                <a16:creationId xmlns:a16="http://schemas.microsoft.com/office/drawing/2014/main" id="{2B000B29-4400-6104-3BB4-A902716E0686}"/>
              </a:ext>
            </a:extLst>
          </p:cNvPr>
          <p:cNvPicPr/>
          <p:nvPr/>
        </p:nvPicPr>
        <p:blipFill>
          <a:blip r:embed="rId3"/>
          <a:stretch>
            <a:fillRect/>
          </a:stretch>
        </p:blipFill>
        <p:spPr>
          <a:xfrm>
            <a:off x="11620080" y="7715178"/>
            <a:ext cx="3010320" cy="5144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04505"/>
            <a:ext cx="5143619" cy="620078"/>
          </a:xfrm>
          <a:prstGeom prst="rect">
            <a:avLst/>
          </a:prstGeom>
          <a:noFill/>
          <a:ln/>
        </p:spPr>
        <p:txBody>
          <a:bodyPr wrap="none" lIns="0" tIns="0" rIns="0" bIns="0" rtlCol="0" anchor="t"/>
          <a:lstStyle/>
          <a:p>
            <a:pPr marL="0" indent="0" algn="l">
              <a:lnSpc>
                <a:spcPts val="4850"/>
              </a:lnSpc>
              <a:buNone/>
            </a:pPr>
            <a:r>
              <a:rPr lang="en-US" sz="3900" b="1">
                <a:solidFill>
                  <a:srgbClr val="FFFFFF"/>
                </a:solidFill>
                <a:latin typeface="Inter Bold" pitchFamily="34" charset="0"/>
                <a:ea typeface="Inter Bold" pitchFamily="34" charset="-122"/>
                <a:cs typeface="Inter Bold" pitchFamily="34" charset="-120"/>
              </a:rPr>
              <a:t>Tools &amp; Technologies</a:t>
            </a:r>
            <a:endParaRPr lang="en-US" sz="390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790" y="1821418"/>
            <a:ext cx="396835" cy="396835"/>
          </a:xfrm>
          <a:prstGeom prst="rect">
            <a:avLst/>
          </a:prstGeom>
        </p:spPr>
      </p:pic>
      <p:sp>
        <p:nvSpPr>
          <p:cNvPr id="4" name="Text 1"/>
          <p:cNvSpPr/>
          <p:nvPr/>
        </p:nvSpPr>
        <p:spPr>
          <a:xfrm>
            <a:off x="793790" y="2466261"/>
            <a:ext cx="2480905"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Java 17</a:t>
            </a:r>
            <a:endParaRPr lang="en-US" sz="1950"/>
          </a:p>
        </p:txBody>
      </p:sp>
      <p:sp>
        <p:nvSpPr>
          <p:cNvPr id="5" name="Text 2"/>
          <p:cNvSpPr/>
          <p:nvPr/>
        </p:nvSpPr>
        <p:spPr>
          <a:xfrm>
            <a:off x="793790" y="2895481"/>
            <a:ext cx="4182189" cy="317540"/>
          </a:xfrm>
          <a:prstGeom prst="rect">
            <a:avLst/>
          </a:prstGeom>
          <a:noFill/>
          <a:ln/>
        </p:spPr>
        <p:txBody>
          <a:bodyPr wrap="non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Primary programming language</a:t>
            </a:r>
            <a:endParaRPr lang="en-US" sz="155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23986" y="1821418"/>
            <a:ext cx="396835" cy="396835"/>
          </a:xfrm>
          <a:prstGeom prst="rect">
            <a:avLst/>
          </a:prstGeom>
        </p:spPr>
      </p:pic>
      <p:sp>
        <p:nvSpPr>
          <p:cNvPr id="7" name="Text 3"/>
          <p:cNvSpPr/>
          <p:nvPr/>
        </p:nvSpPr>
        <p:spPr>
          <a:xfrm>
            <a:off x="5223986" y="2466261"/>
            <a:ext cx="3185636"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Selenium WebDriver 4.18.1</a:t>
            </a:r>
            <a:endParaRPr lang="en-US" sz="1950"/>
          </a:p>
        </p:txBody>
      </p:sp>
      <p:sp>
        <p:nvSpPr>
          <p:cNvPr id="8" name="Text 4"/>
          <p:cNvSpPr/>
          <p:nvPr/>
        </p:nvSpPr>
        <p:spPr>
          <a:xfrm>
            <a:off x="5223986" y="2895481"/>
            <a:ext cx="4182308" cy="317540"/>
          </a:xfrm>
          <a:prstGeom prst="rect">
            <a:avLst/>
          </a:prstGeom>
          <a:noFill/>
          <a:ln/>
        </p:spPr>
        <p:txBody>
          <a:bodyPr wrap="non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Browser automation framework</a:t>
            </a:r>
            <a:endParaRPr lang="en-US" sz="155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54302" y="1821418"/>
            <a:ext cx="396835" cy="396835"/>
          </a:xfrm>
          <a:prstGeom prst="rect">
            <a:avLst/>
          </a:prstGeom>
        </p:spPr>
      </p:pic>
      <p:sp>
        <p:nvSpPr>
          <p:cNvPr id="10" name="Text 5"/>
          <p:cNvSpPr/>
          <p:nvPr/>
        </p:nvSpPr>
        <p:spPr>
          <a:xfrm>
            <a:off x="9654302" y="2466261"/>
            <a:ext cx="2480905"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TestNG 7.9.0</a:t>
            </a:r>
            <a:endParaRPr lang="en-US" sz="1950"/>
          </a:p>
        </p:txBody>
      </p:sp>
      <p:sp>
        <p:nvSpPr>
          <p:cNvPr id="11" name="Text 6"/>
          <p:cNvSpPr/>
          <p:nvPr/>
        </p:nvSpPr>
        <p:spPr>
          <a:xfrm>
            <a:off x="9654302" y="2895481"/>
            <a:ext cx="4182308" cy="317540"/>
          </a:xfrm>
          <a:prstGeom prst="rect">
            <a:avLst/>
          </a:prstGeom>
          <a:noFill/>
          <a:ln/>
        </p:spPr>
        <p:txBody>
          <a:bodyPr wrap="non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Test framework, assertions, HTML reporting</a:t>
            </a:r>
            <a:endParaRPr lang="en-US" sz="155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3790" y="3609856"/>
            <a:ext cx="396835" cy="396835"/>
          </a:xfrm>
          <a:prstGeom prst="rect">
            <a:avLst/>
          </a:prstGeom>
        </p:spPr>
      </p:pic>
      <p:sp>
        <p:nvSpPr>
          <p:cNvPr id="13" name="Text 7"/>
          <p:cNvSpPr/>
          <p:nvPr/>
        </p:nvSpPr>
        <p:spPr>
          <a:xfrm>
            <a:off x="793790" y="4254698"/>
            <a:ext cx="3013115"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WebDriverManager 5.7.0</a:t>
            </a:r>
            <a:endParaRPr lang="en-US" sz="1950"/>
          </a:p>
        </p:txBody>
      </p:sp>
      <p:sp>
        <p:nvSpPr>
          <p:cNvPr id="14" name="Text 8"/>
          <p:cNvSpPr/>
          <p:nvPr/>
        </p:nvSpPr>
        <p:spPr>
          <a:xfrm>
            <a:off x="793790" y="4683919"/>
            <a:ext cx="4182189" cy="635079"/>
          </a:xfrm>
          <a:prstGeom prst="rect">
            <a:avLst/>
          </a:prstGeom>
          <a:noFill/>
          <a:ln/>
        </p:spPr>
        <p:txBody>
          <a:bodyPr wrap="squar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Automatic ChromeDriver binary management</a:t>
            </a:r>
            <a:endParaRPr lang="en-US" sz="155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23986" y="3609856"/>
            <a:ext cx="396835" cy="396835"/>
          </a:xfrm>
          <a:prstGeom prst="rect">
            <a:avLst/>
          </a:prstGeom>
        </p:spPr>
      </p:pic>
      <p:sp>
        <p:nvSpPr>
          <p:cNvPr id="16" name="Text 9"/>
          <p:cNvSpPr/>
          <p:nvPr/>
        </p:nvSpPr>
        <p:spPr>
          <a:xfrm>
            <a:off x="5223986" y="4254698"/>
            <a:ext cx="2980134"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Maven 3 + Surefire 3.2.5</a:t>
            </a:r>
            <a:endParaRPr lang="en-US" sz="1950"/>
          </a:p>
        </p:txBody>
      </p:sp>
      <p:sp>
        <p:nvSpPr>
          <p:cNvPr id="17" name="Text 10"/>
          <p:cNvSpPr/>
          <p:nvPr/>
        </p:nvSpPr>
        <p:spPr>
          <a:xfrm>
            <a:off x="5223986" y="4683919"/>
            <a:ext cx="4182308" cy="635079"/>
          </a:xfrm>
          <a:prstGeom prst="rect">
            <a:avLst/>
          </a:prstGeom>
          <a:noFill/>
          <a:ln/>
        </p:spPr>
        <p:txBody>
          <a:bodyPr wrap="squar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Build, dependency management, test execution</a:t>
            </a:r>
            <a:endParaRPr lang="en-US" sz="1550"/>
          </a:p>
        </p:txBody>
      </p:sp>
      <p:pic>
        <p:nvPicPr>
          <p:cNvPr id="1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654302" y="3609856"/>
            <a:ext cx="396835" cy="396835"/>
          </a:xfrm>
          <a:prstGeom prst="rect">
            <a:avLst/>
          </a:prstGeom>
        </p:spPr>
      </p:pic>
      <p:sp>
        <p:nvSpPr>
          <p:cNvPr id="19" name="Text 11"/>
          <p:cNvSpPr/>
          <p:nvPr/>
        </p:nvSpPr>
        <p:spPr>
          <a:xfrm>
            <a:off x="9654302" y="4254698"/>
            <a:ext cx="2480905"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Google Chrome</a:t>
            </a:r>
            <a:endParaRPr lang="en-US" sz="1950"/>
          </a:p>
        </p:txBody>
      </p:sp>
      <p:sp>
        <p:nvSpPr>
          <p:cNvPr id="20" name="Text 12"/>
          <p:cNvSpPr/>
          <p:nvPr/>
        </p:nvSpPr>
        <p:spPr>
          <a:xfrm>
            <a:off x="9654302" y="4683919"/>
            <a:ext cx="4182308" cy="317540"/>
          </a:xfrm>
          <a:prstGeom prst="rect">
            <a:avLst/>
          </a:prstGeom>
          <a:noFill/>
          <a:ln/>
        </p:spPr>
        <p:txBody>
          <a:bodyPr wrap="non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Browser under test</a:t>
            </a:r>
            <a:endParaRPr lang="en-US" sz="1550"/>
          </a:p>
        </p:txBody>
      </p:sp>
      <p:pic>
        <p:nvPicPr>
          <p:cNvPr id="21"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93790" y="5715833"/>
            <a:ext cx="396835" cy="396835"/>
          </a:xfrm>
          <a:prstGeom prst="rect">
            <a:avLst/>
          </a:prstGeom>
        </p:spPr>
      </p:pic>
      <p:sp>
        <p:nvSpPr>
          <p:cNvPr id="22" name="Text 13"/>
          <p:cNvSpPr/>
          <p:nvPr/>
        </p:nvSpPr>
        <p:spPr>
          <a:xfrm>
            <a:off x="793790" y="6360676"/>
            <a:ext cx="2480905"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Windows 10/11</a:t>
            </a:r>
            <a:endParaRPr lang="en-US" sz="1950"/>
          </a:p>
        </p:txBody>
      </p:sp>
      <p:sp>
        <p:nvSpPr>
          <p:cNvPr id="23" name="Text 14"/>
          <p:cNvSpPr/>
          <p:nvPr/>
        </p:nvSpPr>
        <p:spPr>
          <a:xfrm>
            <a:off x="793790" y="6789896"/>
            <a:ext cx="4182189" cy="317540"/>
          </a:xfrm>
          <a:prstGeom prst="rect">
            <a:avLst/>
          </a:prstGeom>
          <a:noFill/>
          <a:ln/>
        </p:spPr>
        <p:txBody>
          <a:bodyPr wrap="non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Operating system</a:t>
            </a:r>
            <a:endParaRPr lang="en-US" sz="1550"/>
          </a:p>
        </p:txBody>
      </p:sp>
      <p:pic>
        <p:nvPicPr>
          <p:cNvPr id="24"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223986" y="5715833"/>
            <a:ext cx="396835" cy="396835"/>
          </a:xfrm>
          <a:prstGeom prst="rect">
            <a:avLst/>
          </a:prstGeom>
        </p:spPr>
      </p:pic>
      <p:sp>
        <p:nvSpPr>
          <p:cNvPr id="25" name="Text 15"/>
          <p:cNvSpPr/>
          <p:nvPr/>
        </p:nvSpPr>
        <p:spPr>
          <a:xfrm>
            <a:off x="5223986" y="6360676"/>
            <a:ext cx="2480905"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Git / GitHub</a:t>
            </a:r>
            <a:endParaRPr lang="en-US" sz="1950"/>
          </a:p>
        </p:txBody>
      </p:sp>
      <p:sp>
        <p:nvSpPr>
          <p:cNvPr id="26" name="Text 16"/>
          <p:cNvSpPr/>
          <p:nvPr/>
        </p:nvSpPr>
        <p:spPr>
          <a:xfrm>
            <a:off x="5223986" y="6789896"/>
            <a:ext cx="4182308" cy="317540"/>
          </a:xfrm>
          <a:prstGeom prst="rect">
            <a:avLst/>
          </a:prstGeom>
          <a:noFill/>
          <a:ln/>
        </p:spPr>
        <p:txBody>
          <a:bodyPr wrap="non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Version control and code repository</a:t>
            </a:r>
            <a:endParaRPr lang="en-US" sz="1550"/>
          </a:p>
        </p:txBody>
      </p:sp>
      <p:pic>
        <p:nvPicPr>
          <p:cNvPr id="27" name="Image 8" descr="preencoded.png"/>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654302" y="5715833"/>
            <a:ext cx="396835" cy="396835"/>
          </a:xfrm>
          <a:prstGeom prst="rect">
            <a:avLst/>
          </a:prstGeom>
        </p:spPr>
      </p:pic>
      <p:sp>
        <p:nvSpPr>
          <p:cNvPr id="28" name="Text 17"/>
          <p:cNvSpPr/>
          <p:nvPr/>
        </p:nvSpPr>
        <p:spPr>
          <a:xfrm>
            <a:off x="9654302" y="6360676"/>
            <a:ext cx="2480905"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config.properties</a:t>
            </a:r>
            <a:endParaRPr lang="en-US" sz="1950"/>
          </a:p>
        </p:txBody>
      </p:sp>
      <p:sp>
        <p:nvSpPr>
          <p:cNvPr id="29" name="Text 18"/>
          <p:cNvSpPr/>
          <p:nvPr/>
        </p:nvSpPr>
        <p:spPr>
          <a:xfrm>
            <a:off x="9654302" y="6789896"/>
            <a:ext cx="4182308" cy="635079"/>
          </a:xfrm>
          <a:prstGeom prst="rect">
            <a:avLst/>
          </a:prstGeom>
          <a:noFill/>
          <a:ln/>
        </p:spPr>
        <p:txBody>
          <a:bodyPr wrap="squar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Externalized credential and URL configuration</a:t>
            </a:r>
            <a:endParaRPr lang="en-US" sz="1550"/>
          </a:p>
        </p:txBody>
      </p:sp>
      <p:pic>
        <p:nvPicPr>
          <p:cNvPr id="30" name="Picture 29">
            <a:extLst>
              <a:ext uri="{FF2B5EF4-FFF2-40B4-BE49-F238E27FC236}">
                <a16:creationId xmlns:a16="http://schemas.microsoft.com/office/drawing/2014/main" id="{94123A21-2192-F206-E68A-3635B3B33AB2}"/>
              </a:ext>
            </a:extLst>
          </p:cNvPr>
          <p:cNvPicPr/>
          <p:nvPr/>
        </p:nvPicPr>
        <p:blipFill>
          <a:blip r:embed="rId12"/>
          <a:stretch>
            <a:fillRect/>
          </a:stretch>
        </p:blipFill>
        <p:spPr>
          <a:xfrm>
            <a:off x="11620080" y="7715178"/>
            <a:ext cx="3010320" cy="5144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9376" y="529828"/>
            <a:ext cx="6539151" cy="562094"/>
          </a:xfrm>
          <a:prstGeom prst="rect">
            <a:avLst/>
          </a:prstGeom>
          <a:noFill/>
          <a:ln/>
        </p:spPr>
        <p:txBody>
          <a:bodyPr wrap="none" lIns="0" tIns="0" rIns="0" bIns="0" rtlCol="0" anchor="t"/>
          <a:lstStyle/>
          <a:p>
            <a:pPr marL="0" indent="0" algn="l">
              <a:lnSpc>
                <a:spcPts val="4400"/>
              </a:lnSpc>
              <a:buNone/>
            </a:pPr>
            <a:r>
              <a:rPr lang="en-US" sz="3500" b="1">
                <a:solidFill>
                  <a:srgbClr val="FFFFFF"/>
                </a:solidFill>
                <a:latin typeface="Inter Bold" pitchFamily="34" charset="0"/>
                <a:ea typeface="Inter Bold" pitchFamily="34" charset="-122"/>
                <a:cs typeface="Inter Bold" pitchFamily="34" charset="-120"/>
              </a:rPr>
              <a:t>System Under Test: </a:t>
            </a:r>
            <a:r>
              <a:rPr lang="en-US" sz="3500" b="1" u="sng">
                <a:solidFill>
                  <a:srgbClr val="7B66FF"/>
                </a:solidFill>
                <a:latin typeface="Inter Bold" pitchFamily="34" charset="0"/>
                <a:ea typeface="Inter Bold" pitchFamily="34" charset="-122"/>
                <a:cs typeface="Inter Bold" pitchFamily="34" charset="-120"/>
                <a:hlinkClick r:id="rId3">
                  <a:extLst>
                    <a:ext uri="{A12FA001-AC4F-418D-AE19-62706E023703}">
                      <ahyp:hlinkClr xmlns:ahyp="http://schemas.microsoft.com/office/drawing/2018/hyperlinkcolor" val="tx"/>
                    </a:ext>
                  </a:extLst>
                </a:hlinkClick>
              </a:rPr>
              <a:t>GOG.com</a:t>
            </a:r>
            <a:endParaRPr lang="en-US" sz="3500"/>
          </a:p>
        </p:txBody>
      </p:sp>
      <p:sp>
        <p:nvSpPr>
          <p:cNvPr id="3" name="Text 1"/>
          <p:cNvSpPr/>
          <p:nvPr/>
        </p:nvSpPr>
        <p:spPr>
          <a:xfrm>
            <a:off x="719376" y="1417915"/>
            <a:ext cx="13191649" cy="548640"/>
          </a:xfrm>
          <a:prstGeom prst="rect">
            <a:avLst/>
          </a:prstGeom>
          <a:noFill/>
          <a:ln/>
        </p:spPr>
        <p:txBody>
          <a:bodyPr wrap="square" lIns="0" tIns="0" rIns="0" bIns="0" rtlCol="0" anchor="t"/>
          <a:lstStyle/>
          <a:p>
            <a:pPr marL="0" indent="0" algn="l">
              <a:lnSpc>
                <a:spcPts val="2150"/>
              </a:lnSpc>
              <a:buNone/>
            </a:pPr>
            <a:r>
              <a:rPr lang="en-US" sz="1400">
                <a:solidFill>
                  <a:srgbClr val="E5E0DF"/>
                </a:solidFill>
                <a:latin typeface="Inter" pitchFamily="34" charset="0"/>
                <a:ea typeface="Inter" pitchFamily="34" charset="-122"/>
                <a:cs typeface="Inter" pitchFamily="34" charset="-120"/>
              </a:rPr>
              <a:t>GOG.com is a DRM-free digital PC game store owned by CD PROJEKT. The platform features an Angular-based SPA with asynchronous XHR content loading.</a:t>
            </a:r>
            <a:endParaRPr lang="en-US" sz="1400"/>
          </a:p>
        </p:txBody>
      </p:sp>
      <p:sp>
        <p:nvSpPr>
          <p:cNvPr id="4" name="Text 2"/>
          <p:cNvSpPr/>
          <p:nvPr/>
        </p:nvSpPr>
        <p:spPr>
          <a:xfrm>
            <a:off x="719376" y="2210991"/>
            <a:ext cx="2248257" cy="280988"/>
          </a:xfrm>
          <a:prstGeom prst="rect">
            <a:avLst/>
          </a:prstGeom>
          <a:noFill/>
          <a:ln/>
        </p:spPr>
        <p:txBody>
          <a:bodyPr wrap="none" lIns="0" tIns="0" rIns="0" bIns="0" rtlCol="0" anchor="t"/>
          <a:lstStyle/>
          <a:p>
            <a:pPr marL="0" indent="0" algn="l">
              <a:lnSpc>
                <a:spcPts val="2200"/>
              </a:lnSpc>
              <a:buNone/>
            </a:pPr>
            <a:r>
              <a:rPr lang="en-US" sz="1750" b="1">
                <a:solidFill>
                  <a:srgbClr val="FFFFFF"/>
                </a:solidFill>
                <a:latin typeface="Inter Bold" pitchFamily="34" charset="0"/>
                <a:ea typeface="Inter Bold" pitchFamily="34" charset="-122"/>
                <a:cs typeface="Inter Bold" pitchFamily="34" charset="-120"/>
              </a:rPr>
              <a:t>Features Tested</a:t>
            </a:r>
            <a:endParaRPr lang="en-US" sz="1750"/>
          </a:p>
        </p:txBody>
      </p:sp>
      <p:sp>
        <p:nvSpPr>
          <p:cNvPr id="5" name="Text 3"/>
          <p:cNvSpPr/>
          <p:nvPr/>
        </p:nvSpPr>
        <p:spPr>
          <a:xfrm>
            <a:off x="719376" y="2736413"/>
            <a:ext cx="13191649" cy="1931075"/>
          </a:xfrm>
          <a:prstGeom prst="rect">
            <a:avLst/>
          </a:prstGeom>
          <a:noFill/>
          <a:ln/>
        </p:spPr>
        <p:txBody>
          <a:bodyPr wrap="square" lIns="0" tIns="0" rIns="0" bIns="0" rtlCol="0" anchor="t"/>
          <a:lstStyle/>
          <a:p>
            <a:pPr marL="342900" indent="-342900" algn="l">
              <a:lnSpc>
                <a:spcPts val="2150"/>
              </a:lnSpc>
              <a:buSzPct val="100000"/>
              <a:buChar char="•"/>
            </a:pPr>
            <a:r>
              <a:rPr lang="en-US" sz="1400">
                <a:solidFill>
                  <a:srgbClr val="E5E0DF"/>
                </a:solidFill>
                <a:latin typeface="Inter" pitchFamily="34" charset="0"/>
                <a:ea typeface="Inter" pitchFamily="34" charset="-122"/>
                <a:cs typeface="Inter" pitchFamily="34" charset="-120"/>
              </a:rPr>
              <a:t>Home page, Login, and Account Sign-up flows</a:t>
            </a:r>
            <a:endParaRPr lang="en-US" sz="1400"/>
          </a:p>
          <a:p>
            <a:pPr marL="342900" indent="-342900" algn="l">
              <a:lnSpc>
                <a:spcPts val="2150"/>
              </a:lnSpc>
              <a:buSzPct val="100000"/>
              <a:buChar char="•"/>
            </a:pPr>
            <a:r>
              <a:rPr lang="en-US" sz="1400">
                <a:solidFill>
                  <a:srgbClr val="E5E0DF"/>
                </a:solidFill>
                <a:latin typeface="Inter" pitchFamily="34" charset="0"/>
                <a:ea typeface="Inter" pitchFamily="34" charset="-122"/>
                <a:cs typeface="Inter" pitchFamily="34" charset="-120"/>
              </a:rPr>
              <a:t>Search functionality and results</a:t>
            </a:r>
            <a:endParaRPr lang="en-US" sz="1400"/>
          </a:p>
          <a:p>
            <a:pPr marL="342900" indent="-342900" algn="l">
              <a:lnSpc>
                <a:spcPts val="2150"/>
              </a:lnSpc>
              <a:buSzPct val="100000"/>
              <a:buChar char="•"/>
            </a:pPr>
            <a:r>
              <a:rPr lang="en-US" sz="1400">
                <a:solidFill>
                  <a:srgbClr val="E5E0DF"/>
                </a:solidFill>
                <a:latin typeface="Inter" pitchFamily="34" charset="0"/>
                <a:ea typeface="Inter" pitchFamily="34" charset="-122"/>
                <a:cs typeface="Inter" pitchFamily="34" charset="-120"/>
              </a:rPr>
              <a:t>Game product page (The Witcher 3)</a:t>
            </a:r>
            <a:endParaRPr lang="en-US" sz="1400"/>
          </a:p>
          <a:p>
            <a:pPr marL="342900" indent="-342900" algn="l">
              <a:lnSpc>
                <a:spcPts val="2150"/>
              </a:lnSpc>
              <a:buSzPct val="100000"/>
              <a:buChar char="•"/>
            </a:pPr>
            <a:r>
              <a:rPr lang="en-US" sz="1400">
                <a:solidFill>
                  <a:srgbClr val="E5E0DF"/>
                </a:solidFill>
                <a:latin typeface="Inter" pitchFamily="34" charset="0"/>
                <a:ea typeface="Inter" pitchFamily="34" charset="-122"/>
                <a:cs typeface="Inter" pitchFamily="34" charset="-120"/>
              </a:rPr>
              <a:t>Genre browser (RPG category)</a:t>
            </a:r>
            <a:endParaRPr lang="en-US" sz="1400"/>
          </a:p>
          <a:p>
            <a:pPr marL="342900" indent="-342900" algn="l">
              <a:lnSpc>
                <a:spcPts val="2150"/>
              </a:lnSpc>
              <a:buSzPct val="100000"/>
              <a:buChar char="•"/>
            </a:pPr>
            <a:r>
              <a:rPr lang="en-US" sz="1400">
                <a:solidFill>
                  <a:srgbClr val="E5E0DF"/>
                </a:solidFill>
                <a:latin typeface="Inter" pitchFamily="34" charset="0"/>
                <a:ea typeface="Inter" pitchFamily="34" charset="-122"/>
                <a:cs typeface="Inter" pitchFamily="34" charset="-120"/>
              </a:rPr>
              <a:t>Cart and Checkout process</a:t>
            </a:r>
            <a:endParaRPr lang="en-US" sz="1400"/>
          </a:p>
          <a:p>
            <a:pPr marL="342900" indent="-342900" algn="l">
              <a:lnSpc>
                <a:spcPts val="2150"/>
              </a:lnSpc>
              <a:buSzPct val="100000"/>
              <a:buChar char="•"/>
            </a:pPr>
            <a:r>
              <a:rPr lang="en-US" sz="1400">
                <a:solidFill>
                  <a:srgbClr val="E5E0DF"/>
                </a:solidFill>
                <a:latin typeface="Inter" pitchFamily="34" charset="0"/>
                <a:ea typeface="Inter" pitchFamily="34" charset="-122"/>
                <a:cs typeface="Inter" pitchFamily="34" charset="-120"/>
              </a:rPr>
              <a:t>Header navigation persistence</a:t>
            </a:r>
            <a:endParaRPr lang="en-US" sz="1400"/>
          </a:p>
        </p:txBody>
      </p:sp>
      <p:sp>
        <p:nvSpPr>
          <p:cNvPr id="6" name="Text 4"/>
          <p:cNvSpPr/>
          <p:nvPr/>
        </p:nvSpPr>
        <p:spPr>
          <a:xfrm>
            <a:off x="719376" y="4911923"/>
            <a:ext cx="4069913" cy="280988"/>
          </a:xfrm>
          <a:prstGeom prst="rect">
            <a:avLst/>
          </a:prstGeom>
          <a:noFill/>
          <a:ln/>
        </p:spPr>
        <p:txBody>
          <a:bodyPr wrap="none" lIns="0" tIns="0" rIns="0" bIns="0" rtlCol="0" anchor="t"/>
          <a:lstStyle/>
          <a:p>
            <a:pPr marL="0" indent="0" algn="l">
              <a:lnSpc>
                <a:spcPts val="2200"/>
              </a:lnSpc>
              <a:buNone/>
            </a:pPr>
            <a:r>
              <a:rPr lang="en-US" sz="1750" b="1">
                <a:solidFill>
                  <a:srgbClr val="FFFFFF"/>
                </a:solidFill>
                <a:latin typeface="Inter Bold" pitchFamily="34" charset="0"/>
                <a:ea typeface="Inter Bold" pitchFamily="34" charset="-122"/>
                <a:cs typeface="Inter Bold" pitchFamily="34" charset="-120"/>
              </a:rPr>
              <a:t>Automation Constraints Encountered</a:t>
            </a:r>
            <a:endParaRPr lang="en-US" sz="1750"/>
          </a:p>
        </p:txBody>
      </p:sp>
      <p:sp>
        <p:nvSpPr>
          <p:cNvPr id="7" name="Text 5"/>
          <p:cNvSpPr/>
          <p:nvPr/>
        </p:nvSpPr>
        <p:spPr>
          <a:xfrm>
            <a:off x="662702" y="5437346"/>
            <a:ext cx="13191649" cy="2262426"/>
          </a:xfrm>
          <a:prstGeom prst="rect">
            <a:avLst/>
          </a:prstGeom>
          <a:noFill/>
          <a:ln/>
        </p:spPr>
        <p:txBody>
          <a:bodyPr wrap="square" lIns="0" tIns="0" rIns="0" bIns="0" rtlCol="0" anchor="t"/>
          <a:lstStyle/>
          <a:p>
            <a:pPr marL="342900" indent="-342900" algn="l">
              <a:lnSpc>
                <a:spcPts val="2150"/>
              </a:lnSpc>
              <a:buSzPct val="100000"/>
              <a:buChar char="•"/>
            </a:pPr>
            <a:r>
              <a:rPr lang="en-US" sz="1400">
                <a:solidFill>
                  <a:srgbClr val="E5E0DF"/>
                </a:solidFill>
                <a:latin typeface="Inter" pitchFamily="34" charset="0"/>
                <a:ea typeface="Inter" pitchFamily="34" charset="-122"/>
                <a:cs typeface="Inter" pitchFamily="34" charset="-120"/>
              </a:rPr>
              <a:t>GDPR cookie consent banner (handled by TestUtils.dismissCookieConsent)</a:t>
            </a:r>
            <a:endParaRPr lang="en-US" sz="1400"/>
          </a:p>
          <a:p>
            <a:pPr marL="342900" indent="-342900" algn="l">
              <a:lnSpc>
                <a:spcPts val="2150"/>
              </a:lnSpc>
              <a:buSzPct val="100000"/>
              <a:buChar char="•"/>
            </a:pPr>
            <a:r>
              <a:rPr lang="en-US" sz="1400">
                <a:solidFill>
                  <a:srgbClr val="E5E0DF"/>
                </a:solidFill>
                <a:latin typeface="Inter" pitchFamily="34" charset="0"/>
                <a:ea typeface="Inter" pitchFamily="34" charset="-122"/>
                <a:cs typeface="Inter" pitchFamily="34" charset="-120"/>
              </a:rPr>
              <a:t>Login gate button must be clicked before form fields appear</a:t>
            </a:r>
            <a:endParaRPr lang="en-US" sz="1400"/>
          </a:p>
          <a:p>
            <a:pPr marL="342900" indent="-342900" algn="l">
              <a:lnSpc>
                <a:spcPts val="2150"/>
              </a:lnSpc>
              <a:buSzPct val="100000"/>
              <a:buChar char="•"/>
            </a:pPr>
            <a:r>
              <a:rPr lang="en-US" sz="1400">
                <a:solidFill>
                  <a:srgbClr val="E5E0DF"/>
                </a:solidFill>
                <a:latin typeface="Inter" pitchFamily="34" charset="0"/>
                <a:ea typeface="Inter" pitchFamily="34" charset="-122"/>
                <a:cs typeface="Inter" pitchFamily="34" charset="-120"/>
              </a:rPr>
              <a:t>CAPTCHA/bot protection on login after repeated failures</a:t>
            </a:r>
            <a:endParaRPr lang="en-US" sz="1400"/>
          </a:p>
          <a:p>
            <a:pPr marL="342900" indent="-342900" algn="l">
              <a:lnSpc>
                <a:spcPts val="2150"/>
              </a:lnSpc>
              <a:buSzPct val="100000"/>
              <a:buChar char="•"/>
            </a:pPr>
            <a:r>
              <a:rPr lang="en-US" sz="1400">
                <a:solidFill>
                  <a:srgbClr val="E5E0DF"/>
                </a:solidFill>
                <a:latin typeface="Inter" pitchFamily="34" charset="0"/>
                <a:ea typeface="Inter" pitchFamily="34" charset="-122"/>
                <a:cs typeface="Inter" pitchFamily="34" charset="-120"/>
              </a:rPr>
              <a:t>Age-gate overlay on game detail pages</a:t>
            </a:r>
            <a:endParaRPr lang="en-US" sz="1400"/>
          </a:p>
          <a:p>
            <a:pPr marL="342900" indent="-342900" algn="l">
              <a:lnSpc>
                <a:spcPts val="2150"/>
              </a:lnSpc>
              <a:buSzPct val="100000"/>
              <a:buChar char="•"/>
            </a:pPr>
            <a:r>
              <a:rPr lang="en-US" sz="1400">
                <a:solidFill>
                  <a:srgbClr val="E5E0DF"/>
                </a:solidFill>
                <a:latin typeface="Inter" pitchFamily="34" charset="0"/>
                <a:ea typeface="Inter" pitchFamily="34" charset="-122"/>
                <a:cs typeface="Inter" pitchFamily="34" charset="-120"/>
              </a:rPr>
              <a:t>Lazy-loaded product tiles requiring timed pauses</a:t>
            </a:r>
            <a:endParaRPr lang="en-US" sz="1400"/>
          </a:p>
          <a:p>
            <a:pPr marL="342900" indent="-342900" algn="l">
              <a:lnSpc>
                <a:spcPts val="2150"/>
              </a:lnSpc>
              <a:buSzPct val="100000"/>
              <a:buChar char="•"/>
            </a:pPr>
            <a:r>
              <a:rPr lang="en-US" sz="1400">
                <a:solidFill>
                  <a:srgbClr val="E5E0DF"/>
                </a:solidFill>
                <a:latin typeface="Inter" pitchFamily="34" charset="0"/>
                <a:ea typeface="Inter" pitchFamily="34" charset="-122"/>
                <a:cs typeface="Inter" pitchFamily="34" charset="-120"/>
              </a:rPr>
              <a:t>Price/availability changes during sales (tested for presence only)</a:t>
            </a:r>
            <a:endParaRPr lang="en-US" sz="1400"/>
          </a:p>
          <a:p>
            <a:pPr marL="342900" indent="-342900" algn="l">
              <a:lnSpc>
                <a:spcPts val="2150"/>
              </a:lnSpc>
              <a:buSzPct val="100000"/>
              <a:buChar char="•"/>
            </a:pPr>
            <a:r>
              <a:rPr lang="en-US" sz="1400">
                <a:solidFill>
                  <a:srgbClr val="E5E0DF"/>
                </a:solidFill>
                <a:latin typeface="Inter" pitchFamily="34" charset="0"/>
                <a:ea typeface="Inter" pitchFamily="34" charset="-122"/>
                <a:cs typeface="Inter" pitchFamily="34" charset="-120"/>
              </a:rPr>
              <a:t>Anti-automation detection (mitigated via Chrome flags)</a:t>
            </a:r>
            <a:endParaRPr lang="en-US" sz="1400"/>
          </a:p>
        </p:txBody>
      </p:sp>
      <p:pic>
        <p:nvPicPr>
          <p:cNvPr id="8" name="Picture 7">
            <a:extLst>
              <a:ext uri="{FF2B5EF4-FFF2-40B4-BE49-F238E27FC236}">
                <a16:creationId xmlns:a16="http://schemas.microsoft.com/office/drawing/2014/main" id="{769CC082-DB5E-7448-1187-C7C02E72CE0C}"/>
              </a:ext>
            </a:extLst>
          </p:cNvPr>
          <p:cNvPicPr/>
          <p:nvPr/>
        </p:nvPicPr>
        <p:blipFill>
          <a:blip r:embed="rId4"/>
          <a:stretch>
            <a:fillRect/>
          </a:stretch>
        </p:blipFill>
        <p:spPr>
          <a:xfrm>
            <a:off x="11620080" y="7715178"/>
            <a:ext cx="3010320" cy="51442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147882"/>
            <a:ext cx="6457831" cy="620078"/>
          </a:xfrm>
          <a:prstGeom prst="rect">
            <a:avLst/>
          </a:prstGeom>
          <a:noFill/>
          <a:ln/>
        </p:spPr>
        <p:txBody>
          <a:bodyPr wrap="none" lIns="0" tIns="0" rIns="0" bIns="0" rtlCol="0" anchor="t"/>
          <a:lstStyle/>
          <a:p>
            <a:pPr marL="0" indent="0" algn="l">
              <a:lnSpc>
                <a:spcPts val="4850"/>
              </a:lnSpc>
              <a:buNone/>
            </a:pPr>
            <a:r>
              <a:rPr lang="en-US" sz="3900" b="1">
                <a:solidFill>
                  <a:srgbClr val="FFFFFF"/>
                </a:solidFill>
                <a:latin typeface="Inter Bold" pitchFamily="34" charset="0"/>
                <a:ea typeface="Inter Bold" pitchFamily="34" charset="-122"/>
                <a:cs typeface="Inter Bold" pitchFamily="34" charset="-120"/>
              </a:rPr>
              <a:t>Test Architecture &amp; Design</a:t>
            </a:r>
            <a:endParaRPr lang="en-US" sz="3900"/>
          </a:p>
        </p:txBody>
      </p:sp>
      <p:sp>
        <p:nvSpPr>
          <p:cNvPr id="3" name="Shape 1"/>
          <p:cNvSpPr/>
          <p:nvPr/>
        </p:nvSpPr>
        <p:spPr>
          <a:xfrm>
            <a:off x="793790" y="2164794"/>
            <a:ext cx="6422231" cy="1824276"/>
          </a:xfrm>
          <a:prstGeom prst="roundRect">
            <a:avLst>
              <a:gd name="adj" fmla="val 6015"/>
            </a:avLst>
          </a:prstGeom>
          <a:solidFill>
            <a:srgbClr val="272525"/>
          </a:solidFill>
          <a:ln w="22860">
            <a:solidFill>
              <a:srgbClr val="2A1999"/>
            </a:solidFill>
            <a:prstDash val="solid"/>
          </a:ln>
        </p:spPr>
        <p:txBody>
          <a:bodyPr/>
          <a:lstStyle/>
          <a:p>
            <a:endParaRPr lang="en-US"/>
          </a:p>
        </p:txBody>
      </p:sp>
      <p:sp>
        <p:nvSpPr>
          <p:cNvPr id="4" name="Shape 2"/>
          <p:cNvSpPr/>
          <p:nvPr/>
        </p:nvSpPr>
        <p:spPr>
          <a:xfrm>
            <a:off x="770930" y="2164794"/>
            <a:ext cx="91440" cy="1824276"/>
          </a:xfrm>
          <a:prstGeom prst="roundRect">
            <a:avLst>
              <a:gd name="adj" fmla="val 91163"/>
            </a:avLst>
          </a:prstGeom>
          <a:solidFill>
            <a:srgbClr val="2B0AFF"/>
          </a:solidFill>
          <a:ln/>
        </p:spPr>
        <p:txBody>
          <a:bodyPr/>
          <a:lstStyle/>
          <a:p>
            <a:endParaRPr lang="en-US"/>
          </a:p>
        </p:txBody>
      </p:sp>
      <p:sp>
        <p:nvSpPr>
          <p:cNvPr id="5" name="Text 3"/>
          <p:cNvSpPr/>
          <p:nvPr/>
        </p:nvSpPr>
        <p:spPr>
          <a:xfrm>
            <a:off x="1083588" y="2386013"/>
            <a:ext cx="2480905"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8 Test Classes</a:t>
            </a:r>
            <a:endParaRPr lang="en-US" sz="1950"/>
          </a:p>
        </p:txBody>
      </p:sp>
      <p:sp>
        <p:nvSpPr>
          <p:cNvPr id="6" name="Text 4"/>
          <p:cNvSpPr/>
          <p:nvPr/>
        </p:nvSpPr>
        <p:spPr>
          <a:xfrm>
            <a:off x="1083588" y="2815233"/>
            <a:ext cx="5911215" cy="317540"/>
          </a:xfrm>
          <a:prstGeom prst="rect">
            <a:avLst/>
          </a:prstGeom>
          <a:noFill/>
          <a:ln/>
        </p:spPr>
        <p:txBody>
          <a:bodyPr wrap="non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Each in separate Java file under com.gog.tests package</a:t>
            </a:r>
            <a:endParaRPr lang="en-US" sz="1550"/>
          </a:p>
        </p:txBody>
      </p:sp>
      <p:sp>
        <p:nvSpPr>
          <p:cNvPr id="7" name="Shape 5"/>
          <p:cNvSpPr/>
          <p:nvPr/>
        </p:nvSpPr>
        <p:spPr>
          <a:xfrm>
            <a:off x="7414379" y="2164794"/>
            <a:ext cx="6422231" cy="1824276"/>
          </a:xfrm>
          <a:prstGeom prst="roundRect">
            <a:avLst>
              <a:gd name="adj" fmla="val 6015"/>
            </a:avLst>
          </a:prstGeom>
          <a:solidFill>
            <a:srgbClr val="272525"/>
          </a:solidFill>
          <a:ln w="22860">
            <a:solidFill>
              <a:srgbClr val="2A1999"/>
            </a:solidFill>
            <a:prstDash val="solid"/>
          </a:ln>
        </p:spPr>
        <p:txBody>
          <a:bodyPr/>
          <a:lstStyle/>
          <a:p>
            <a:endParaRPr lang="en-US"/>
          </a:p>
        </p:txBody>
      </p:sp>
      <p:sp>
        <p:nvSpPr>
          <p:cNvPr id="8" name="Shape 6"/>
          <p:cNvSpPr/>
          <p:nvPr/>
        </p:nvSpPr>
        <p:spPr>
          <a:xfrm>
            <a:off x="7391519" y="2164794"/>
            <a:ext cx="91440" cy="1824276"/>
          </a:xfrm>
          <a:prstGeom prst="roundRect">
            <a:avLst>
              <a:gd name="adj" fmla="val 91163"/>
            </a:avLst>
          </a:prstGeom>
          <a:solidFill>
            <a:srgbClr val="2B0AFF"/>
          </a:solidFill>
          <a:ln/>
        </p:spPr>
        <p:txBody>
          <a:bodyPr/>
          <a:lstStyle/>
          <a:p>
            <a:endParaRPr lang="en-US"/>
          </a:p>
        </p:txBody>
      </p:sp>
      <p:sp>
        <p:nvSpPr>
          <p:cNvPr id="9" name="Text 7"/>
          <p:cNvSpPr/>
          <p:nvPr/>
        </p:nvSpPr>
        <p:spPr>
          <a:xfrm>
            <a:off x="7704177" y="2386013"/>
            <a:ext cx="2938463"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BaseTest Abstract Class</a:t>
            </a:r>
            <a:endParaRPr lang="en-US" sz="1950"/>
          </a:p>
        </p:txBody>
      </p:sp>
      <p:sp>
        <p:nvSpPr>
          <p:cNvPr id="10" name="Text 8"/>
          <p:cNvSpPr/>
          <p:nvPr/>
        </p:nvSpPr>
        <p:spPr>
          <a:xfrm>
            <a:off x="7704177" y="2815233"/>
            <a:ext cx="5911215" cy="952619"/>
          </a:xfrm>
          <a:prstGeom prst="rect">
            <a:avLst/>
          </a:prstGeom>
          <a:noFill/>
          <a:ln/>
        </p:spPr>
        <p:txBody>
          <a:bodyPr wrap="squar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ChromeDriver setup/teardown, WebDriverWait (20s), anti-automation Chrome flags, implicit wait (10s), BASE_URL constant</a:t>
            </a:r>
            <a:endParaRPr lang="en-US" sz="1550"/>
          </a:p>
        </p:txBody>
      </p:sp>
      <p:sp>
        <p:nvSpPr>
          <p:cNvPr id="11" name="Shape 9"/>
          <p:cNvSpPr/>
          <p:nvPr/>
        </p:nvSpPr>
        <p:spPr>
          <a:xfrm>
            <a:off x="793790" y="4187428"/>
            <a:ext cx="6422231" cy="1506736"/>
          </a:xfrm>
          <a:prstGeom prst="roundRect">
            <a:avLst>
              <a:gd name="adj" fmla="val 7282"/>
            </a:avLst>
          </a:prstGeom>
          <a:solidFill>
            <a:srgbClr val="272525"/>
          </a:solidFill>
          <a:ln w="22860">
            <a:solidFill>
              <a:srgbClr val="2A1999"/>
            </a:solidFill>
            <a:prstDash val="solid"/>
          </a:ln>
        </p:spPr>
        <p:txBody>
          <a:bodyPr/>
          <a:lstStyle/>
          <a:p>
            <a:endParaRPr lang="en-US"/>
          </a:p>
        </p:txBody>
      </p:sp>
      <p:sp>
        <p:nvSpPr>
          <p:cNvPr id="12" name="Shape 10"/>
          <p:cNvSpPr/>
          <p:nvPr/>
        </p:nvSpPr>
        <p:spPr>
          <a:xfrm>
            <a:off x="770930" y="4187428"/>
            <a:ext cx="91440" cy="1506736"/>
          </a:xfrm>
          <a:prstGeom prst="roundRect">
            <a:avLst>
              <a:gd name="adj" fmla="val 91163"/>
            </a:avLst>
          </a:prstGeom>
          <a:solidFill>
            <a:srgbClr val="2B0AFF"/>
          </a:solidFill>
          <a:ln/>
        </p:spPr>
        <p:txBody>
          <a:bodyPr/>
          <a:lstStyle/>
          <a:p>
            <a:endParaRPr lang="en-US"/>
          </a:p>
        </p:txBody>
      </p:sp>
      <p:sp>
        <p:nvSpPr>
          <p:cNvPr id="13" name="Text 11"/>
          <p:cNvSpPr/>
          <p:nvPr/>
        </p:nvSpPr>
        <p:spPr>
          <a:xfrm>
            <a:off x="1083588" y="4408646"/>
            <a:ext cx="3513892"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AuthenticatedTest Extension</a:t>
            </a:r>
            <a:endParaRPr lang="en-US" sz="1950"/>
          </a:p>
        </p:txBody>
      </p:sp>
      <p:sp>
        <p:nvSpPr>
          <p:cNvPr id="14" name="Text 12"/>
          <p:cNvSpPr/>
          <p:nvPr/>
        </p:nvSpPr>
        <p:spPr>
          <a:xfrm>
            <a:off x="1083588" y="4837867"/>
            <a:ext cx="5911215" cy="635079"/>
          </a:xfrm>
          <a:prstGeom prst="rect">
            <a:avLst/>
          </a:prstGeom>
          <a:noFill/>
          <a:ln/>
        </p:spPr>
        <p:txBody>
          <a:bodyPr wrap="squar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Extends BaseTest with automatic pre-test login for authenticated test classes</a:t>
            </a:r>
            <a:endParaRPr lang="en-US" sz="1550"/>
          </a:p>
        </p:txBody>
      </p:sp>
      <p:sp>
        <p:nvSpPr>
          <p:cNvPr id="15" name="Shape 13"/>
          <p:cNvSpPr/>
          <p:nvPr/>
        </p:nvSpPr>
        <p:spPr>
          <a:xfrm>
            <a:off x="7414379" y="4187428"/>
            <a:ext cx="6422231" cy="1506736"/>
          </a:xfrm>
          <a:prstGeom prst="roundRect">
            <a:avLst>
              <a:gd name="adj" fmla="val 7282"/>
            </a:avLst>
          </a:prstGeom>
          <a:solidFill>
            <a:srgbClr val="272525"/>
          </a:solidFill>
          <a:ln w="22860">
            <a:solidFill>
              <a:srgbClr val="2A1999"/>
            </a:solidFill>
            <a:prstDash val="solid"/>
          </a:ln>
        </p:spPr>
        <p:txBody>
          <a:bodyPr/>
          <a:lstStyle/>
          <a:p>
            <a:endParaRPr lang="en-US"/>
          </a:p>
        </p:txBody>
      </p:sp>
      <p:sp>
        <p:nvSpPr>
          <p:cNvPr id="16" name="Shape 14"/>
          <p:cNvSpPr/>
          <p:nvPr/>
        </p:nvSpPr>
        <p:spPr>
          <a:xfrm>
            <a:off x="7391519" y="4187428"/>
            <a:ext cx="91440" cy="1506736"/>
          </a:xfrm>
          <a:prstGeom prst="roundRect">
            <a:avLst>
              <a:gd name="adj" fmla="val 91163"/>
            </a:avLst>
          </a:prstGeom>
          <a:solidFill>
            <a:srgbClr val="2B0AFF"/>
          </a:solidFill>
          <a:ln/>
        </p:spPr>
        <p:txBody>
          <a:bodyPr/>
          <a:lstStyle/>
          <a:p>
            <a:endParaRPr lang="en-US"/>
          </a:p>
        </p:txBody>
      </p:sp>
      <p:sp>
        <p:nvSpPr>
          <p:cNvPr id="17" name="Text 15"/>
          <p:cNvSpPr/>
          <p:nvPr/>
        </p:nvSpPr>
        <p:spPr>
          <a:xfrm>
            <a:off x="7704177" y="4408646"/>
            <a:ext cx="2990850"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TestUtils Shared Helpers</a:t>
            </a:r>
            <a:endParaRPr lang="en-US" sz="1950"/>
          </a:p>
        </p:txBody>
      </p:sp>
      <p:sp>
        <p:nvSpPr>
          <p:cNvPr id="18" name="Text 16"/>
          <p:cNvSpPr/>
          <p:nvPr/>
        </p:nvSpPr>
        <p:spPr>
          <a:xfrm>
            <a:off x="7704177" y="4837867"/>
            <a:ext cx="5911215" cy="635079"/>
          </a:xfrm>
          <a:prstGeom prst="rect">
            <a:avLst/>
          </a:prstGeom>
          <a:noFill/>
          <a:ln/>
        </p:spPr>
        <p:txBody>
          <a:bodyPr wrap="squar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Reusable utilities avoiding code duplication across all 8 classes</a:t>
            </a:r>
            <a:endParaRPr lang="en-US" sz="1550"/>
          </a:p>
        </p:txBody>
      </p:sp>
      <p:sp>
        <p:nvSpPr>
          <p:cNvPr id="19" name="Shape 17"/>
          <p:cNvSpPr/>
          <p:nvPr/>
        </p:nvSpPr>
        <p:spPr>
          <a:xfrm>
            <a:off x="793790" y="5892522"/>
            <a:ext cx="6422231" cy="1189196"/>
          </a:xfrm>
          <a:prstGeom prst="roundRect">
            <a:avLst>
              <a:gd name="adj" fmla="val 9227"/>
            </a:avLst>
          </a:prstGeom>
          <a:solidFill>
            <a:srgbClr val="272525"/>
          </a:solidFill>
          <a:ln w="22860">
            <a:solidFill>
              <a:srgbClr val="2A1999"/>
            </a:solidFill>
            <a:prstDash val="solid"/>
          </a:ln>
        </p:spPr>
        <p:txBody>
          <a:bodyPr/>
          <a:lstStyle/>
          <a:p>
            <a:endParaRPr lang="en-US"/>
          </a:p>
        </p:txBody>
      </p:sp>
      <p:sp>
        <p:nvSpPr>
          <p:cNvPr id="20" name="Shape 18"/>
          <p:cNvSpPr/>
          <p:nvPr/>
        </p:nvSpPr>
        <p:spPr>
          <a:xfrm>
            <a:off x="770930" y="5892522"/>
            <a:ext cx="91440" cy="1189196"/>
          </a:xfrm>
          <a:prstGeom prst="roundRect">
            <a:avLst>
              <a:gd name="adj" fmla="val 91163"/>
            </a:avLst>
          </a:prstGeom>
          <a:solidFill>
            <a:srgbClr val="2B0AFF"/>
          </a:solidFill>
          <a:ln/>
        </p:spPr>
        <p:txBody>
          <a:bodyPr/>
          <a:lstStyle/>
          <a:p>
            <a:endParaRPr lang="en-US"/>
          </a:p>
        </p:txBody>
      </p:sp>
      <p:sp>
        <p:nvSpPr>
          <p:cNvPr id="21" name="Text 19"/>
          <p:cNvSpPr/>
          <p:nvPr/>
        </p:nvSpPr>
        <p:spPr>
          <a:xfrm>
            <a:off x="1083588" y="6113740"/>
            <a:ext cx="2553176"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Sequential Execution</a:t>
            </a:r>
            <a:endParaRPr lang="en-US" sz="1950"/>
          </a:p>
        </p:txBody>
      </p:sp>
      <p:sp>
        <p:nvSpPr>
          <p:cNvPr id="22" name="Text 20"/>
          <p:cNvSpPr/>
          <p:nvPr/>
        </p:nvSpPr>
        <p:spPr>
          <a:xfrm>
            <a:off x="1083588" y="6542961"/>
            <a:ext cx="5911215" cy="317540"/>
          </a:xfrm>
          <a:prstGeom prst="rect">
            <a:avLst/>
          </a:prstGeom>
          <a:noFill/>
          <a:ln/>
        </p:spPr>
        <p:txBody>
          <a:bodyPr wrap="non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parallel="none" to avoid session/cookie conflicts</a:t>
            </a:r>
            <a:endParaRPr lang="en-US" sz="1550"/>
          </a:p>
        </p:txBody>
      </p:sp>
      <p:sp>
        <p:nvSpPr>
          <p:cNvPr id="23" name="Shape 21"/>
          <p:cNvSpPr/>
          <p:nvPr/>
        </p:nvSpPr>
        <p:spPr>
          <a:xfrm>
            <a:off x="7414379" y="5892522"/>
            <a:ext cx="6422231" cy="1189196"/>
          </a:xfrm>
          <a:prstGeom prst="roundRect">
            <a:avLst>
              <a:gd name="adj" fmla="val 9227"/>
            </a:avLst>
          </a:prstGeom>
          <a:solidFill>
            <a:srgbClr val="272525"/>
          </a:solidFill>
          <a:ln w="22860">
            <a:solidFill>
              <a:srgbClr val="2A1999"/>
            </a:solidFill>
            <a:prstDash val="solid"/>
          </a:ln>
        </p:spPr>
        <p:txBody>
          <a:bodyPr/>
          <a:lstStyle/>
          <a:p>
            <a:endParaRPr lang="en-US"/>
          </a:p>
        </p:txBody>
      </p:sp>
      <p:sp>
        <p:nvSpPr>
          <p:cNvPr id="24" name="Shape 22"/>
          <p:cNvSpPr/>
          <p:nvPr/>
        </p:nvSpPr>
        <p:spPr>
          <a:xfrm>
            <a:off x="7391519" y="5892522"/>
            <a:ext cx="91440" cy="1189196"/>
          </a:xfrm>
          <a:prstGeom prst="roundRect">
            <a:avLst>
              <a:gd name="adj" fmla="val 91163"/>
            </a:avLst>
          </a:prstGeom>
          <a:solidFill>
            <a:srgbClr val="2B0AFF"/>
          </a:solidFill>
          <a:ln/>
        </p:spPr>
        <p:txBody>
          <a:bodyPr/>
          <a:lstStyle/>
          <a:p>
            <a:endParaRPr lang="en-US"/>
          </a:p>
        </p:txBody>
      </p:sp>
      <p:sp>
        <p:nvSpPr>
          <p:cNvPr id="25" name="Text 23"/>
          <p:cNvSpPr/>
          <p:nvPr/>
        </p:nvSpPr>
        <p:spPr>
          <a:xfrm>
            <a:off x="7704177" y="6113740"/>
            <a:ext cx="2480905"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53 Test Methods</a:t>
            </a:r>
            <a:endParaRPr lang="en-US" sz="1950"/>
          </a:p>
        </p:txBody>
      </p:sp>
      <p:sp>
        <p:nvSpPr>
          <p:cNvPr id="26" name="Text 24"/>
          <p:cNvSpPr/>
          <p:nvPr/>
        </p:nvSpPr>
        <p:spPr>
          <a:xfrm>
            <a:off x="7704177" y="6542961"/>
            <a:ext cx="5911215" cy="317540"/>
          </a:xfrm>
          <a:prstGeom prst="rect">
            <a:avLst/>
          </a:prstGeom>
          <a:noFill/>
          <a:ln/>
        </p:spPr>
        <p:txBody>
          <a:bodyPr wrap="non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Total across all test classes</a:t>
            </a:r>
            <a:endParaRPr lang="en-US" sz="1550"/>
          </a:p>
        </p:txBody>
      </p:sp>
      <p:pic>
        <p:nvPicPr>
          <p:cNvPr id="28" name="Picture 27">
            <a:extLst>
              <a:ext uri="{FF2B5EF4-FFF2-40B4-BE49-F238E27FC236}">
                <a16:creationId xmlns:a16="http://schemas.microsoft.com/office/drawing/2014/main" id="{C5EB001D-19EB-60E0-9084-1C7339D931E5}"/>
              </a:ext>
            </a:extLst>
          </p:cNvPr>
          <p:cNvPicPr>
            <a:picLocks noGrp="1" noRot="1" noChangeAspect="1" noMove="1" noResize="1" noEditPoints="1" noAdjustHandles="1" noChangeArrowheads="1" noChangeShapeType="1" noCrop="1"/>
          </p:cNvPicPr>
          <p:nvPr/>
        </p:nvPicPr>
        <p:blipFill>
          <a:blip r:embed="rId3"/>
          <a:stretch>
            <a:fillRect/>
          </a:stretch>
        </p:blipFill>
        <p:spPr>
          <a:xfrm>
            <a:off x="11620080" y="7715178"/>
            <a:ext cx="3010320" cy="5144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49">
            <a:extLst>
              <a:ext uri="{FF2B5EF4-FFF2-40B4-BE49-F238E27FC236}">
                <a16:creationId xmlns:a16="http://schemas.microsoft.com/office/drawing/2014/main" id="{A3C3BF63-CB71-5F70-65F7-8222ECCE8FBD}"/>
              </a:ext>
            </a:extLst>
          </p:cNvPr>
          <p:cNvPicPr/>
          <p:nvPr/>
        </p:nvPicPr>
        <p:blipFill>
          <a:blip r:embed="rId2"/>
          <a:stretch>
            <a:fillRect/>
          </a:stretch>
        </p:blipFill>
        <p:spPr>
          <a:xfrm>
            <a:off x="11620080" y="7715178"/>
            <a:ext cx="3010320" cy="514422"/>
          </a:xfrm>
          <a:prstGeom prst="rect">
            <a:avLst/>
          </a:prstGeom>
        </p:spPr>
      </p:pic>
      <p:sp>
        <p:nvSpPr>
          <p:cNvPr id="51" name="Text 0">
            <a:extLst>
              <a:ext uri="{FF2B5EF4-FFF2-40B4-BE49-F238E27FC236}">
                <a16:creationId xmlns:a16="http://schemas.microsoft.com/office/drawing/2014/main" id="{C0C462F8-1139-5939-259E-BE6F1C6A9A3C}"/>
              </a:ext>
            </a:extLst>
          </p:cNvPr>
          <p:cNvSpPr/>
          <p:nvPr/>
        </p:nvSpPr>
        <p:spPr>
          <a:xfrm>
            <a:off x="3402449" y="380940"/>
            <a:ext cx="5127069"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b="1">
                <a:solidFill>
                  <a:srgbClr val="FFFFFF"/>
                </a:solidFill>
                <a:latin typeface="Inter Bold" pitchFamily="34" charset="0"/>
                <a:ea typeface="Inter Bold" pitchFamily="34" charset="-122"/>
                <a:cs typeface="Inter Bold" pitchFamily="34" charset="-120"/>
              </a:rPr>
              <a:t>Test Coverage: 8 Functional Modules</a:t>
            </a:r>
            <a:endParaRPr lang="en-US" sz="2200"/>
          </a:p>
        </p:txBody>
      </p:sp>
      <p:sp>
        <p:nvSpPr>
          <p:cNvPr id="52" name="Shape 1">
            <a:extLst>
              <a:ext uri="{FF2B5EF4-FFF2-40B4-BE49-F238E27FC236}">
                <a16:creationId xmlns:a16="http://schemas.microsoft.com/office/drawing/2014/main" id="{3F06E28D-6442-3598-1074-A28A6A0C53E7}"/>
              </a:ext>
            </a:extLst>
          </p:cNvPr>
          <p:cNvSpPr/>
          <p:nvPr/>
        </p:nvSpPr>
        <p:spPr>
          <a:xfrm>
            <a:off x="3402449" y="848617"/>
            <a:ext cx="7825502" cy="774383"/>
          </a:xfrm>
          <a:prstGeom prst="roundRect">
            <a:avLst>
              <a:gd name="adj" fmla="val 6151"/>
            </a:avLst>
          </a:prstGeom>
          <a:solidFill>
            <a:srgbClr val="272525"/>
          </a:solidFill>
          <a:ln w="15240">
            <a:solidFill>
              <a:srgbClr val="2A1999"/>
            </a:solidFill>
            <a:prstDash val="solid"/>
          </a:ln>
        </p:spPr>
        <p:txBody>
          <a:bodyPr/>
          <a:lstStyle/>
          <a:p>
            <a:endParaRPr lang="en-US"/>
          </a:p>
        </p:txBody>
      </p:sp>
      <p:sp>
        <p:nvSpPr>
          <p:cNvPr id="53" name="Shape 2">
            <a:extLst>
              <a:ext uri="{FF2B5EF4-FFF2-40B4-BE49-F238E27FC236}">
                <a16:creationId xmlns:a16="http://schemas.microsoft.com/office/drawing/2014/main" id="{EE766146-6638-B503-DA2A-CF6D3DC75D5C}"/>
              </a:ext>
            </a:extLst>
          </p:cNvPr>
          <p:cNvSpPr/>
          <p:nvPr/>
        </p:nvSpPr>
        <p:spPr>
          <a:xfrm>
            <a:off x="3417689" y="863857"/>
            <a:ext cx="453628" cy="743903"/>
          </a:xfrm>
          <a:prstGeom prst="roundRect">
            <a:avLst>
              <a:gd name="adj" fmla="val 6469"/>
            </a:avLst>
          </a:prstGeom>
          <a:solidFill>
            <a:srgbClr val="110080"/>
          </a:solidFill>
          <a:ln/>
        </p:spPr>
        <p:txBody>
          <a:bodyPr/>
          <a:lstStyle/>
          <a:p>
            <a:endParaRPr lang="en-US"/>
          </a:p>
        </p:txBody>
      </p:sp>
      <p:sp>
        <p:nvSpPr>
          <p:cNvPr id="54" name="Text 3">
            <a:extLst>
              <a:ext uri="{FF2B5EF4-FFF2-40B4-BE49-F238E27FC236}">
                <a16:creationId xmlns:a16="http://schemas.microsoft.com/office/drawing/2014/main" id="{BD1D917D-344A-B575-B256-3A948727B9B3}"/>
              </a:ext>
            </a:extLst>
          </p:cNvPr>
          <p:cNvSpPr/>
          <p:nvPr/>
        </p:nvSpPr>
        <p:spPr>
          <a:xfrm>
            <a:off x="3555683" y="1129486"/>
            <a:ext cx="170021" cy="21264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1300" b="1">
                <a:solidFill>
                  <a:srgbClr val="E5E0DF"/>
                </a:solidFill>
                <a:latin typeface="Inter Bold" pitchFamily="34" charset="0"/>
                <a:ea typeface="Inter Bold" pitchFamily="34" charset="-122"/>
                <a:cs typeface="Inter Bold" pitchFamily="34" charset="-120"/>
              </a:rPr>
              <a:t>1</a:t>
            </a:r>
            <a:endParaRPr lang="en-US" sz="1300"/>
          </a:p>
        </p:txBody>
      </p:sp>
      <p:sp>
        <p:nvSpPr>
          <p:cNvPr id="55" name="Text 4">
            <a:extLst>
              <a:ext uri="{FF2B5EF4-FFF2-40B4-BE49-F238E27FC236}">
                <a16:creationId xmlns:a16="http://schemas.microsoft.com/office/drawing/2014/main" id="{3083BE6D-9F7E-F998-4426-1910B8A58069}"/>
              </a:ext>
            </a:extLst>
          </p:cNvPr>
          <p:cNvSpPr/>
          <p:nvPr/>
        </p:nvSpPr>
        <p:spPr>
          <a:xfrm>
            <a:off x="3927991" y="977205"/>
            <a:ext cx="2019895" cy="177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en-US" sz="1100" b="1">
                <a:solidFill>
                  <a:srgbClr val="E5E0DF"/>
                </a:solidFill>
                <a:latin typeface="Inter Bold" pitchFamily="34" charset="0"/>
                <a:ea typeface="Inter Bold" pitchFamily="34" charset="-122"/>
                <a:cs typeface="Inter Bold" pitchFamily="34" charset="-120"/>
              </a:rPr>
              <a:t>Module 1 — Home Page Tests</a:t>
            </a:r>
            <a:endParaRPr lang="en-US" sz="1100"/>
          </a:p>
        </p:txBody>
      </p:sp>
      <p:sp>
        <p:nvSpPr>
          <p:cNvPr id="56" name="Text 5">
            <a:extLst>
              <a:ext uri="{FF2B5EF4-FFF2-40B4-BE49-F238E27FC236}">
                <a16:creationId xmlns:a16="http://schemas.microsoft.com/office/drawing/2014/main" id="{0C0A31D1-B416-2D21-CAD0-43F7BFEF470B}"/>
              </a:ext>
            </a:extLst>
          </p:cNvPr>
          <p:cNvSpPr/>
          <p:nvPr/>
        </p:nvSpPr>
        <p:spPr>
          <a:xfrm>
            <a:off x="3927991" y="1188303"/>
            <a:ext cx="7171373" cy="1360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050"/>
              </a:lnSpc>
              <a:buNone/>
            </a:pPr>
            <a:r>
              <a:rPr lang="en-US" sz="850">
                <a:solidFill>
                  <a:srgbClr val="E5E0DF"/>
                </a:solidFill>
                <a:latin typeface="Inter" pitchFamily="34" charset="0"/>
                <a:ea typeface="Inter" pitchFamily="34" charset="-122"/>
                <a:cs typeface="Inter" pitchFamily="34" charset="-120"/>
              </a:rPr>
              <a:t>(9 tests)</a:t>
            </a:r>
            <a:endParaRPr lang="en-US" sz="850"/>
          </a:p>
        </p:txBody>
      </p:sp>
      <p:sp>
        <p:nvSpPr>
          <p:cNvPr id="57" name="Text 6">
            <a:extLst>
              <a:ext uri="{FF2B5EF4-FFF2-40B4-BE49-F238E27FC236}">
                <a16:creationId xmlns:a16="http://schemas.microsoft.com/office/drawing/2014/main" id="{5B13AAF8-8056-6857-C78D-BDC6842B5393}"/>
              </a:ext>
            </a:extLst>
          </p:cNvPr>
          <p:cNvSpPr/>
          <p:nvPr/>
        </p:nvSpPr>
        <p:spPr>
          <a:xfrm>
            <a:off x="3927991" y="1358324"/>
            <a:ext cx="7171373" cy="1360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Page title, header, logo, game tiles, sign in, footer, HTTPS, screenshot, cookies, viewport</a:t>
            </a:r>
            <a:endParaRPr lang="en-US" sz="850"/>
          </a:p>
        </p:txBody>
      </p:sp>
      <p:sp>
        <p:nvSpPr>
          <p:cNvPr id="58" name="Shape 7">
            <a:extLst>
              <a:ext uri="{FF2B5EF4-FFF2-40B4-BE49-F238E27FC236}">
                <a16:creationId xmlns:a16="http://schemas.microsoft.com/office/drawing/2014/main" id="{23F1D014-5249-331B-C68D-536507A1B22B}"/>
              </a:ext>
            </a:extLst>
          </p:cNvPr>
          <p:cNvSpPr/>
          <p:nvPr/>
        </p:nvSpPr>
        <p:spPr>
          <a:xfrm>
            <a:off x="3402449" y="1679674"/>
            <a:ext cx="7825502" cy="910471"/>
          </a:xfrm>
          <a:prstGeom prst="roundRect">
            <a:avLst>
              <a:gd name="adj" fmla="val 5232"/>
            </a:avLst>
          </a:prstGeom>
          <a:solidFill>
            <a:srgbClr val="272525"/>
          </a:solidFill>
          <a:ln w="15240">
            <a:solidFill>
              <a:srgbClr val="2A1999"/>
            </a:solidFill>
            <a:prstDash val="solid"/>
          </a:ln>
        </p:spPr>
        <p:txBody>
          <a:bodyPr/>
          <a:lstStyle/>
          <a:p>
            <a:endParaRPr lang="en-US"/>
          </a:p>
        </p:txBody>
      </p:sp>
      <p:sp>
        <p:nvSpPr>
          <p:cNvPr id="59" name="Shape 8">
            <a:extLst>
              <a:ext uri="{FF2B5EF4-FFF2-40B4-BE49-F238E27FC236}">
                <a16:creationId xmlns:a16="http://schemas.microsoft.com/office/drawing/2014/main" id="{ABB8C87F-7D92-F71F-85A8-26E05EC32B1E}"/>
              </a:ext>
            </a:extLst>
          </p:cNvPr>
          <p:cNvSpPr/>
          <p:nvPr/>
        </p:nvSpPr>
        <p:spPr>
          <a:xfrm>
            <a:off x="3417689" y="1694914"/>
            <a:ext cx="453628" cy="879991"/>
          </a:xfrm>
          <a:prstGeom prst="roundRect">
            <a:avLst>
              <a:gd name="adj" fmla="val 6469"/>
            </a:avLst>
          </a:prstGeom>
          <a:solidFill>
            <a:srgbClr val="110080"/>
          </a:solidFill>
          <a:ln/>
        </p:spPr>
        <p:txBody>
          <a:bodyPr/>
          <a:lstStyle/>
          <a:p>
            <a:endParaRPr lang="en-US"/>
          </a:p>
        </p:txBody>
      </p:sp>
      <p:sp>
        <p:nvSpPr>
          <p:cNvPr id="60" name="Text 9">
            <a:extLst>
              <a:ext uri="{FF2B5EF4-FFF2-40B4-BE49-F238E27FC236}">
                <a16:creationId xmlns:a16="http://schemas.microsoft.com/office/drawing/2014/main" id="{023A522F-B093-34B9-893F-4B1AF95CD723}"/>
              </a:ext>
            </a:extLst>
          </p:cNvPr>
          <p:cNvSpPr/>
          <p:nvPr/>
        </p:nvSpPr>
        <p:spPr>
          <a:xfrm>
            <a:off x="3555683" y="2028527"/>
            <a:ext cx="170021" cy="21264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1300" b="1">
                <a:solidFill>
                  <a:srgbClr val="E5E0DF"/>
                </a:solidFill>
                <a:latin typeface="Inter Bold" pitchFamily="34" charset="0"/>
                <a:ea typeface="Inter Bold" pitchFamily="34" charset="-122"/>
                <a:cs typeface="Inter Bold" pitchFamily="34" charset="-120"/>
              </a:rPr>
              <a:t>2</a:t>
            </a:r>
            <a:endParaRPr lang="en-US" sz="1300"/>
          </a:p>
        </p:txBody>
      </p:sp>
      <p:sp>
        <p:nvSpPr>
          <p:cNvPr id="61" name="Text 10">
            <a:extLst>
              <a:ext uri="{FF2B5EF4-FFF2-40B4-BE49-F238E27FC236}">
                <a16:creationId xmlns:a16="http://schemas.microsoft.com/office/drawing/2014/main" id="{DB4F8901-22D1-690E-2B1A-C51309534D0E}"/>
              </a:ext>
            </a:extLst>
          </p:cNvPr>
          <p:cNvSpPr/>
          <p:nvPr/>
        </p:nvSpPr>
        <p:spPr>
          <a:xfrm>
            <a:off x="3927991" y="1808261"/>
            <a:ext cx="2024777" cy="177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en-US" sz="1100" b="1">
                <a:solidFill>
                  <a:srgbClr val="E5E0DF"/>
                </a:solidFill>
                <a:latin typeface="Inter Bold" pitchFamily="34" charset="0"/>
                <a:ea typeface="Inter Bold" pitchFamily="34" charset="-122"/>
                <a:cs typeface="Inter Bold" pitchFamily="34" charset="-120"/>
              </a:rPr>
              <a:t>Module 2 — Login Page Tests</a:t>
            </a:r>
            <a:endParaRPr lang="en-US" sz="1100"/>
          </a:p>
        </p:txBody>
      </p:sp>
      <p:sp>
        <p:nvSpPr>
          <p:cNvPr id="62" name="Text 11">
            <a:extLst>
              <a:ext uri="{FF2B5EF4-FFF2-40B4-BE49-F238E27FC236}">
                <a16:creationId xmlns:a16="http://schemas.microsoft.com/office/drawing/2014/main" id="{A62A80EA-D453-92B3-477E-724497F05749}"/>
              </a:ext>
            </a:extLst>
          </p:cNvPr>
          <p:cNvSpPr/>
          <p:nvPr/>
        </p:nvSpPr>
        <p:spPr>
          <a:xfrm>
            <a:off x="3927991" y="2019359"/>
            <a:ext cx="7171373" cy="1360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050"/>
              </a:lnSpc>
              <a:buNone/>
            </a:pPr>
            <a:r>
              <a:rPr lang="en-US" sz="850">
                <a:solidFill>
                  <a:srgbClr val="E5E0DF"/>
                </a:solidFill>
                <a:latin typeface="Inter" pitchFamily="34" charset="0"/>
                <a:ea typeface="Inter" pitchFamily="34" charset="-122"/>
                <a:cs typeface="Inter" pitchFamily="34" charset="-120"/>
              </a:rPr>
              <a:t>(9 tests)</a:t>
            </a:r>
            <a:endParaRPr lang="en-US" sz="850"/>
          </a:p>
        </p:txBody>
      </p:sp>
      <p:sp>
        <p:nvSpPr>
          <p:cNvPr id="63" name="Text 12">
            <a:extLst>
              <a:ext uri="{FF2B5EF4-FFF2-40B4-BE49-F238E27FC236}">
                <a16:creationId xmlns:a16="http://schemas.microsoft.com/office/drawing/2014/main" id="{2E92BF12-18EE-4339-D48B-DE0A09056BB4}"/>
              </a:ext>
            </a:extLst>
          </p:cNvPr>
          <p:cNvSpPr/>
          <p:nvPr/>
        </p:nvSpPr>
        <p:spPr>
          <a:xfrm>
            <a:off x="3927991" y="2189380"/>
            <a:ext cx="7171373" cy="272177"/>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Page title, HTTPS/domain, email input, password field, empty form, invalid credentials, forgot password, create account, valid credentials redirect</a:t>
            </a:r>
            <a:endParaRPr lang="en-US" sz="850"/>
          </a:p>
        </p:txBody>
      </p:sp>
      <p:sp>
        <p:nvSpPr>
          <p:cNvPr id="64" name="Shape 13">
            <a:extLst>
              <a:ext uri="{FF2B5EF4-FFF2-40B4-BE49-F238E27FC236}">
                <a16:creationId xmlns:a16="http://schemas.microsoft.com/office/drawing/2014/main" id="{544E360A-92AE-72E0-F98D-86D2D96995A6}"/>
              </a:ext>
            </a:extLst>
          </p:cNvPr>
          <p:cNvSpPr/>
          <p:nvPr/>
        </p:nvSpPr>
        <p:spPr>
          <a:xfrm>
            <a:off x="3402449" y="2646818"/>
            <a:ext cx="7825502" cy="774383"/>
          </a:xfrm>
          <a:prstGeom prst="roundRect">
            <a:avLst>
              <a:gd name="adj" fmla="val 6151"/>
            </a:avLst>
          </a:prstGeom>
          <a:solidFill>
            <a:srgbClr val="272525"/>
          </a:solidFill>
          <a:ln w="15240">
            <a:solidFill>
              <a:srgbClr val="2A1999"/>
            </a:solidFill>
            <a:prstDash val="solid"/>
          </a:ln>
        </p:spPr>
        <p:txBody>
          <a:bodyPr/>
          <a:lstStyle/>
          <a:p>
            <a:endParaRPr lang="en-US"/>
          </a:p>
        </p:txBody>
      </p:sp>
      <p:sp>
        <p:nvSpPr>
          <p:cNvPr id="65" name="Shape 14">
            <a:extLst>
              <a:ext uri="{FF2B5EF4-FFF2-40B4-BE49-F238E27FC236}">
                <a16:creationId xmlns:a16="http://schemas.microsoft.com/office/drawing/2014/main" id="{6D876D03-288A-85C3-DB59-19CFB9A96B41}"/>
              </a:ext>
            </a:extLst>
          </p:cNvPr>
          <p:cNvSpPr/>
          <p:nvPr/>
        </p:nvSpPr>
        <p:spPr>
          <a:xfrm>
            <a:off x="3417689" y="2662058"/>
            <a:ext cx="453628" cy="743903"/>
          </a:xfrm>
          <a:prstGeom prst="roundRect">
            <a:avLst>
              <a:gd name="adj" fmla="val 6469"/>
            </a:avLst>
          </a:prstGeom>
          <a:solidFill>
            <a:srgbClr val="110080"/>
          </a:solidFill>
          <a:ln/>
        </p:spPr>
        <p:txBody>
          <a:bodyPr/>
          <a:lstStyle/>
          <a:p>
            <a:endParaRPr lang="en-US"/>
          </a:p>
        </p:txBody>
      </p:sp>
      <p:sp>
        <p:nvSpPr>
          <p:cNvPr id="66" name="Text 15">
            <a:extLst>
              <a:ext uri="{FF2B5EF4-FFF2-40B4-BE49-F238E27FC236}">
                <a16:creationId xmlns:a16="http://schemas.microsoft.com/office/drawing/2014/main" id="{7A55920A-0A1A-6777-2F41-5E1B110EF799}"/>
              </a:ext>
            </a:extLst>
          </p:cNvPr>
          <p:cNvSpPr/>
          <p:nvPr/>
        </p:nvSpPr>
        <p:spPr>
          <a:xfrm>
            <a:off x="3555683" y="2927687"/>
            <a:ext cx="170021" cy="21264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1300" b="1">
                <a:solidFill>
                  <a:srgbClr val="E5E0DF"/>
                </a:solidFill>
                <a:latin typeface="Inter Bold" pitchFamily="34" charset="0"/>
                <a:ea typeface="Inter Bold" pitchFamily="34" charset="-122"/>
                <a:cs typeface="Inter Bold" pitchFamily="34" charset="-120"/>
              </a:rPr>
              <a:t>3</a:t>
            </a:r>
            <a:endParaRPr lang="en-US" sz="1300"/>
          </a:p>
        </p:txBody>
      </p:sp>
      <p:sp>
        <p:nvSpPr>
          <p:cNvPr id="67" name="Text 16">
            <a:extLst>
              <a:ext uri="{FF2B5EF4-FFF2-40B4-BE49-F238E27FC236}">
                <a16:creationId xmlns:a16="http://schemas.microsoft.com/office/drawing/2014/main" id="{CA0012C6-AEAF-0A7D-C782-729A9A56B24D}"/>
              </a:ext>
            </a:extLst>
          </p:cNvPr>
          <p:cNvSpPr/>
          <p:nvPr/>
        </p:nvSpPr>
        <p:spPr>
          <a:xfrm>
            <a:off x="3927991" y="2775406"/>
            <a:ext cx="1750695" cy="177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en-US" sz="1100" b="1">
                <a:solidFill>
                  <a:srgbClr val="E5E0DF"/>
                </a:solidFill>
                <a:latin typeface="Inter Bold" pitchFamily="34" charset="0"/>
                <a:ea typeface="Inter Bold" pitchFamily="34" charset="-122"/>
                <a:cs typeface="Inter Bold" pitchFamily="34" charset="-120"/>
              </a:rPr>
              <a:t>Module 3 — Search Tests</a:t>
            </a:r>
            <a:endParaRPr lang="en-US" sz="1100"/>
          </a:p>
        </p:txBody>
      </p:sp>
      <p:sp>
        <p:nvSpPr>
          <p:cNvPr id="68" name="Text 17">
            <a:extLst>
              <a:ext uri="{FF2B5EF4-FFF2-40B4-BE49-F238E27FC236}">
                <a16:creationId xmlns:a16="http://schemas.microsoft.com/office/drawing/2014/main" id="{8B52E202-E155-93C4-452C-81B5C6BE5E90}"/>
              </a:ext>
            </a:extLst>
          </p:cNvPr>
          <p:cNvSpPr/>
          <p:nvPr/>
        </p:nvSpPr>
        <p:spPr>
          <a:xfrm>
            <a:off x="3927991" y="2986504"/>
            <a:ext cx="7171373" cy="1360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050"/>
              </a:lnSpc>
              <a:buNone/>
            </a:pPr>
            <a:r>
              <a:rPr lang="en-US" sz="850">
                <a:solidFill>
                  <a:srgbClr val="E5E0DF"/>
                </a:solidFill>
                <a:latin typeface="Inter" pitchFamily="34" charset="0"/>
                <a:ea typeface="Inter" pitchFamily="34" charset="-122"/>
                <a:cs typeface="Inter" pitchFamily="34" charset="-120"/>
              </a:rPr>
              <a:t>(8 tests)</a:t>
            </a:r>
            <a:endParaRPr lang="en-US" sz="850"/>
          </a:p>
        </p:txBody>
      </p:sp>
      <p:sp>
        <p:nvSpPr>
          <p:cNvPr id="69" name="Text 18">
            <a:extLst>
              <a:ext uri="{FF2B5EF4-FFF2-40B4-BE49-F238E27FC236}">
                <a16:creationId xmlns:a16="http://schemas.microsoft.com/office/drawing/2014/main" id="{C0D1B78F-4F1D-1420-234C-4A874737372F}"/>
              </a:ext>
            </a:extLst>
          </p:cNvPr>
          <p:cNvSpPr/>
          <p:nvPr/>
        </p:nvSpPr>
        <p:spPr>
          <a:xfrm>
            <a:off x="3927991" y="3156525"/>
            <a:ext cx="7171373" cy="1360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Search icon, results page load, results returned, titles, images, filters, result count, keyboard input</a:t>
            </a:r>
            <a:endParaRPr lang="en-US" sz="850"/>
          </a:p>
        </p:txBody>
      </p:sp>
      <p:sp>
        <p:nvSpPr>
          <p:cNvPr id="70" name="Shape 19">
            <a:extLst>
              <a:ext uri="{FF2B5EF4-FFF2-40B4-BE49-F238E27FC236}">
                <a16:creationId xmlns:a16="http://schemas.microsoft.com/office/drawing/2014/main" id="{3260BC38-89C1-64F0-6BD5-4478E8769DAD}"/>
              </a:ext>
            </a:extLst>
          </p:cNvPr>
          <p:cNvSpPr/>
          <p:nvPr/>
        </p:nvSpPr>
        <p:spPr>
          <a:xfrm>
            <a:off x="3402449" y="3477875"/>
            <a:ext cx="7825502" cy="910471"/>
          </a:xfrm>
          <a:prstGeom prst="roundRect">
            <a:avLst>
              <a:gd name="adj" fmla="val 5232"/>
            </a:avLst>
          </a:prstGeom>
          <a:solidFill>
            <a:srgbClr val="272525"/>
          </a:solidFill>
          <a:ln w="15240">
            <a:solidFill>
              <a:srgbClr val="2A1999"/>
            </a:solidFill>
            <a:prstDash val="solid"/>
          </a:ln>
        </p:spPr>
        <p:txBody>
          <a:bodyPr/>
          <a:lstStyle/>
          <a:p>
            <a:endParaRPr lang="en-US"/>
          </a:p>
        </p:txBody>
      </p:sp>
      <p:sp>
        <p:nvSpPr>
          <p:cNvPr id="71" name="Shape 20">
            <a:extLst>
              <a:ext uri="{FF2B5EF4-FFF2-40B4-BE49-F238E27FC236}">
                <a16:creationId xmlns:a16="http://schemas.microsoft.com/office/drawing/2014/main" id="{6CDB05E8-262C-B53C-DDE7-6CB50CB6010F}"/>
              </a:ext>
            </a:extLst>
          </p:cNvPr>
          <p:cNvSpPr/>
          <p:nvPr/>
        </p:nvSpPr>
        <p:spPr>
          <a:xfrm>
            <a:off x="3417689" y="3493115"/>
            <a:ext cx="453628" cy="879991"/>
          </a:xfrm>
          <a:prstGeom prst="roundRect">
            <a:avLst>
              <a:gd name="adj" fmla="val 6469"/>
            </a:avLst>
          </a:prstGeom>
          <a:solidFill>
            <a:srgbClr val="110080"/>
          </a:solidFill>
          <a:ln/>
        </p:spPr>
        <p:txBody>
          <a:bodyPr/>
          <a:lstStyle/>
          <a:p>
            <a:endParaRPr lang="en-US"/>
          </a:p>
        </p:txBody>
      </p:sp>
      <p:sp>
        <p:nvSpPr>
          <p:cNvPr id="72" name="Text 21">
            <a:extLst>
              <a:ext uri="{FF2B5EF4-FFF2-40B4-BE49-F238E27FC236}">
                <a16:creationId xmlns:a16="http://schemas.microsoft.com/office/drawing/2014/main" id="{66564798-1BF7-CC9D-0566-3054DF3DEA1B}"/>
              </a:ext>
            </a:extLst>
          </p:cNvPr>
          <p:cNvSpPr/>
          <p:nvPr/>
        </p:nvSpPr>
        <p:spPr>
          <a:xfrm>
            <a:off x="3555683" y="3826728"/>
            <a:ext cx="170021" cy="21264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1300" b="1">
                <a:solidFill>
                  <a:srgbClr val="E5E0DF"/>
                </a:solidFill>
                <a:latin typeface="Inter Bold" pitchFamily="34" charset="0"/>
                <a:ea typeface="Inter Bold" pitchFamily="34" charset="-122"/>
                <a:cs typeface="Inter Bold" pitchFamily="34" charset="-120"/>
              </a:rPr>
              <a:t>4</a:t>
            </a:r>
            <a:endParaRPr lang="en-US" sz="1300"/>
          </a:p>
        </p:txBody>
      </p:sp>
      <p:sp>
        <p:nvSpPr>
          <p:cNvPr id="73" name="Text 22">
            <a:extLst>
              <a:ext uri="{FF2B5EF4-FFF2-40B4-BE49-F238E27FC236}">
                <a16:creationId xmlns:a16="http://schemas.microsoft.com/office/drawing/2014/main" id="{F0A513E1-6316-9096-0B94-0D89D1582915}"/>
              </a:ext>
            </a:extLst>
          </p:cNvPr>
          <p:cNvSpPr/>
          <p:nvPr/>
        </p:nvSpPr>
        <p:spPr>
          <a:xfrm>
            <a:off x="3927991" y="3606462"/>
            <a:ext cx="2016800" cy="177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en-US" sz="1100" b="1">
                <a:solidFill>
                  <a:srgbClr val="E5E0DF"/>
                </a:solidFill>
                <a:latin typeface="Inter Bold" pitchFamily="34" charset="0"/>
                <a:ea typeface="Inter Bold" pitchFamily="34" charset="-122"/>
                <a:cs typeface="Inter Bold" pitchFamily="34" charset="-120"/>
              </a:rPr>
              <a:t>Module 4 — Navigation Tests</a:t>
            </a:r>
            <a:endParaRPr lang="en-US" sz="1100"/>
          </a:p>
        </p:txBody>
      </p:sp>
      <p:sp>
        <p:nvSpPr>
          <p:cNvPr id="74" name="Text 23">
            <a:extLst>
              <a:ext uri="{FF2B5EF4-FFF2-40B4-BE49-F238E27FC236}">
                <a16:creationId xmlns:a16="http://schemas.microsoft.com/office/drawing/2014/main" id="{5EE21D39-661A-F9AA-95CE-C504D15E41E7}"/>
              </a:ext>
            </a:extLst>
          </p:cNvPr>
          <p:cNvSpPr/>
          <p:nvPr/>
        </p:nvSpPr>
        <p:spPr>
          <a:xfrm>
            <a:off x="3927991" y="3817560"/>
            <a:ext cx="7171373" cy="1360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050"/>
              </a:lnSpc>
              <a:buNone/>
            </a:pPr>
            <a:r>
              <a:rPr lang="en-US" sz="850">
                <a:solidFill>
                  <a:srgbClr val="E5E0DF"/>
                </a:solidFill>
                <a:latin typeface="Inter" pitchFamily="34" charset="0"/>
                <a:ea typeface="Inter" pitchFamily="34" charset="-122"/>
                <a:cs typeface="Inter" pitchFamily="34" charset="-120"/>
              </a:rPr>
              <a:t>(9 tests)</a:t>
            </a:r>
            <a:endParaRPr lang="en-US" sz="850"/>
          </a:p>
        </p:txBody>
      </p:sp>
      <p:sp>
        <p:nvSpPr>
          <p:cNvPr id="75" name="Text 24">
            <a:extLst>
              <a:ext uri="{FF2B5EF4-FFF2-40B4-BE49-F238E27FC236}">
                <a16:creationId xmlns:a16="http://schemas.microsoft.com/office/drawing/2014/main" id="{A5A614F8-3602-3AB1-0B82-52E64533C42D}"/>
              </a:ext>
            </a:extLst>
          </p:cNvPr>
          <p:cNvSpPr/>
          <p:nvPr/>
        </p:nvSpPr>
        <p:spPr>
          <a:xfrm>
            <a:off x="3927991" y="3987581"/>
            <a:ext cx="7171373" cy="272177"/>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Logo navigation, store link, sign in button, catalog page, header persistence, cart/wishlist, back button, hover stability, GOG Galaxy</a:t>
            </a:r>
            <a:endParaRPr lang="en-US" sz="850"/>
          </a:p>
        </p:txBody>
      </p:sp>
      <p:sp>
        <p:nvSpPr>
          <p:cNvPr id="76" name="Shape 25">
            <a:extLst>
              <a:ext uri="{FF2B5EF4-FFF2-40B4-BE49-F238E27FC236}">
                <a16:creationId xmlns:a16="http://schemas.microsoft.com/office/drawing/2014/main" id="{A097C602-93C2-1B7F-AD36-837D03BCD5AA}"/>
              </a:ext>
            </a:extLst>
          </p:cNvPr>
          <p:cNvSpPr/>
          <p:nvPr/>
        </p:nvSpPr>
        <p:spPr>
          <a:xfrm>
            <a:off x="3402449" y="4445019"/>
            <a:ext cx="7825502" cy="910471"/>
          </a:xfrm>
          <a:prstGeom prst="roundRect">
            <a:avLst>
              <a:gd name="adj" fmla="val 5232"/>
            </a:avLst>
          </a:prstGeom>
          <a:solidFill>
            <a:srgbClr val="272525"/>
          </a:solidFill>
          <a:ln w="15240">
            <a:solidFill>
              <a:srgbClr val="2A1999"/>
            </a:solidFill>
            <a:prstDash val="solid"/>
          </a:ln>
        </p:spPr>
        <p:txBody>
          <a:bodyPr/>
          <a:lstStyle/>
          <a:p>
            <a:endParaRPr lang="en-US"/>
          </a:p>
        </p:txBody>
      </p:sp>
      <p:sp>
        <p:nvSpPr>
          <p:cNvPr id="77" name="Shape 26">
            <a:extLst>
              <a:ext uri="{FF2B5EF4-FFF2-40B4-BE49-F238E27FC236}">
                <a16:creationId xmlns:a16="http://schemas.microsoft.com/office/drawing/2014/main" id="{0BE6D464-B128-EED0-4540-23DE5F4F3893}"/>
              </a:ext>
            </a:extLst>
          </p:cNvPr>
          <p:cNvSpPr/>
          <p:nvPr/>
        </p:nvSpPr>
        <p:spPr>
          <a:xfrm>
            <a:off x="3417689" y="4460259"/>
            <a:ext cx="453628" cy="879991"/>
          </a:xfrm>
          <a:prstGeom prst="roundRect">
            <a:avLst>
              <a:gd name="adj" fmla="val 6469"/>
            </a:avLst>
          </a:prstGeom>
          <a:solidFill>
            <a:srgbClr val="110080"/>
          </a:solidFill>
          <a:ln/>
        </p:spPr>
        <p:txBody>
          <a:bodyPr/>
          <a:lstStyle/>
          <a:p>
            <a:endParaRPr lang="en-US"/>
          </a:p>
        </p:txBody>
      </p:sp>
      <p:sp>
        <p:nvSpPr>
          <p:cNvPr id="78" name="Text 27">
            <a:extLst>
              <a:ext uri="{FF2B5EF4-FFF2-40B4-BE49-F238E27FC236}">
                <a16:creationId xmlns:a16="http://schemas.microsoft.com/office/drawing/2014/main" id="{970012DE-76BA-8D88-CAA3-5ECD57DA47D2}"/>
              </a:ext>
            </a:extLst>
          </p:cNvPr>
          <p:cNvSpPr/>
          <p:nvPr/>
        </p:nvSpPr>
        <p:spPr>
          <a:xfrm>
            <a:off x="3555683" y="4793872"/>
            <a:ext cx="170021" cy="21264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1300" b="1">
                <a:solidFill>
                  <a:srgbClr val="E5E0DF"/>
                </a:solidFill>
                <a:latin typeface="Inter Bold" pitchFamily="34" charset="0"/>
                <a:ea typeface="Inter Bold" pitchFamily="34" charset="-122"/>
                <a:cs typeface="Inter Bold" pitchFamily="34" charset="-120"/>
              </a:rPr>
              <a:t>5</a:t>
            </a:r>
            <a:endParaRPr lang="en-US" sz="1300"/>
          </a:p>
        </p:txBody>
      </p:sp>
      <p:sp>
        <p:nvSpPr>
          <p:cNvPr id="79" name="Text 28">
            <a:extLst>
              <a:ext uri="{FF2B5EF4-FFF2-40B4-BE49-F238E27FC236}">
                <a16:creationId xmlns:a16="http://schemas.microsoft.com/office/drawing/2014/main" id="{E6C93647-B6C3-5EBF-E00E-CF272FC87F3E}"/>
              </a:ext>
            </a:extLst>
          </p:cNvPr>
          <p:cNvSpPr/>
          <p:nvPr/>
        </p:nvSpPr>
        <p:spPr>
          <a:xfrm>
            <a:off x="3927991" y="4573607"/>
            <a:ext cx="2042755" cy="177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en-US" sz="1100" b="1">
                <a:solidFill>
                  <a:srgbClr val="E5E0DF"/>
                </a:solidFill>
                <a:latin typeface="Inter Bold" pitchFamily="34" charset="0"/>
                <a:ea typeface="Inter Bold" pitchFamily="34" charset="-122"/>
                <a:cs typeface="Inter Bold" pitchFamily="34" charset="-120"/>
              </a:rPr>
              <a:t>Module 5 — Game Page Tests</a:t>
            </a:r>
            <a:endParaRPr lang="en-US" sz="1100"/>
          </a:p>
        </p:txBody>
      </p:sp>
      <p:sp>
        <p:nvSpPr>
          <p:cNvPr id="80" name="Text 29">
            <a:extLst>
              <a:ext uri="{FF2B5EF4-FFF2-40B4-BE49-F238E27FC236}">
                <a16:creationId xmlns:a16="http://schemas.microsoft.com/office/drawing/2014/main" id="{9729010E-4107-1FE0-0472-CF4A4D2B456F}"/>
              </a:ext>
            </a:extLst>
          </p:cNvPr>
          <p:cNvSpPr/>
          <p:nvPr/>
        </p:nvSpPr>
        <p:spPr>
          <a:xfrm>
            <a:off x="3927991" y="4784705"/>
            <a:ext cx="7171373" cy="1360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050"/>
              </a:lnSpc>
              <a:buNone/>
            </a:pPr>
            <a:r>
              <a:rPr lang="en-US" sz="850">
                <a:solidFill>
                  <a:srgbClr val="E5E0DF"/>
                </a:solidFill>
                <a:latin typeface="Inter" pitchFamily="34" charset="0"/>
                <a:ea typeface="Inter" pitchFamily="34" charset="-122"/>
                <a:cs typeface="Inter" pitchFamily="34" charset="-120"/>
              </a:rPr>
              <a:t>(10 tests)</a:t>
            </a:r>
            <a:endParaRPr lang="en-US" sz="850"/>
          </a:p>
        </p:txBody>
      </p:sp>
      <p:sp>
        <p:nvSpPr>
          <p:cNvPr id="81" name="Text 30">
            <a:extLst>
              <a:ext uri="{FF2B5EF4-FFF2-40B4-BE49-F238E27FC236}">
                <a16:creationId xmlns:a16="http://schemas.microsoft.com/office/drawing/2014/main" id="{FBD91673-964A-7F07-4ECA-91041D7650ED}"/>
              </a:ext>
            </a:extLst>
          </p:cNvPr>
          <p:cNvSpPr/>
          <p:nvPr/>
        </p:nvSpPr>
        <p:spPr>
          <a:xfrm>
            <a:off x="3927991" y="4954726"/>
            <a:ext cx="7171373" cy="272177"/>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Page load, title, buy button, description, screenshots, system requirements, HTTPS, screenshot capture, price/ownership, scrollable requirements</a:t>
            </a:r>
            <a:endParaRPr lang="en-US" sz="850"/>
          </a:p>
        </p:txBody>
      </p:sp>
      <p:sp>
        <p:nvSpPr>
          <p:cNvPr id="82" name="Shape 31">
            <a:extLst>
              <a:ext uri="{FF2B5EF4-FFF2-40B4-BE49-F238E27FC236}">
                <a16:creationId xmlns:a16="http://schemas.microsoft.com/office/drawing/2014/main" id="{BA40C7A6-7CF4-6738-5F50-C21B76337ABC}"/>
              </a:ext>
            </a:extLst>
          </p:cNvPr>
          <p:cNvSpPr/>
          <p:nvPr/>
        </p:nvSpPr>
        <p:spPr>
          <a:xfrm>
            <a:off x="3402449" y="5412164"/>
            <a:ext cx="7825502" cy="774383"/>
          </a:xfrm>
          <a:prstGeom prst="roundRect">
            <a:avLst>
              <a:gd name="adj" fmla="val 6151"/>
            </a:avLst>
          </a:prstGeom>
          <a:solidFill>
            <a:srgbClr val="272525"/>
          </a:solidFill>
          <a:ln w="15240">
            <a:solidFill>
              <a:srgbClr val="2A1999"/>
            </a:solidFill>
            <a:prstDash val="solid"/>
          </a:ln>
        </p:spPr>
        <p:txBody>
          <a:bodyPr/>
          <a:lstStyle/>
          <a:p>
            <a:endParaRPr lang="en-US"/>
          </a:p>
        </p:txBody>
      </p:sp>
      <p:sp>
        <p:nvSpPr>
          <p:cNvPr id="83" name="Shape 32">
            <a:extLst>
              <a:ext uri="{FF2B5EF4-FFF2-40B4-BE49-F238E27FC236}">
                <a16:creationId xmlns:a16="http://schemas.microsoft.com/office/drawing/2014/main" id="{6D104C6B-DCC5-93A9-5E57-45F38709B3CA}"/>
              </a:ext>
            </a:extLst>
          </p:cNvPr>
          <p:cNvSpPr/>
          <p:nvPr/>
        </p:nvSpPr>
        <p:spPr>
          <a:xfrm>
            <a:off x="3417689" y="5427404"/>
            <a:ext cx="453628" cy="743903"/>
          </a:xfrm>
          <a:prstGeom prst="roundRect">
            <a:avLst>
              <a:gd name="adj" fmla="val 6469"/>
            </a:avLst>
          </a:prstGeom>
          <a:solidFill>
            <a:srgbClr val="110080"/>
          </a:solidFill>
          <a:ln/>
        </p:spPr>
        <p:txBody>
          <a:bodyPr/>
          <a:lstStyle/>
          <a:p>
            <a:endParaRPr lang="en-US"/>
          </a:p>
        </p:txBody>
      </p:sp>
      <p:sp>
        <p:nvSpPr>
          <p:cNvPr id="84" name="Text 33">
            <a:extLst>
              <a:ext uri="{FF2B5EF4-FFF2-40B4-BE49-F238E27FC236}">
                <a16:creationId xmlns:a16="http://schemas.microsoft.com/office/drawing/2014/main" id="{81D29FEF-8891-3590-0490-A6266DAD5EC5}"/>
              </a:ext>
            </a:extLst>
          </p:cNvPr>
          <p:cNvSpPr/>
          <p:nvPr/>
        </p:nvSpPr>
        <p:spPr>
          <a:xfrm>
            <a:off x="3555683" y="5693032"/>
            <a:ext cx="170021" cy="21264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1300" b="1">
                <a:solidFill>
                  <a:srgbClr val="E5E0DF"/>
                </a:solidFill>
                <a:latin typeface="Inter Bold" pitchFamily="34" charset="0"/>
                <a:ea typeface="Inter Bold" pitchFamily="34" charset="-122"/>
                <a:cs typeface="Inter Bold" pitchFamily="34" charset="-120"/>
              </a:rPr>
              <a:t>6</a:t>
            </a:r>
            <a:endParaRPr lang="en-US" sz="1300"/>
          </a:p>
        </p:txBody>
      </p:sp>
      <p:sp>
        <p:nvSpPr>
          <p:cNvPr id="85" name="Text 34">
            <a:extLst>
              <a:ext uri="{FF2B5EF4-FFF2-40B4-BE49-F238E27FC236}">
                <a16:creationId xmlns:a16="http://schemas.microsoft.com/office/drawing/2014/main" id="{44C4B553-5D7F-C2BA-BC20-5FA0D1DED433}"/>
              </a:ext>
            </a:extLst>
          </p:cNvPr>
          <p:cNvSpPr/>
          <p:nvPr/>
        </p:nvSpPr>
        <p:spPr>
          <a:xfrm>
            <a:off x="3927991" y="5540752"/>
            <a:ext cx="2232898" cy="177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en-US" sz="1100" b="1">
                <a:solidFill>
                  <a:srgbClr val="E5E0DF"/>
                </a:solidFill>
                <a:latin typeface="Inter Bold" pitchFamily="34" charset="0"/>
                <a:ea typeface="Inter Bold" pitchFamily="34" charset="-122"/>
                <a:cs typeface="Inter Bold" pitchFamily="34" charset="-120"/>
              </a:rPr>
              <a:t>Module 6 — Genre Browse Tests</a:t>
            </a:r>
            <a:endParaRPr lang="en-US" sz="1100"/>
          </a:p>
        </p:txBody>
      </p:sp>
      <p:sp>
        <p:nvSpPr>
          <p:cNvPr id="86" name="Text 35">
            <a:extLst>
              <a:ext uri="{FF2B5EF4-FFF2-40B4-BE49-F238E27FC236}">
                <a16:creationId xmlns:a16="http://schemas.microsoft.com/office/drawing/2014/main" id="{6734968B-D250-5F0A-5A27-6864E2C2161F}"/>
              </a:ext>
            </a:extLst>
          </p:cNvPr>
          <p:cNvSpPr/>
          <p:nvPr/>
        </p:nvSpPr>
        <p:spPr>
          <a:xfrm>
            <a:off x="3927991" y="5751849"/>
            <a:ext cx="7171373" cy="1360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050"/>
              </a:lnSpc>
              <a:buNone/>
            </a:pPr>
            <a:r>
              <a:rPr lang="en-US" sz="850">
                <a:solidFill>
                  <a:srgbClr val="E5E0DF"/>
                </a:solidFill>
                <a:latin typeface="Inter" pitchFamily="34" charset="0"/>
                <a:ea typeface="Inter" pitchFamily="34" charset="-122"/>
                <a:cs typeface="Inter" pitchFamily="34" charset="-120"/>
              </a:rPr>
              <a:t>(8 tests)</a:t>
            </a:r>
            <a:endParaRPr lang="en-US" sz="850"/>
          </a:p>
        </p:txBody>
      </p:sp>
      <p:sp>
        <p:nvSpPr>
          <p:cNvPr id="87" name="Text 36">
            <a:extLst>
              <a:ext uri="{FF2B5EF4-FFF2-40B4-BE49-F238E27FC236}">
                <a16:creationId xmlns:a16="http://schemas.microsoft.com/office/drawing/2014/main" id="{F9AAFD92-FECE-CF8A-CC53-84724C02D482}"/>
              </a:ext>
            </a:extLst>
          </p:cNvPr>
          <p:cNvSpPr/>
          <p:nvPr/>
        </p:nvSpPr>
        <p:spPr>
          <a:xfrm>
            <a:off x="3927991" y="5921871"/>
            <a:ext cx="7171373" cy="1360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Catalog load, genre filter, game tiles, images, sort/filter controls, page title, URL parameters, multiple tiles</a:t>
            </a:r>
            <a:endParaRPr lang="en-US" sz="850"/>
          </a:p>
        </p:txBody>
      </p:sp>
      <p:sp>
        <p:nvSpPr>
          <p:cNvPr id="88" name="Shape 37">
            <a:extLst>
              <a:ext uri="{FF2B5EF4-FFF2-40B4-BE49-F238E27FC236}">
                <a16:creationId xmlns:a16="http://schemas.microsoft.com/office/drawing/2014/main" id="{8A12E8B2-60D2-5F1A-720C-86191C9D0E7F}"/>
              </a:ext>
            </a:extLst>
          </p:cNvPr>
          <p:cNvSpPr/>
          <p:nvPr/>
        </p:nvSpPr>
        <p:spPr>
          <a:xfrm>
            <a:off x="3402449" y="6243220"/>
            <a:ext cx="7825502" cy="774383"/>
          </a:xfrm>
          <a:prstGeom prst="roundRect">
            <a:avLst>
              <a:gd name="adj" fmla="val 6151"/>
            </a:avLst>
          </a:prstGeom>
          <a:solidFill>
            <a:srgbClr val="272525"/>
          </a:solidFill>
          <a:ln w="15240">
            <a:solidFill>
              <a:srgbClr val="2A1999"/>
            </a:solidFill>
            <a:prstDash val="solid"/>
          </a:ln>
        </p:spPr>
        <p:txBody>
          <a:bodyPr/>
          <a:lstStyle/>
          <a:p>
            <a:endParaRPr lang="en-US"/>
          </a:p>
        </p:txBody>
      </p:sp>
      <p:sp>
        <p:nvSpPr>
          <p:cNvPr id="89" name="Shape 38">
            <a:extLst>
              <a:ext uri="{FF2B5EF4-FFF2-40B4-BE49-F238E27FC236}">
                <a16:creationId xmlns:a16="http://schemas.microsoft.com/office/drawing/2014/main" id="{DD831457-8B15-66E6-9EB6-DE59F428F061}"/>
              </a:ext>
            </a:extLst>
          </p:cNvPr>
          <p:cNvSpPr/>
          <p:nvPr/>
        </p:nvSpPr>
        <p:spPr>
          <a:xfrm>
            <a:off x="3417689" y="6258460"/>
            <a:ext cx="453628" cy="743903"/>
          </a:xfrm>
          <a:prstGeom prst="roundRect">
            <a:avLst>
              <a:gd name="adj" fmla="val 6469"/>
            </a:avLst>
          </a:prstGeom>
          <a:solidFill>
            <a:srgbClr val="110080"/>
          </a:solidFill>
          <a:ln/>
        </p:spPr>
        <p:txBody>
          <a:bodyPr/>
          <a:lstStyle/>
          <a:p>
            <a:endParaRPr lang="en-US"/>
          </a:p>
        </p:txBody>
      </p:sp>
      <p:sp>
        <p:nvSpPr>
          <p:cNvPr id="90" name="Text 39">
            <a:extLst>
              <a:ext uri="{FF2B5EF4-FFF2-40B4-BE49-F238E27FC236}">
                <a16:creationId xmlns:a16="http://schemas.microsoft.com/office/drawing/2014/main" id="{5B3869DA-B14D-9CEB-C68F-1F69C6E9CE64}"/>
              </a:ext>
            </a:extLst>
          </p:cNvPr>
          <p:cNvSpPr/>
          <p:nvPr/>
        </p:nvSpPr>
        <p:spPr>
          <a:xfrm>
            <a:off x="3555683" y="6524089"/>
            <a:ext cx="170021" cy="21264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1300" b="1">
                <a:solidFill>
                  <a:srgbClr val="E5E0DF"/>
                </a:solidFill>
                <a:latin typeface="Inter Bold" pitchFamily="34" charset="0"/>
                <a:ea typeface="Inter Bold" pitchFamily="34" charset="-122"/>
                <a:cs typeface="Inter Bold" pitchFamily="34" charset="-120"/>
              </a:rPr>
              <a:t>7</a:t>
            </a:r>
            <a:endParaRPr lang="en-US" sz="1300"/>
          </a:p>
        </p:txBody>
      </p:sp>
      <p:sp>
        <p:nvSpPr>
          <p:cNvPr id="91" name="Text 40">
            <a:extLst>
              <a:ext uri="{FF2B5EF4-FFF2-40B4-BE49-F238E27FC236}">
                <a16:creationId xmlns:a16="http://schemas.microsoft.com/office/drawing/2014/main" id="{71952F57-81C2-1CF8-D261-300B75B95AAB}"/>
              </a:ext>
            </a:extLst>
          </p:cNvPr>
          <p:cNvSpPr/>
          <p:nvPr/>
        </p:nvSpPr>
        <p:spPr>
          <a:xfrm>
            <a:off x="3927991" y="6371808"/>
            <a:ext cx="1934170" cy="177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en-US" sz="1100" b="1">
                <a:solidFill>
                  <a:srgbClr val="E5E0DF"/>
                </a:solidFill>
                <a:latin typeface="Inter Bold" pitchFamily="34" charset="0"/>
                <a:ea typeface="Inter Bold" pitchFamily="34" charset="-122"/>
                <a:cs typeface="Inter Bold" pitchFamily="34" charset="-120"/>
              </a:rPr>
              <a:t>Module 7 — Cart Page Tests</a:t>
            </a:r>
            <a:endParaRPr lang="en-US" sz="1100"/>
          </a:p>
        </p:txBody>
      </p:sp>
      <p:sp>
        <p:nvSpPr>
          <p:cNvPr id="92" name="Text 41">
            <a:extLst>
              <a:ext uri="{FF2B5EF4-FFF2-40B4-BE49-F238E27FC236}">
                <a16:creationId xmlns:a16="http://schemas.microsoft.com/office/drawing/2014/main" id="{9EEC0E84-EDCA-6515-20B0-442F431692E5}"/>
              </a:ext>
            </a:extLst>
          </p:cNvPr>
          <p:cNvSpPr/>
          <p:nvPr/>
        </p:nvSpPr>
        <p:spPr>
          <a:xfrm>
            <a:off x="3927991" y="6582906"/>
            <a:ext cx="7171373" cy="1360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050"/>
              </a:lnSpc>
              <a:buNone/>
            </a:pPr>
            <a:r>
              <a:rPr lang="en-US" sz="850">
                <a:solidFill>
                  <a:srgbClr val="E5E0DF"/>
                </a:solidFill>
                <a:latin typeface="Inter" pitchFamily="34" charset="0"/>
                <a:ea typeface="Inter" pitchFamily="34" charset="-122"/>
                <a:cs typeface="Inter" pitchFamily="34" charset="-120"/>
              </a:rPr>
              <a:t>(9 tests)</a:t>
            </a:r>
            <a:endParaRPr lang="en-US" sz="850"/>
          </a:p>
        </p:txBody>
      </p:sp>
      <p:sp>
        <p:nvSpPr>
          <p:cNvPr id="93" name="Text 42">
            <a:extLst>
              <a:ext uri="{FF2B5EF4-FFF2-40B4-BE49-F238E27FC236}">
                <a16:creationId xmlns:a16="http://schemas.microsoft.com/office/drawing/2014/main" id="{0FB58876-16AF-7F41-CA42-6D81CE957CBD}"/>
              </a:ext>
            </a:extLst>
          </p:cNvPr>
          <p:cNvSpPr/>
          <p:nvPr/>
        </p:nvSpPr>
        <p:spPr>
          <a:xfrm>
            <a:off x="3927991" y="6752927"/>
            <a:ext cx="7171373" cy="1360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Page load, title, main content, empty cart/heading, continue shopping, header/nav, HTTPS, cart icon attributes, scroll to bottom</a:t>
            </a:r>
            <a:endParaRPr lang="en-US" sz="850"/>
          </a:p>
        </p:txBody>
      </p:sp>
      <p:sp>
        <p:nvSpPr>
          <p:cNvPr id="94" name="Shape 43">
            <a:extLst>
              <a:ext uri="{FF2B5EF4-FFF2-40B4-BE49-F238E27FC236}">
                <a16:creationId xmlns:a16="http://schemas.microsoft.com/office/drawing/2014/main" id="{7D674E0F-2D3A-5DAC-E4D7-1E388975B3A8}"/>
              </a:ext>
            </a:extLst>
          </p:cNvPr>
          <p:cNvSpPr/>
          <p:nvPr/>
        </p:nvSpPr>
        <p:spPr>
          <a:xfrm>
            <a:off x="3402449" y="7074277"/>
            <a:ext cx="7825502" cy="774383"/>
          </a:xfrm>
          <a:prstGeom prst="roundRect">
            <a:avLst>
              <a:gd name="adj" fmla="val 6151"/>
            </a:avLst>
          </a:prstGeom>
          <a:solidFill>
            <a:srgbClr val="272525"/>
          </a:solidFill>
          <a:ln w="15240">
            <a:solidFill>
              <a:srgbClr val="2A1999"/>
            </a:solidFill>
            <a:prstDash val="solid"/>
          </a:ln>
        </p:spPr>
        <p:txBody>
          <a:bodyPr/>
          <a:lstStyle/>
          <a:p>
            <a:endParaRPr lang="en-US"/>
          </a:p>
        </p:txBody>
      </p:sp>
      <p:sp>
        <p:nvSpPr>
          <p:cNvPr id="95" name="Shape 44">
            <a:extLst>
              <a:ext uri="{FF2B5EF4-FFF2-40B4-BE49-F238E27FC236}">
                <a16:creationId xmlns:a16="http://schemas.microsoft.com/office/drawing/2014/main" id="{2870807E-4677-EB63-07F7-46CA86F8D2B1}"/>
              </a:ext>
            </a:extLst>
          </p:cNvPr>
          <p:cNvSpPr/>
          <p:nvPr/>
        </p:nvSpPr>
        <p:spPr>
          <a:xfrm>
            <a:off x="3417689" y="7089517"/>
            <a:ext cx="453628" cy="743903"/>
          </a:xfrm>
          <a:prstGeom prst="roundRect">
            <a:avLst>
              <a:gd name="adj" fmla="val 6469"/>
            </a:avLst>
          </a:prstGeom>
          <a:solidFill>
            <a:srgbClr val="110080"/>
          </a:solidFill>
          <a:ln/>
        </p:spPr>
        <p:txBody>
          <a:bodyPr/>
          <a:lstStyle/>
          <a:p>
            <a:endParaRPr lang="en-US"/>
          </a:p>
        </p:txBody>
      </p:sp>
      <p:sp>
        <p:nvSpPr>
          <p:cNvPr id="96" name="Text 45">
            <a:extLst>
              <a:ext uri="{FF2B5EF4-FFF2-40B4-BE49-F238E27FC236}">
                <a16:creationId xmlns:a16="http://schemas.microsoft.com/office/drawing/2014/main" id="{B01364F4-3C89-8C54-A108-EE7FC903F960}"/>
              </a:ext>
            </a:extLst>
          </p:cNvPr>
          <p:cNvSpPr/>
          <p:nvPr/>
        </p:nvSpPr>
        <p:spPr>
          <a:xfrm>
            <a:off x="3555683" y="7355145"/>
            <a:ext cx="170021" cy="21264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1300" b="1">
                <a:solidFill>
                  <a:srgbClr val="E5E0DF"/>
                </a:solidFill>
                <a:latin typeface="Inter Bold" pitchFamily="34" charset="0"/>
                <a:ea typeface="Inter Bold" pitchFamily="34" charset="-122"/>
                <a:cs typeface="Inter Bold" pitchFamily="34" charset="-120"/>
              </a:rPr>
              <a:t>8</a:t>
            </a:r>
            <a:endParaRPr lang="en-US" sz="1300"/>
          </a:p>
        </p:txBody>
      </p:sp>
      <p:sp>
        <p:nvSpPr>
          <p:cNvPr id="97" name="Text 46">
            <a:extLst>
              <a:ext uri="{FF2B5EF4-FFF2-40B4-BE49-F238E27FC236}">
                <a16:creationId xmlns:a16="http://schemas.microsoft.com/office/drawing/2014/main" id="{ED4C9C29-0605-0BF5-8D5C-C685E9E012C9}"/>
              </a:ext>
            </a:extLst>
          </p:cNvPr>
          <p:cNvSpPr/>
          <p:nvPr/>
        </p:nvSpPr>
        <p:spPr>
          <a:xfrm>
            <a:off x="3927991" y="7202864"/>
            <a:ext cx="2130981" cy="177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en-US" sz="1100" b="1">
                <a:solidFill>
                  <a:srgbClr val="E5E0DF"/>
                </a:solidFill>
                <a:latin typeface="Inter Bold" pitchFamily="34" charset="0"/>
                <a:ea typeface="Inter Bold" pitchFamily="34" charset="-122"/>
                <a:cs typeface="Inter Bold" pitchFamily="34" charset="-120"/>
              </a:rPr>
              <a:t>Module 8 — Signup Page Tests</a:t>
            </a:r>
            <a:endParaRPr lang="en-US" sz="1100"/>
          </a:p>
        </p:txBody>
      </p:sp>
      <p:sp>
        <p:nvSpPr>
          <p:cNvPr id="98" name="Text 47">
            <a:extLst>
              <a:ext uri="{FF2B5EF4-FFF2-40B4-BE49-F238E27FC236}">
                <a16:creationId xmlns:a16="http://schemas.microsoft.com/office/drawing/2014/main" id="{32263855-0CA1-9867-39F0-0472E5D428FE}"/>
              </a:ext>
            </a:extLst>
          </p:cNvPr>
          <p:cNvSpPr/>
          <p:nvPr/>
        </p:nvSpPr>
        <p:spPr>
          <a:xfrm>
            <a:off x="3927991" y="7413962"/>
            <a:ext cx="7171373" cy="1360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050"/>
              </a:lnSpc>
              <a:buNone/>
            </a:pPr>
            <a:r>
              <a:rPr lang="en-US" sz="850">
                <a:solidFill>
                  <a:srgbClr val="E5E0DF"/>
                </a:solidFill>
                <a:latin typeface="Inter" pitchFamily="34" charset="0"/>
                <a:ea typeface="Inter" pitchFamily="34" charset="-122"/>
                <a:cs typeface="Inter" pitchFamily="34" charset="-120"/>
              </a:rPr>
              <a:t>(7 tests)</a:t>
            </a:r>
            <a:endParaRPr lang="en-US" sz="850"/>
          </a:p>
        </p:txBody>
      </p:sp>
      <p:sp>
        <p:nvSpPr>
          <p:cNvPr id="99" name="Text 48">
            <a:extLst>
              <a:ext uri="{FF2B5EF4-FFF2-40B4-BE49-F238E27FC236}">
                <a16:creationId xmlns:a16="http://schemas.microsoft.com/office/drawing/2014/main" id="{4E6C58A5-72CF-9376-3040-F81F48CCCF7F}"/>
              </a:ext>
            </a:extLst>
          </p:cNvPr>
          <p:cNvSpPr/>
          <p:nvPr/>
        </p:nvSpPr>
        <p:spPr>
          <a:xfrm>
            <a:off x="3927991" y="7583983"/>
            <a:ext cx="7171373" cy="1360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Page load, email field, password field, username field, create account button, sign in link, privacy/terms link</a:t>
            </a:r>
            <a:endParaRPr lang="en-US" sz="850"/>
          </a:p>
        </p:txBody>
      </p:sp>
    </p:spTree>
    <p:extLst>
      <p:ext uri="{BB962C8B-B14F-4D97-AF65-F5344CB8AC3E}">
        <p14:creationId xmlns:p14="http://schemas.microsoft.com/office/powerpoint/2010/main" val="3526824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05A22FA-38A8-DFE8-B5A5-476F865925B4}"/>
              </a:ext>
            </a:extLst>
          </p:cNvPr>
          <p:cNvSpPr/>
          <p:nvPr/>
        </p:nvSpPr>
        <p:spPr>
          <a:xfrm>
            <a:off x="3402449" y="-42624"/>
            <a:ext cx="5049441" cy="354330"/>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750"/>
              </a:lnSpc>
              <a:buNone/>
            </a:pPr>
            <a:r>
              <a:rPr lang="en-US" sz="2200" b="1">
                <a:solidFill>
                  <a:srgbClr val="FFFFFF"/>
                </a:solidFill>
                <a:latin typeface="Inter Bold" pitchFamily="34" charset="0"/>
                <a:ea typeface="Inter Bold" pitchFamily="34" charset="-122"/>
                <a:cs typeface="Inter Bold" pitchFamily="34" charset="-120"/>
              </a:rPr>
              <a:t>Key Testing Techniques &amp; Strategies</a:t>
            </a:r>
            <a:endParaRPr lang="en-US" sz="2200"/>
          </a:p>
        </p:txBody>
      </p:sp>
      <p:sp>
        <p:nvSpPr>
          <p:cNvPr id="3" name="Text 1">
            <a:extLst>
              <a:ext uri="{FF2B5EF4-FFF2-40B4-BE49-F238E27FC236}">
                <a16:creationId xmlns:a16="http://schemas.microsoft.com/office/drawing/2014/main" id="{E5407EC1-2AC7-AE97-E007-C01509DD38AC}"/>
              </a:ext>
            </a:extLst>
          </p:cNvPr>
          <p:cNvSpPr/>
          <p:nvPr/>
        </p:nvSpPr>
        <p:spPr>
          <a:xfrm>
            <a:off x="3402449" y="334328"/>
            <a:ext cx="6090404" cy="28348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00"/>
              </a:lnSpc>
              <a:buNone/>
            </a:pPr>
            <a:r>
              <a:rPr lang="en-US" sz="1750" b="1">
                <a:solidFill>
                  <a:srgbClr val="FFFFFF"/>
                </a:solidFill>
                <a:latin typeface="Inter Bold" pitchFamily="34" charset="0"/>
                <a:ea typeface="Inter Bold" pitchFamily="34" charset="-122"/>
                <a:cs typeface="Inter Bold" pitchFamily="34" charset="-120"/>
              </a:rPr>
              <a:t>Advanced Selenium patterns used across the test suite</a:t>
            </a:r>
            <a:endParaRPr lang="en-US" sz="1750"/>
          </a:p>
        </p:txBody>
      </p:sp>
      <p:sp>
        <p:nvSpPr>
          <p:cNvPr id="4" name="Shape 2">
            <a:extLst>
              <a:ext uri="{FF2B5EF4-FFF2-40B4-BE49-F238E27FC236}">
                <a16:creationId xmlns:a16="http://schemas.microsoft.com/office/drawing/2014/main" id="{EEE4F1C5-8DCE-EEC6-0BF9-81B346C3B85B}"/>
              </a:ext>
            </a:extLst>
          </p:cNvPr>
          <p:cNvSpPr/>
          <p:nvPr/>
        </p:nvSpPr>
        <p:spPr>
          <a:xfrm>
            <a:off x="372170" y="2112398"/>
            <a:ext cx="5720286" cy="760214"/>
          </a:xfrm>
          <a:prstGeom prst="roundRect">
            <a:avLst>
              <a:gd name="adj" fmla="val 6266"/>
            </a:avLst>
          </a:prstGeom>
          <a:solidFill>
            <a:srgbClr val="272525"/>
          </a:solidFill>
          <a:ln w="15240">
            <a:solidFill>
              <a:srgbClr val="2A1999"/>
            </a:solidFill>
            <a:prstDash val="solid"/>
          </a:ln>
        </p:spPr>
        <p:txBody>
          <a:bodyPr/>
          <a:lstStyle/>
          <a:p>
            <a:endParaRPr lang="en-US"/>
          </a:p>
        </p:txBody>
      </p:sp>
      <p:sp>
        <p:nvSpPr>
          <p:cNvPr id="5" name="Shape 3">
            <a:extLst>
              <a:ext uri="{FF2B5EF4-FFF2-40B4-BE49-F238E27FC236}">
                <a16:creationId xmlns:a16="http://schemas.microsoft.com/office/drawing/2014/main" id="{D550C948-362B-EFB9-160B-FBBF68511FBE}"/>
              </a:ext>
            </a:extLst>
          </p:cNvPr>
          <p:cNvSpPr/>
          <p:nvPr/>
        </p:nvSpPr>
        <p:spPr>
          <a:xfrm>
            <a:off x="387410" y="2127638"/>
            <a:ext cx="453628" cy="729734"/>
          </a:xfrm>
          <a:prstGeom prst="roundRect">
            <a:avLst>
              <a:gd name="adj" fmla="val 6469"/>
            </a:avLst>
          </a:prstGeom>
          <a:solidFill>
            <a:srgbClr val="110080"/>
          </a:solidFill>
          <a:ln/>
        </p:spPr>
        <p:txBody>
          <a:bodyPr/>
          <a:lstStyle/>
          <a:p>
            <a:endParaRPr lang="en-US"/>
          </a:p>
        </p:txBody>
      </p:sp>
      <p:sp>
        <p:nvSpPr>
          <p:cNvPr id="6" name="Text 4">
            <a:extLst>
              <a:ext uri="{FF2B5EF4-FFF2-40B4-BE49-F238E27FC236}">
                <a16:creationId xmlns:a16="http://schemas.microsoft.com/office/drawing/2014/main" id="{EAE2A2E9-AF89-2CF2-DB3C-C093572378D9}"/>
              </a:ext>
            </a:extLst>
          </p:cNvPr>
          <p:cNvSpPr/>
          <p:nvPr/>
        </p:nvSpPr>
        <p:spPr>
          <a:xfrm>
            <a:off x="525404" y="2386123"/>
            <a:ext cx="170021" cy="21264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1300" b="1">
                <a:solidFill>
                  <a:srgbClr val="E5E0DF"/>
                </a:solidFill>
                <a:latin typeface="Inter Bold" pitchFamily="34" charset="0"/>
                <a:ea typeface="Inter Bold" pitchFamily="34" charset="-122"/>
                <a:cs typeface="Inter Bold" pitchFamily="34" charset="-120"/>
              </a:rPr>
              <a:t>1</a:t>
            </a:r>
            <a:endParaRPr lang="en-US" sz="1300"/>
          </a:p>
        </p:txBody>
      </p:sp>
      <p:sp>
        <p:nvSpPr>
          <p:cNvPr id="7" name="Text 5">
            <a:extLst>
              <a:ext uri="{FF2B5EF4-FFF2-40B4-BE49-F238E27FC236}">
                <a16:creationId xmlns:a16="http://schemas.microsoft.com/office/drawing/2014/main" id="{72C02E63-6FF2-F6CA-93D1-D4D9305740D6}"/>
              </a:ext>
            </a:extLst>
          </p:cNvPr>
          <p:cNvSpPr/>
          <p:nvPr/>
        </p:nvSpPr>
        <p:spPr>
          <a:xfrm>
            <a:off x="897712" y="2240986"/>
            <a:ext cx="1417558" cy="177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en-US" sz="1100" b="1">
                <a:solidFill>
                  <a:srgbClr val="E5E0DF"/>
                </a:solidFill>
                <a:latin typeface="Inter Bold" pitchFamily="34" charset="0"/>
                <a:ea typeface="Inter Bold" pitchFamily="34" charset="-122"/>
                <a:cs typeface="Inter Bold" pitchFamily="34" charset="-120"/>
              </a:rPr>
              <a:t>Screenshot Capture</a:t>
            </a:r>
            <a:endParaRPr lang="en-US" sz="1100"/>
          </a:p>
        </p:txBody>
      </p:sp>
      <p:sp>
        <p:nvSpPr>
          <p:cNvPr id="8" name="Text 6">
            <a:extLst>
              <a:ext uri="{FF2B5EF4-FFF2-40B4-BE49-F238E27FC236}">
                <a16:creationId xmlns:a16="http://schemas.microsoft.com/office/drawing/2014/main" id="{C6B18A42-F5A5-6DC8-ED53-AE56CC097522}"/>
              </a:ext>
            </a:extLst>
          </p:cNvPr>
          <p:cNvSpPr/>
          <p:nvPr/>
        </p:nvSpPr>
        <p:spPr>
          <a:xfrm>
            <a:off x="897712" y="2452083"/>
            <a:ext cx="7171373" cy="291941"/>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Full-page screenshots for visual regression and documentation</a:t>
            </a:r>
            <a:endParaRPr lang="en-US" sz="850"/>
          </a:p>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Automated capture on game pages and home page</a:t>
            </a:r>
            <a:endParaRPr lang="en-US" sz="850"/>
          </a:p>
        </p:txBody>
      </p:sp>
      <p:sp>
        <p:nvSpPr>
          <p:cNvPr id="9" name="Shape 7">
            <a:extLst>
              <a:ext uri="{FF2B5EF4-FFF2-40B4-BE49-F238E27FC236}">
                <a16:creationId xmlns:a16="http://schemas.microsoft.com/office/drawing/2014/main" id="{8F2B4159-9AA0-B51E-BF3E-40D19A0A1380}"/>
              </a:ext>
            </a:extLst>
          </p:cNvPr>
          <p:cNvSpPr/>
          <p:nvPr/>
        </p:nvSpPr>
        <p:spPr>
          <a:xfrm>
            <a:off x="372170" y="2929286"/>
            <a:ext cx="5720286" cy="760214"/>
          </a:xfrm>
          <a:prstGeom prst="roundRect">
            <a:avLst>
              <a:gd name="adj" fmla="val 6266"/>
            </a:avLst>
          </a:prstGeom>
          <a:solidFill>
            <a:srgbClr val="272525"/>
          </a:solidFill>
          <a:ln w="15240">
            <a:solidFill>
              <a:srgbClr val="2A1999"/>
            </a:solidFill>
            <a:prstDash val="solid"/>
          </a:ln>
        </p:spPr>
        <p:txBody>
          <a:bodyPr/>
          <a:lstStyle/>
          <a:p>
            <a:endParaRPr lang="en-US"/>
          </a:p>
        </p:txBody>
      </p:sp>
      <p:sp>
        <p:nvSpPr>
          <p:cNvPr id="10" name="Shape 8">
            <a:extLst>
              <a:ext uri="{FF2B5EF4-FFF2-40B4-BE49-F238E27FC236}">
                <a16:creationId xmlns:a16="http://schemas.microsoft.com/office/drawing/2014/main" id="{645160B9-4733-C892-5296-99EB4E488C68}"/>
              </a:ext>
            </a:extLst>
          </p:cNvPr>
          <p:cNvSpPr/>
          <p:nvPr/>
        </p:nvSpPr>
        <p:spPr>
          <a:xfrm>
            <a:off x="387410" y="2944526"/>
            <a:ext cx="453628" cy="729734"/>
          </a:xfrm>
          <a:prstGeom prst="roundRect">
            <a:avLst>
              <a:gd name="adj" fmla="val 6469"/>
            </a:avLst>
          </a:prstGeom>
          <a:solidFill>
            <a:srgbClr val="110080"/>
          </a:solidFill>
          <a:ln/>
        </p:spPr>
        <p:txBody>
          <a:bodyPr/>
          <a:lstStyle/>
          <a:p>
            <a:endParaRPr lang="en-US"/>
          </a:p>
        </p:txBody>
      </p:sp>
      <p:sp>
        <p:nvSpPr>
          <p:cNvPr id="11" name="Text 9">
            <a:extLst>
              <a:ext uri="{FF2B5EF4-FFF2-40B4-BE49-F238E27FC236}">
                <a16:creationId xmlns:a16="http://schemas.microsoft.com/office/drawing/2014/main" id="{FCAF808A-35D1-6620-3EA0-F05504FB8588}"/>
              </a:ext>
            </a:extLst>
          </p:cNvPr>
          <p:cNvSpPr/>
          <p:nvPr/>
        </p:nvSpPr>
        <p:spPr>
          <a:xfrm>
            <a:off x="525404" y="3203011"/>
            <a:ext cx="170021" cy="21264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1300" b="1">
                <a:solidFill>
                  <a:srgbClr val="E5E0DF"/>
                </a:solidFill>
                <a:latin typeface="Inter Bold" pitchFamily="34" charset="0"/>
                <a:ea typeface="Inter Bold" pitchFamily="34" charset="-122"/>
                <a:cs typeface="Inter Bold" pitchFamily="34" charset="-120"/>
              </a:rPr>
              <a:t>2</a:t>
            </a:r>
            <a:endParaRPr lang="en-US" sz="1300"/>
          </a:p>
        </p:txBody>
      </p:sp>
      <p:sp>
        <p:nvSpPr>
          <p:cNvPr id="12" name="Text 10">
            <a:extLst>
              <a:ext uri="{FF2B5EF4-FFF2-40B4-BE49-F238E27FC236}">
                <a16:creationId xmlns:a16="http://schemas.microsoft.com/office/drawing/2014/main" id="{4553303B-81B6-7534-272A-A212240857AF}"/>
              </a:ext>
            </a:extLst>
          </p:cNvPr>
          <p:cNvSpPr/>
          <p:nvPr/>
        </p:nvSpPr>
        <p:spPr>
          <a:xfrm>
            <a:off x="897712" y="3057873"/>
            <a:ext cx="1439108" cy="177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en-US" sz="1100" b="1">
                <a:solidFill>
                  <a:srgbClr val="E5E0DF"/>
                </a:solidFill>
                <a:latin typeface="Inter Bold" pitchFamily="34" charset="0"/>
                <a:ea typeface="Inter Bold" pitchFamily="34" charset="-122"/>
                <a:cs typeface="Inter Bold" pitchFamily="34" charset="-120"/>
              </a:rPr>
              <a:t>Async Wait Handling</a:t>
            </a:r>
            <a:endParaRPr lang="en-US" sz="1100"/>
          </a:p>
        </p:txBody>
      </p:sp>
      <p:sp>
        <p:nvSpPr>
          <p:cNvPr id="13" name="Text 11">
            <a:extLst>
              <a:ext uri="{FF2B5EF4-FFF2-40B4-BE49-F238E27FC236}">
                <a16:creationId xmlns:a16="http://schemas.microsoft.com/office/drawing/2014/main" id="{19DEC32F-35C6-AB9A-A321-08BCCD42D25B}"/>
              </a:ext>
            </a:extLst>
          </p:cNvPr>
          <p:cNvSpPr/>
          <p:nvPr/>
        </p:nvSpPr>
        <p:spPr>
          <a:xfrm>
            <a:off x="897712" y="3268971"/>
            <a:ext cx="7171373" cy="291941"/>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XHR content waits for game tiles and dynamic content</a:t>
            </a:r>
            <a:endParaRPr lang="en-US" sz="850"/>
          </a:p>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Proper synchronization for async-loaded elements</a:t>
            </a:r>
            <a:endParaRPr lang="en-US" sz="850"/>
          </a:p>
        </p:txBody>
      </p:sp>
      <p:sp>
        <p:nvSpPr>
          <p:cNvPr id="14" name="Shape 12">
            <a:extLst>
              <a:ext uri="{FF2B5EF4-FFF2-40B4-BE49-F238E27FC236}">
                <a16:creationId xmlns:a16="http://schemas.microsoft.com/office/drawing/2014/main" id="{69498308-4AFE-C744-8D4B-ED0935A58403}"/>
              </a:ext>
            </a:extLst>
          </p:cNvPr>
          <p:cNvSpPr/>
          <p:nvPr/>
        </p:nvSpPr>
        <p:spPr>
          <a:xfrm>
            <a:off x="372170" y="3746174"/>
            <a:ext cx="5642849" cy="1071920"/>
          </a:xfrm>
          <a:prstGeom prst="roundRect">
            <a:avLst>
              <a:gd name="adj" fmla="val 4444"/>
            </a:avLst>
          </a:prstGeom>
          <a:solidFill>
            <a:srgbClr val="272525"/>
          </a:solidFill>
          <a:ln w="15240">
            <a:solidFill>
              <a:srgbClr val="2A1999"/>
            </a:solidFill>
            <a:prstDash val="solid"/>
          </a:ln>
        </p:spPr>
        <p:txBody>
          <a:bodyPr/>
          <a:lstStyle/>
          <a:p>
            <a:endParaRPr lang="en-US"/>
          </a:p>
        </p:txBody>
      </p:sp>
      <p:sp>
        <p:nvSpPr>
          <p:cNvPr id="15" name="Shape 13">
            <a:extLst>
              <a:ext uri="{FF2B5EF4-FFF2-40B4-BE49-F238E27FC236}">
                <a16:creationId xmlns:a16="http://schemas.microsoft.com/office/drawing/2014/main" id="{227E01E2-6369-6C36-5CE1-0C10389B7CEC}"/>
              </a:ext>
            </a:extLst>
          </p:cNvPr>
          <p:cNvSpPr/>
          <p:nvPr/>
        </p:nvSpPr>
        <p:spPr>
          <a:xfrm>
            <a:off x="387410" y="3761414"/>
            <a:ext cx="453628" cy="1041440"/>
          </a:xfrm>
          <a:prstGeom prst="roundRect">
            <a:avLst>
              <a:gd name="adj" fmla="val 6469"/>
            </a:avLst>
          </a:prstGeom>
          <a:solidFill>
            <a:srgbClr val="110080"/>
          </a:solidFill>
          <a:ln/>
        </p:spPr>
        <p:txBody>
          <a:bodyPr/>
          <a:lstStyle/>
          <a:p>
            <a:endParaRPr lang="en-US"/>
          </a:p>
        </p:txBody>
      </p:sp>
      <p:sp>
        <p:nvSpPr>
          <p:cNvPr id="16" name="Text 14">
            <a:extLst>
              <a:ext uri="{FF2B5EF4-FFF2-40B4-BE49-F238E27FC236}">
                <a16:creationId xmlns:a16="http://schemas.microsoft.com/office/drawing/2014/main" id="{6429AEA7-F339-BC62-2815-B5DB6D7C1232}"/>
              </a:ext>
            </a:extLst>
          </p:cNvPr>
          <p:cNvSpPr/>
          <p:nvPr/>
        </p:nvSpPr>
        <p:spPr>
          <a:xfrm>
            <a:off x="525404" y="4175751"/>
            <a:ext cx="170021" cy="21264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1300" b="1">
                <a:solidFill>
                  <a:srgbClr val="E5E0DF"/>
                </a:solidFill>
                <a:latin typeface="Inter Bold" pitchFamily="34" charset="0"/>
                <a:ea typeface="Inter Bold" pitchFamily="34" charset="-122"/>
                <a:cs typeface="Inter Bold" pitchFamily="34" charset="-120"/>
              </a:rPr>
              <a:t>3</a:t>
            </a:r>
            <a:endParaRPr lang="en-US" sz="1300"/>
          </a:p>
        </p:txBody>
      </p:sp>
      <p:sp>
        <p:nvSpPr>
          <p:cNvPr id="17" name="Text 15">
            <a:extLst>
              <a:ext uri="{FF2B5EF4-FFF2-40B4-BE49-F238E27FC236}">
                <a16:creationId xmlns:a16="http://schemas.microsoft.com/office/drawing/2014/main" id="{2E08C6FE-2831-B5D0-A11C-89803B970491}"/>
              </a:ext>
            </a:extLst>
          </p:cNvPr>
          <p:cNvSpPr/>
          <p:nvPr/>
        </p:nvSpPr>
        <p:spPr>
          <a:xfrm>
            <a:off x="897712" y="3874761"/>
            <a:ext cx="1686044" cy="177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en-US" sz="1100" b="1">
                <a:solidFill>
                  <a:srgbClr val="E5E0DF"/>
                </a:solidFill>
                <a:latin typeface="Inter Bold" pitchFamily="34" charset="0"/>
                <a:ea typeface="Inter Bold" pitchFamily="34" charset="-122"/>
                <a:cs typeface="Inter Bold" pitchFamily="34" charset="-120"/>
              </a:rPr>
              <a:t>Form Interaction Testing</a:t>
            </a:r>
            <a:endParaRPr lang="en-US" sz="1100"/>
          </a:p>
        </p:txBody>
      </p:sp>
      <p:sp>
        <p:nvSpPr>
          <p:cNvPr id="18" name="Text 16">
            <a:extLst>
              <a:ext uri="{FF2B5EF4-FFF2-40B4-BE49-F238E27FC236}">
                <a16:creationId xmlns:a16="http://schemas.microsoft.com/office/drawing/2014/main" id="{4B343B95-B66A-B776-1B07-8AEA7EBD76B7}"/>
              </a:ext>
            </a:extLst>
          </p:cNvPr>
          <p:cNvSpPr/>
          <p:nvPr/>
        </p:nvSpPr>
        <p:spPr>
          <a:xfrm>
            <a:off x="897712" y="4085859"/>
            <a:ext cx="7171373" cy="603647"/>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Email/password field validation</a:t>
            </a:r>
            <a:endParaRPr lang="en-US" sz="850"/>
          </a:p>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Empty form submission handling</a:t>
            </a:r>
            <a:endParaRPr lang="en-US" sz="850"/>
          </a:p>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Invalid credential flows</a:t>
            </a:r>
            <a:endParaRPr lang="en-US" sz="850"/>
          </a:p>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Keyboard input verification</a:t>
            </a:r>
            <a:endParaRPr lang="en-US" sz="850"/>
          </a:p>
        </p:txBody>
      </p:sp>
      <p:sp>
        <p:nvSpPr>
          <p:cNvPr id="19" name="Shape 17">
            <a:extLst>
              <a:ext uri="{FF2B5EF4-FFF2-40B4-BE49-F238E27FC236}">
                <a16:creationId xmlns:a16="http://schemas.microsoft.com/office/drawing/2014/main" id="{3DC9427C-CB56-6C08-604E-2D9712A0CA01}"/>
              </a:ext>
            </a:extLst>
          </p:cNvPr>
          <p:cNvSpPr/>
          <p:nvPr/>
        </p:nvSpPr>
        <p:spPr>
          <a:xfrm>
            <a:off x="372170" y="4874767"/>
            <a:ext cx="5624593" cy="1071920"/>
          </a:xfrm>
          <a:prstGeom prst="roundRect">
            <a:avLst>
              <a:gd name="adj" fmla="val 4444"/>
            </a:avLst>
          </a:prstGeom>
          <a:solidFill>
            <a:srgbClr val="272525"/>
          </a:solidFill>
          <a:ln w="15240">
            <a:solidFill>
              <a:srgbClr val="2A1999"/>
            </a:solidFill>
            <a:prstDash val="solid"/>
          </a:ln>
        </p:spPr>
        <p:txBody>
          <a:bodyPr/>
          <a:lstStyle/>
          <a:p>
            <a:endParaRPr lang="en-US"/>
          </a:p>
        </p:txBody>
      </p:sp>
      <p:sp>
        <p:nvSpPr>
          <p:cNvPr id="20" name="Shape 18">
            <a:extLst>
              <a:ext uri="{FF2B5EF4-FFF2-40B4-BE49-F238E27FC236}">
                <a16:creationId xmlns:a16="http://schemas.microsoft.com/office/drawing/2014/main" id="{F542E5D5-7A5A-836A-C33D-DFF52E8D664B}"/>
              </a:ext>
            </a:extLst>
          </p:cNvPr>
          <p:cNvSpPr/>
          <p:nvPr/>
        </p:nvSpPr>
        <p:spPr>
          <a:xfrm>
            <a:off x="387410" y="4890007"/>
            <a:ext cx="453628" cy="1041440"/>
          </a:xfrm>
          <a:prstGeom prst="roundRect">
            <a:avLst>
              <a:gd name="adj" fmla="val 6469"/>
            </a:avLst>
          </a:prstGeom>
          <a:solidFill>
            <a:srgbClr val="110080"/>
          </a:solidFill>
          <a:ln/>
        </p:spPr>
        <p:txBody>
          <a:bodyPr/>
          <a:lstStyle/>
          <a:p>
            <a:endParaRPr lang="en-US"/>
          </a:p>
        </p:txBody>
      </p:sp>
      <p:sp>
        <p:nvSpPr>
          <p:cNvPr id="21" name="Text 19">
            <a:extLst>
              <a:ext uri="{FF2B5EF4-FFF2-40B4-BE49-F238E27FC236}">
                <a16:creationId xmlns:a16="http://schemas.microsoft.com/office/drawing/2014/main" id="{EB750977-C988-3388-B953-53BE52556BAB}"/>
              </a:ext>
            </a:extLst>
          </p:cNvPr>
          <p:cNvSpPr/>
          <p:nvPr/>
        </p:nvSpPr>
        <p:spPr>
          <a:xfrm>
            <a:off x="525404" y="5304345"/>
            <a:ext cx="170021" cy="21264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1300" b="1">
                <a:solidFill>
                  <a:srgbClr val="E5E0DF"/>
                </a:solidFill>
                <a:latin typeface="Inter Bold" pitchFamily="34" charset="0"/>
                <a:ea typeface="Inter Bold" pitchFamily="34" charset="-122"/>
                <a:cs typeface="Inter Bold" pitchFamily="34" charset="-120"/>
              </a:rPr>
              <a:t>4</a:t>
            </a:r>
            <a:endParaRPr lang="en-US" sz="1300"/>
          </a:p>
        </p:txBody>
      </p:sp>
      <p:sp>
        <p:nvSpPr>
          <p:cNvPr id="22" name="Text 20">
            <a:extLst>
              <a:ext uri="{FF2B5EF4-FFF2-40B4-BE49-F238E27FC236}">
                <a16:creationId xmlns:a16="http://schemas.microsoft.com/office/drawing/2014/main" id="{2EAF4DF4-B873-1934-E9EA-CBD7DCDAA48C}"/>
              </a:ext>
            </a:extLst>
          </p:cNvPr>
          <p:cNvSpPr/>
          <p:nvPr/>
        </p:nvSpPr>
        <p:spPr>
          <a:xfrm>
            <a:off x="897712" y="5003355"/>
            <a:ext cx="2454712" cy="177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en-US" sz="1100" b="1">
                <a:solidFill>
                  <a:srgbClr val="E5E0DF"/>
                </a:solidFill>
                <a:latin typeface="Inter Bold" pitchFamily="34" charset="0"/>
                <a:ea typeface="Inter Bold" pitchFamily="34" charset="-122"/>
                <a:cs typeface="Inter Bold" pitchFamily="34" charset="-120"/>
              </a:rPr>
              <a:t>Navigation &amp; Cross-Page Validation</a:t>
            </a:r>
            <a:endParaRPr lang="en-US" sz="1100"/>
          </a:p>
        </p:txBody>
      </p:sp>
      <p:sp>
        <p:nvSpPr>
          <p:cNvPr id="23" name="Text 21">
            <a:extLst>
              <a:ext uri="{FF2B5EF4-FFF2-40B4-BE49-F238E27FC236}">
                <a16:creationId xmlns:a16="http://schemas.microsoft.com/office/drawing/2014/main" id="{2725697C-D13C-EB83-A562-09952F467BEA}"/>
              </a:ext>
            </a:extLst>
          </p:cNvPr>
          <p:cNvSpPr/>
          <p:nvPr/>
        </p:nvSpPr>
        <p:spPr>
          <a:xfrm>
            <a:off x="897712" y="5214452"/>
            <a:ext cx="7171373" cy="603647"/>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Logo click behavior</a:t>
            </a:r>
            <a:endParaRPr lang="en-US" sz="850"/>
          </a:p>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Browser back button stability</a:t>
            </a:r>
            <a:endParaRPr lang="en-US" sz="850"/>
          </a:p>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Header persistence across pages</a:t>
            </a:r>
            <a:endParaRPr lang="en-US" sz="850"/>
          </a:p>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Hover state stability</a:t>
            </a:r>
            <a:endParaRPr lang="en-US" sz="850"/>
          </a:p>
        </p:txBody>
      </p:sp>
      <p:sp>
        <p:nvSpPr>
          <p:cNvPr id="24" name="Shape 22">
            <a:extLst>
              <a:ext uri="{FF2B5EF4-FFF2-40B4-BE49-F238E27FC236}">
                <a16:creationId xmlns:a16="http://schemas.microsoft.com/office/drawing/2014/main" id="{857A0EE8-577E-ACA8-1F91-E882DEB5E89D}"/>
              </a:ext>
            </a:extLst>
          </p:cNvPr>
          <p:cNvSpPr/>
          <p:nvPr/>
        </p:nvSpPr>
        <p:spPr>
          <a:xfrm>
            <a:off x="6432728" y="2082023"/>
            <a:ext cx="7825502" cy="916067"/>
          </a:xfrm>
          <a:prstGeom prst="roundRect">
            <a:avLst>
              <a:gd name="adj" fmla="val 5200"/>
            </a:avLst>
          </a:prstGeom>
          <a:solidFill>
            <a:srgbClr val="272525"/>
          </a:solidFill>
          <a:ln w="15240">
            <a:solidFill>
              <a:srgbClr val="2A1999"/>
            </a:solidFill>
            <a:prstDash val="solid"/>
          </a:ln>
        </p:spPr>
        <p:txBody>
          <a:bodyPr/>
          <a:lstStyle/>
          <a:p>
            <a:endParaRPr lang="en-US"/>
          </a:p>
        </p:txBody>
      </p:sp>
      <p:sp>
        <p:nvSpPr>
          <p:cNvPr id="25" name="Shape 23">
            <a:extLst>
              <a:ext uri="{FF2B5EF4-FFF2-40B4-BE49-F238E27FC236}">
                <a16:creationId xmlns:a16="http://schemas.microsoft.com/office/drawing/2014/main" id="{E1F917F7-9C8E-B957-8BC0-5B835C0FA293}"/>
              </a:ext>
            </a:extLst>
          </p:cNvPr>
          <p:cNvSpPr/>
          <p:nvPr/>
        </p:nvSpPr>
        <p:spPr>
          <a:xfrm>
            <a:off x="6447968" y="2097263"/>
            <a:ext cx="453628" cy="885587"/>
          </a:xfrm>
          <a:prstGeom prst="roundRect">
            <a:avLst>
              <a:gd name="adj" fmla="val 6469"/>
            </a:avLst>
          </a:prstGeom>
          <a:solidFill>
            <a:srgbClr val="110080"/>
          </a:solidFill>
          <a:ln/>
        </p:spPr>
        <p:txBody>
          <a:bodyPr/>
          <a:lstStyle/>
          <a:p>
            <a:endParaRPr lang="en-US"/>
          </a:p>
        </p:txBody>
      </p:sp>
      <p:sp>
        <p:nvSpPr>
          <p:cNvPr id="26" name="Text 24">
            <a:extLst>
              <a:ext uri="{FF2B5EF4-FFF2-40B4-BE49-F238E27FC236}">
                <a16:creationId xmlns:a16="http://schemas.microsoft.com/office/drawing/2014/main" id="{6C9E1AD2-0585-94DF-6B61-C3AB5ED79E50}"/>
              </a:ext>
            </a:extLst>
          </p:cNvPr>
          <p:cNvSpPr/>
          <p:nvPr/>
        </p:nvSpPr>
        <p:spPr>
          <a:xfrm>
            <a:off x="6585962" y="2433733"/>
            <a:ext cx="170021" cy="21264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1300" b="1">
                <a:solidFill>
                  <a:srgbClr val="E5E0DF"/>
                </a:solidFill>
                <a:latin typeface="Inter Bold" pitchFamily="34" charset="0"/>
                <a:ea typeface="Inter Bold" pitchFamily="34" charset="-122"/>
                <a:cs typeface="Inter Bold" pitchFamily="34" charset="-120"/>
              </a:rPr>
              <a:t>5</a:t>
            </a:r>
            <a:endParaRPr lang="en-US" sz="1300"/>
          </a:p>
        </p:txBody>
      </p:sp>
      <p:sp>
        <p:nvSpPr>
          <p:cNvPr id="27" name="Text 25">
            <a:extLst>
              <a:ext uri="{FF2B5EF4-FFF2-40B4-BE49-F238E27FC236}">
                <a16:creationId xmlns:a16="http://schemas.microsoft.com/office/drawing/2014/main" id="{E915381D-16F2-0DD9-E18D-592D6BD51E02}"/>
              </a:ext>
            </a:extLst>
          </p:cNvPr>
          <p:cNvSpPr/>
          <p:nvPr/>
        </p:nvSpPr>
        <p:spPr>
          <a:xfrm>
            <a:off x="6958270" y="2210610"/>
            <a:ext cx="2081093" cy="177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en-US" sz="1100" b="1">
                <a:solidFill>
                  <a:srgbClr val="E5E0DF"/>
                </a:solidFill>
                <a:latin typeface="Inter Bold" pitchFamily="34" charset="0"/>
                <a:ea typeface="Inter Bold" pitchFamily="34" charset="-122"/>
                <a:cs typeface="Inter Bold" pitchFamily="34" charset="-120"/>
              </a:rPr>
              <a:t>Attribute &amp; Selector Validation</a:t>
            </a:r>
            <a:endParaRPr lang="en-US" sz="1100"/>
          </a:p>
        </p:txBody>
      </p:sp>
      <p:sp>
        <p:nvSpPr>
          <p:cNvPr id="28" name="Text 26">
            <a:extLst>
              <a:ext uri="{FF2B5EF4-FFF2-40B4-BE49-F238E27FC236}">
                <a16:creationId xmlns:a16="http://schemas.microsoft.com/office/drawing/2014/main" id="{9980C345-841E-082A-3236-A81CCAB2BD0A}"/>
              </a:ext>
            </a:extLst>
          </p:cNvPr>
          <p:cNvSpPr/>
          <p:nvPr/>
        </p:nvSpPr>
        <p:spPr>
          <a:xfrm>
            <a:off x="6958270" y="2421708"/>
            <a:ext cx="7171373" cy="447794"/>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Cart icon attribute chains (href, aria-label, data-cy, hook-test)</a:t>
            </a:r>
            <a:endParaRPr lang="en-US" sz="850"/>
          </a:p>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Fallback selector strategies</a:t>
            </a:r>
            <a:endParaRPr lang="en-US" sz="850"/>
          </a:p>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Non-empty text assertions</a:t>
            </a:r>
            <a:endParaRPr lang="en-US" sz="850"/>
          </a:p>
        </p:txBody>
      </p:sp>
      <p:sp>
        <p:nvSpPr>
          <p:cNvPr id="29" name="Shape 27">
            <a:extLst>
              <a:ext uri="{FF2B5EF4-FFF2-40B4-BE49-F238E27FC236}">
                <a16:creationId xmlns:a16="http://schemas.microsoft.com/office/drawing/2014/main" id="{4A5CB61C-932C-7A23-D1DF-A60FCD5F2952}"/>
              </a:ext>
            </a:extLst>
          </p:cNvPr>
          <p:cNvSpPr/>
          <p:nvPr/>
        </p:nvSpPr>
        <p:spPr>
          <a:xfrm>
            <a:off x="6417488" y="3152693"/>
            <a:ext cx="7825502" cy="916067"/>
          </a:xfrm>
          <a:prstGeom prst="roundRect">
            <a:avLst>
              <a:gd name="adj" fmla="val 5200"/>
            </a:avLst>
          </a:prstGeom>
          <a:solidFill>
            <a:srgbClr val="272525"/>
          </a:solidFill>
          <a:ln w="15240">
            <a:solidFill>
              <a:srgbClr val="2A1999"/>
            </a:solidFill>
            <a:prstDash val="solid"/>
          </a:ln>
        </p:spPr>
        <p:txBody>
          <a:bodyPr/>
          <a:lstStyle/>
          <a:p>
            <a:endParaRPr lang="en-US"/>
          </a:p>
        </p:txBody>
      </p:sp>
      <p:sp>
        <p:nvSpPr>
          <p:cNvPr id="30" name="Shape 28">
            <a:extLst>
              <a:ext uri="{FF2B5EF4-FFF2-40B4-BE49-F238E27FC236}">
                <a16:creationId xmlns:a16="http://schemas.microsoft.com/office/drawing/2014/main" id="{DEF14B37-5209-D834-378D-58960C29A7E6}"/>
              </a:ext>
            </a:extLst>
          </p:cNvPr>
          <p:cNvSpPr/>
          <p:nvPr/>
        </p:nvSpPr>
        <p:spPr>
          <a:xfrm>
            <a:off x="6432728" y="3167933"/>
            <a:ext cx="453628" cy="885587"/>
          </a:xfrm>
          <a:prstGeom prst="roundRect">
            <a:avLst>
              <a:gd name="adj" fmla="val 6469"/>
            </a:avLst>
          </a:prstGeom>
          <a:solidFill>
            <a:srgbClr val="110080"/>
          </a:solidFill>
          <a:ln/>
        </p:spPr>
        <p:txBody>
          <a:bodyPr/>
          <a:lstStyle/>
          <a:p>
            <a:endParaRPr lang="en-US"/>
          </a:p>
        </p:txBody>
      </p:sp>
      <p:sp>
        <p:nvSpPr>
          <p:cNvPr id="31" name="Text 29">
            <a:extLst>
              <a:ext uri="{FF2B5EF4-FFF2-40B4-BE49-F238E27FC236}">
                <a16:creationId xmlns:a16="http://schemas.microsoft.com/office/drawing/2014/main" id="{FB98C5B6-2630-11A8-6E8F-5606EF973E31}"/>
              </a:ext>
            </a:extLst>
          </p:cNvPr>
          <p:cNvSpPr/>
          <p:nvPr/>
        </p:nvSpPr>
        <p:spPr>
          <a:xfrm>
            <a:off x="6570722" y="3504404"/>
            <a:ext cx="170021" cy="21264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1300" b="1">
                <a:solidFill>
                  <a:srgbClr val="E5E0DF"/>
                </a:solidFill>
                <a:latin typeface="Inter Bold" pitchFamily="34" charset="0"/>
                <a:ea typeface="Inter Bold" pitchFamily="34" charset="-122"/>
                <a:cs typeface="Inter Bold" pitchFamily="34" charset="-120"/>
              </a:rPr>
              <a:t>6</a:t>
            </a:r>
            <a:endParaRPr lang="en-US" sz="1300"/>
          </a:p>
        </p:txBody>
      </p:sp>
      <p:sp>
        <p:nvSpPr>
          <p:cNvPr id="32" name="Text 30">
            <a:extLst>
              <a:ext uri="{FF2B5EF4-FFF2-40B4-BE49-F238E27FC236}">
                <a16:creationId xmlns:a16="http://schemas.microsoft.com/office/drawing/2014/main" id="{5F082DFC-6706-608C-2610-1A81483E146F}"/>
              </a:ext>
            </a:extLst>
          </p:cNvPr>
          <p:cNvSpPr/>
          <p:nvPr/>
        </p:nvSpPr>
        <p:spPr>
          <a:xfrm>
            <a:off x="6943030" y="3281281"/>
            <a:ext cx="1712000" cy="177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en-US" sz="1100" b="1">
                <a:solidFill>
                  <a:srgbClr val="E5E0DF"/>
                </a:solidFill>
                <a:latin typeface="Inter Bold" pitchFamily="34" charset="0"/>
                <a:ea typeface="Inter Bold" pitchFamily="34" charset="-122"/>
                <a:cs typeface="Inter Bold" pitchFamily="34" charset="-120"/>
              </a:rPr>
              <a:t>Scroll &amp; Visibility Testing</a:t>
            </a:r>
            <a:endParaRPr lang="en-US" sz="1100"/>
          </a:p>
        </p:txBody>
      </p:sp>
      <p:sp>
        <p:nvSpPr>
          <p:cNvPr id="33" name="Text 31">
            <a:extLst>
              <a:ext uri="{FF2B5EF4-FFF2-40B4-BE49-F238E27FC236}">
                <a16:creationId xmlns:a16="http://schemas.microsoft.com/office/drawing/2014/main" id="{F42C041F-B3A1-C13A-61A2-9CD6F496FF8F}"/>
              </a:ext>
            </a:extLst>
          </p:cNvPr>
          <p:cNvSpPr/>
          <p:nvPr/>
        </p:nvSpPr>
        <p:spPr>
          <a:xfrm>
            <a:off x="6943030" y="3492378"/>
            <a:ext cx="7171373" cy="447794"/>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Scroll-into-view for system requirements</a:t>
            </a:r>
            <a:endParaRPr lang="en-US" sz="850"/>
          </a:p>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Page scrollability to bottom</a:t>
            </a:r>
            <a:endParaRPr lang="en-US" sz="850"/>
          </a:p>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Footer presence validation</a:t>
            </a:r>
            <a:endParaRPr lang="en-US" sz="850"/>
          </a:p>
        </p:txBody>
      </p:sp>
      <p:sp>
        <p:nvSpPr>
          <p:cNvPr id="34" name="Shape 32">
            <a:extLst>
              <a:ext uri="{FF2B5EF4-FFF2-40B4-BE49-F238E27FC236}">
                <a16:creationId xmlns:a16="http://schemas.microsoft.com/office/drawing/2014/main" id="{79DFF3FB-935A-360B-B47F-32C125662B84}"/>
              </a:ext>
            </a:extLst>
          </p:cNvPr>
          <p:cNvSpPr/>
          <p:nvPr/>
        </p:nvSpPr>
        <p:spPr>
          <a:xfrm>
            <a:off x="6417488" y="4125434"/>
            <a:ext cx="7825502" cy="916067"/>
          </a:xfrm>
          <a:prstGeom prst="roundRect">
            <a:avLst>
              <a:gd name="adj" fmla="val 5200"/>
            </a:avLst>
          </a:prstGeom>
          <a:solidFill>
            <a:srgbClr val="272525"/>
          </a:solidFill>
          <a:ln w="15240">
            <a:solidFill>
              <a:srgbClr val="2A1999"/>
            </a:solidFill>
            <a:prstDash val="solid"/>
          </a:ln>
        </p:spPr>
        <p:txBody>
          <a:bodyPr/>
          <a:lstStyle/>
          <a:p>
            <a:endParaRPr lang="en-US"/>
          </a:p>
        </p:txBody>
      </p:sp>
      <p:sp>
        <p:nvSpPr>
          <p:cNvPr id="35" name="Shape 33">
            <a:extLst>
              <a:ext uri="{FF2B5EF4-FFF2-40B4-BE49-F238E27FC236}">
                <a16:creationId xmlns:a16="http://schemas.microsoft.com/office/drawing/2014/main" id="{2D04CA40-0D94-3FA0-B2EF-8C04A1C0D12A}"/>
              </a:ext>
            </a:extLst>
          </p:cNvPr>
          <p:cNvSpPr/>
          <p:nvPr/>
        </p:nvSpPr>
        <p:spPr>
          <a:xfrm>
            <a:off x="6432728" y="4140674"/>
            <a:ext cx="453628" cy="885587"/>
          </a:xfrm>
          <a:prstGeom prst="roundRect">
            <a:avLst>
              <a:gd name="adj" fmla="val 6469"/>
            </a:avLst>
          </a:prstGeom>
          <a:solidFill>
            <a:srgbClr val="110080"/>
          </a:solidFill>
          <a:ln/>
        </p:spPr>
        <p:txBody>
          <a:bodyPr/>
          <a:lstStyle/>
          <a:p>
            <a:endParaRPr lang="en-US"/>
          </a:p>
        </p:txBody>
      </p:sp>
      <p:sp>
        <p:nvSpPr>
          <p:cNvPr id="36" name="Text 34">
            <a:extLst>
              <a:ext uri="{FF2B5EF4-FFF2-40B4-BE49-F238E27FC236}">
                <a16:creationId xmlns:a16="http://schemas.microsoft.com/office/drawing/2014/main" id="{5A4E45FF-BE66-D426-7ED4-D68FCE155F98}"/>
              </a:ext>
            </a:extLst>
          </p:cNvPr>
          <p:cNvSpPr/>
          <p:nvPr/>
        </p:nvSpPr>
        <p:spPr>
          <a:xfrm>
            <a:off x="6570722" y="4477144"/>
            <a:ext cx="170021" cy="21264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1300" b="1">
                <a:solidFill>
                  <a:srgbClr val="E5E0DF"/>
                </a:solidFill>
                <a:latin typeface="Inter Bold" pitchFamily="34" charset="0"/>
                <a:ea typeface="Inter Bold" pitchFamily="34" charset="-122"/>
                <a:cs typeface="Inter Bold" pitchFamily="34" charset="-120"/>
              </a:rPr>
              <a:t>7</a:t>
            </a:r>
            <a:endParaRPr lang="en-US" sz="1300"/>
          </a:p>
        </p:txBody>
      </p:sp>
      <p:sp>
        <p:nvSpPr>
          <p:cNvPr id="37" name="Text 35">
            <a:extLst>
              <a:ext uri="{FF2B5EF4-FFF2-40B4-BE49-F238E27FC236}">
                <a16:creationId xmlns:a16="http://schemas.microsoft.com/office/drawing/2014/main" id="{41CB2CF8-E60C-96B4-6B6F-8E1381A57C62}"/>
              </a:ext>
            </a:extLst>
          </p:cNvPr>
          <p:cNvSpPr/>
          <p:nvPr/>
        </p:nvSpPr>
        <p:spPr>
          <a:xfrm>
            <a:off x="6943030" y="4254021"/>
            <a:ext cx="2054066" cy="177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en-US" sz="1100" b="1">
                <a:solidFill>
                  <a:srgbClr val="E5E0DF"/>
                </a:solidFill>
                <a:latin typeface="Inter Bold" pitchFamily="34" charset="0"/>
                <a:ea typeface="Inter Bold" pitchFamily="34" charset="-122"/>
                <a:cs typeface="Inter Bold" pitchFamily="34" charset="-120"/>
              </a:rPr>
              <a:t>Security &amp; Protocol Validation</a:t>
            </a:r>
            <a:endParaRPr lang="en-US" sz="1100"/>
          </a:p>
        </p:txBody>
      </p:sp>
      <p:sp>
        <p:nvSpPr>
          <p:cNvPr id="38" name="Text 36">
            <a:extLst>
              <a:ext uri="{FF2B5EF4-FFF2-40B4-BE49-F238E27FC236}">
                <a16:creationId xmlns:a16="http://schemas.microsoft.com/office/drawing/2014/main" id="{2099559C-E626-18F9-0E40-F19D2A071803}"/>
              </a:ext>
            </a:extLst>
          </p:cNvPr>
          <p:cNvSpPr/>
          <p:nvPr/>
        </p:nvSpPr>
        <p:spPr>
          <a:xfrm>
            <a:off x="6943030" y="4465119"/>
            <a:ext cx="7171373" cy="447794"/>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HTTPS enforcement across all pages</a:t>
            </a:r>
            <a:endParaRPr lang="en-US" sz="850"/>
          </a:p>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Domain verification (</a:t>
            </a:r>
            <a:r>
              <a:rPr lang="en-US" sz="850" u="sng">
                <a:solidFill>
                  <a:srgbClr val="7B66FF"/>
                </a:solidFill>
                <a:latin typeface="Inter" pitchFamily="34" charset="0"/>
                <a:ea typeface="Inter" pitchFamily="34" charset="-122"/>
                <a:cs typeface="Inter" pitchFamily="34" charset="-120"/>
                <a:hlinkClick r:id="rId2">
                  <a:extLst>
                    <a:ext uri="{A12FA001-AC4F-418D-AE19-62706E023703}">
                      <ahyp:hlinkClr xmlns:ahyp="http://schemas.microsoft.com/office/drawing/2018/hyperlinkcolor" val="tx"/>
                    </a:ext>
                  </a:extLst>
                </a:hlinkClick>
              </a:rPr>
              <a:t>gog.com</a:t>
            </a:r>
            <a:r>
              <a:rPr lang="en-US" sz="850">
                <a:solidFill>
                  <a:srgbClr val="E5E0DF"/>
                </a:solidFill>
                <a:latin typeface="Inter" pitchFamily="34" charset="0"/>
                <a:ea typeface="Inter" pitchFamily="34" charset="-122"/>
                <a:cs typeface="Inter" pitchFamily="34" charset="-120"/>
              </a:rPr>
              <a:t>)</a:t>
            </a:r>
            <a:endParaRPr lang="en-US" sz="850"/>
          </a:p>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Cookie validation</a:t>
            </a:r>
            <a:endParaRPr lang="en-US" sz="850"/>
          </a:p>
        </p:txBody>
      </p:sp>
      <p:sp>
        <p:nvSpPr>
          <p:cNvPr id="39" name="Shape 37">
            <a:extLst>
              <a:ext uri="{FF2B5EF4-FFF2-40B4-BE49-F238E27FC236}">
                <a16:creationId xmlns:a16="http://schemas.microsoft.com/office/drawing/2014/main" id="{3817C0ED-3144-1894-AD03-5CFB26506AEC}"/>
              </a:ext>
            </a:extLst>
          </p:cNvPr>
          <p:cNvSpPr/>
          <p:nvPr/>
        </p:nvSpPr>
        <p:spPr>
          <a:xfrm>
            <a:off x="6432728" y="5204438"/>
            <a:ext cx="7825502" cy="760214"/>
          </a:xfrm>
          <a:prstGeom prst="roundRect">
            <a:avLst>
              <a:gd name="adj" fmla="val 6266"/>
            </a:avLst>
          </a:prstGeom>
          <a:solidFill>
            <a:srgbClr val="272525"/>
          </a:solidFill>
          <a:ln w="15240">
            <a:solidFill>
              <a:srgbClr val="2A1999"/>
            </a:solidFill>
            <a:prstDash val="solid"/>
          </a:ln>
        </p:spPr>
        <p:txBody>
          <a:bodyPr/>
          <a:lstStyle/>
          <a:p>
            <a:endParaRPr lang="en-US"/>
          </a:p>
        </p:txBody>
      </p:sp>
      <p:sp>
        <p:nvSpPr>
          <p:cNvPr id="40" name="Shape 38">
            <a:extLst>
              <a:ext uri="{FF2B5EF4-FFF2-40B4-BE49-F238E27FC236}">
                <a16:creationId xmlns:a16="http://schemas.microsoft.com/office/drawing/2014/main" id="{1D99F85A-789C-DD2E-9CA6-53643062BBFA}"/>
              </a:ext>
            </a:extLst>
          </p:cNvPr>
          <p:cNvSpPr/>
          <p:nvPr/>
        </p:nvSpPr>
        <p:spPr>
          <a:xfrm>
            <a:off x="6447968" y="5219678"/>
            <a:ext cx="453628" cy="729734"/>
          </a:xfrm>
          <a:prstGeom prst="roundRect">
            <a:avLst>
              <a:gd name="adj" fmla="val 6469"/>
            </a:avLst>
          </a:prstGeom>
          <a:solidFill>
            <a:srgbClr val="110080"/>
          </a:solidFill>
          <a:ln/>
        </p:spPr>
        <p:txBody>
          <a:bodyPr/>
          <a:lstStyle/>
          <a:p>
            <a:endParaRPr lang="en-US"/>
          </a:p>
        </p:txBody>
      </p:sp>
      <p:sp>
        <p:nvSpPr>
          <p:cNvPr id="41" name="Text 39">
            <a:extLst>
              <a:ext uri="{FF2B5EF4-FFF2-40B4-BE49-F238E27FC236}">
                <a16:creationId xmlns:a16="http://schemas.microsoft.com/office/drawing/2014/main" id="{1258F86D-FF1D-B790-C138-8E9088F7AF67}"/>
              </a:ext>
            </a:extLst>
          </p:cNvPr>
          <p:cNvSpPr/>
          <p:nvPr/>
        </p:nvSpPr>
        <p:spPr>
          <a:xfrm>
            <a:off x="6585962" y="5478163"/>
            <a:ext cx="170021" cy="212646"/>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00"/>
              </a:lnSpc>
              <a:buNone/>
            </a:pPr>
            <a:r>
              <a:rPr lang="en-US" sz="1300" b="1">
                <a:solidFill>
                  <a:srgbClr val="E5E0DF"/>
                </a:solidFill>
                <a:latin typeface="Inter Bold" pitchFamily="34" charset="0"/>
                <a:ea typeface="Inter Bold" pitchFamily="34" charset="-122"/>
                <a:cs typeface="Inter Bold" pitchFamily="34" charset="-120"/>
              </a:rPr>
              <a:t>8</a:t>
            </a:r>
            <a:endParaRPr lang="en-US" sz="1300"/>
          </a:p>
        </p:txBody>
      </p:sp>
      <p:sp>
        <p:nvSpPr>
          <p:cNvPr id="42" name="Text 40">
            <a:extLst>
              <a:ext uri="{FF2B5EF4-FFF2-40B4-BE49-F238E27FC236}">
                <a16:creationId xmlns:a16="http://schemas.microsoft.com/office/drawing/2014/main" id="{13CAE692-D6E4-8072-4142-A5DBFCABD702}"/>
              </a:ext>
            </a:extLst>
          </p:cNvPr>
          <p:cNvSpPr/>
          <p:nvPr/>
        </p:nvSpPr>
        <p:spPr>
          <a:xfrm>
            <a:off x="6958270" y="5333026"/>
            <a:ext cx="2178010" cy="177165"/>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350"/>
              </a:lnSpc>
              <a:buNone/>
            </a:pPr>
            <a:r>
              <a:rPr lang="en-US" sz="1100" b="1">
                <a:solidFill>
                  <a:srgbClr val="E5E0DF"/>
                </a:solidFill>
                <a:latin typeface="Inter Bold" pitchFamily="34" charset="0"/>
                <a:ea typeface="Inter Bold" pitchFamily="34" charset="-122"/>
                <a:cs typeface="Inter Bold" pitchFamily="34" charset="-120"/>
              </a:rPr>
              <a:t>Age Gate &amp; Conditional Content</a:t>
            </a:r>
            <a:endParaRPr lang="en-US" sz="1100"/>
          </a:p>
        </p:txBody>
      </p:sp>
      <p:sp>
        <p:nvSpPr>
          <p:cNvPr id="43" name="Text 41">
            <a:extLst>
              <a:ext uri="{FF2B5EF4-FFF2-40B4-BE49-F238E27FC236}">
                <a16:creationId xmlns:a16="http://schemas.microsoft.com/office/drawing/2014/main" id="{61D33AE1-CF25-D8AB-41A8-82655B38E00E}"/>
              </a:ext>
            </a:extLst>
          </p:cNvPr>
          <p:cNvSpPr/>
          <p:nvPr/>
        </p:nvSpPr>
        <p:spPr>
          <a:xfrm>
            <a:off x="6958270" y="5544124"/>
            <a:ext cx="7171373" cy="291941"/>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Mature content gate dismissal</a:t>
            </a:r>
            <a:endParaRPr lang="en-US" sz="850"/>
          </a:p>
          <a:p>
            <a:pPr marL="342900" indent="-342900" algn="l">
              <a:lnSpc>
                <a:spcPts val="1050"/>
              </a:lnSpc>
              <a:buSzPct val="100000"/>
              <a:buChar char="•"/>
            </a:pPr>
            <a:r>
              <a:rPr lang="en-US" sz="850">
                <a:solidFill>
                  <a:srgbClr val="E5E0DF"/>
                </a:solidFill>
                <a:latin typeface="Inter" pitchFamily="34" charset="0"/>
                <a:ea typeface="Inter" pitchFamily="34" charset="-122"/>
                <a:cs typeface="Inter" pitchFamily="34" charset="-120"/>
              </a:rPr>
              <a:t>Setup/teardown patterns with @BeforeClass</a:t>
            </a:r>
            <a:endParaRPr lang="en-US" sz="850"/>
          </a:p>
        </p:txBody>
      </p:sp>
      <p:pic>
        <p:nvPicPr>
          <p:cNvPr id="44" name="Picture 43">
            <a:extLst>
              <a:ext uri="{FF2B5EF4-FFF2-40B4-BE49-F238E27FC236}">
                <a16:creationId xmlns:a16="http://schemas.microsoft.com/office/drawing/2014/main" id="{B964C692-C4E1-CC04-D8B1-0BA7A71F1FB9}"/>
              </a:ext>
            </a:extLst>
          </p:cNvPr>
          <p:cNvPicPr/>
          <p:nvPr/>
        </p:nvPicPr>
        <p:blipFill>
          <a:blip r:embed="rId3"/>
          <a:stretch>
            <a:fillRect/>
          </a:stretch>
        </p:blipFill>
        <p:spPr>
          <a:xfrm>
            <a:off x="11620080" y="7715178"/>
            <a:ext cx="3010320" cy="514422"/>
          </a:xfrm>
          <a:prstGeom prst="rect">
            <a:avLst/>
          </a:prstGeom>
        </p:spPr>
      </p:pic>
    </p:spTree>
    <p:extLst>
      <p:ext uri="{BB962C8B-B14F-4D97-AF65-F5344CB8AC3E}">
        <p14:creationId xmlns:p14="http://schemas.microsoft.com/office/powerpoint/2010/main" val="1761794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Shape 0"/>
          <p:cNvSpPr/>
          <p:nvPr/>
        </p:nvSpPr>
        <p:spPr>
          <a:xfrm>
            <a:off x="9144000" y="0"/>
            <a:ext cx="5486400" cy="8229600"/>
          </a:xfrm>
          <a:prstGeom prst="rect">
            <a:avLst/>
          </a:prstGeom>
          <a:solidFill>
            <a:srgbClr val="DFDFE0"/>
          </a:solidFill>
          <a:ln/>
        </p:spPr>
        <p:txBody>
          <a:bodyPr/>
          <a:lstStyle/>
          <a:p>
            <a:endParaRPr lang="en-US"/>
          </a:p>
        </p:txBody>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793790" y="882610"/>
            <a:ext cx="7556421" cy="1240155"/>
          </a:xfrm>
          <a:prstGeom prst="rect">
            <a:avLst/>
          </a:prstGeom>
          <a:noFill/>
          <a:ln/>
        </p:spPr>
        <p:txBody>
          <a:bodyPr wrap="square" lIns="0" tIns="0" rIns="0" bIns="0" rtlCol="0" anchor="t"/>
          <a:lstStyle/>
          <a:p>
            <a:pPr marL="0" indent="0" algn="l">
              <a:lnSpc>
                <a:spcPts val="4850"/>
              </a:lnSpc>
              <a:buNone/>
            </a:pPr>
            <a:r>
              <a:rPr lang="en-US" sz="3900" b="1">
                <a:solidFill>
                  <a:srgbClr val="FFFFFF"/>
                </a:solidFill>
                <a:latin typeface="Inter Bold" pitchFamily="34" charset="0"/>
                <a:ea typeface="Inter Bold" pitchFamily="34" charset="-122"/>
                <a:cs typeface="Inter Bold" pitchFamily="34" charset="-120"/>
              </a:rPr>
              <a:t>Home Page, Login &amp; Signup Tests</a:t>
            </a:r>
            <a:endParaRPr lang="en-US" sz="3900"/>
          </a:p>
        </p:txBody>
      </p:sp>
      <p:sp>
        <p:nvSpPr>
          <p:cNvPr id="6" name="Text 2"/>
          <p:cNvSpPr/>
          <p:nvPr/>
        </p:nvSpPr>
        <p:spPr>
          <a:xfrm>
            <a:off x="793790" y="2618780"/>
            <a:ext cx="2169200" cy="620316"/>
          </a:xfrm>
          <a:prstGeom prst="rect">
            <a:avLst/>
          </a:prstGeom>
          <a:noFill/>
          <a:ln/>
        </p:spPr>
        <p:txBody>
          <a:bodyPr wrap="square" lIns="0" tIns="0" rIns="0" bIns="0" rtlCol="0" anchor="t"/>
          <a:lstStyle/>
          <a:p>
            <a:pPr marL="0" indent="0" algn="l">
              <a:lnSpc>
                <a:spcPts val="2400"/>
              </a:lnSpc>
              <a:buNone/>
            </a:pPr>
            <a:r>
              <a:rPr lang="en-US" sz="1950" b="1" err="1">
                <a:solidFill>
                  <a:srgbClr val="FFFFFF"/>
                </a:solidFill>
                <a:latin typeface="Inter Bold" pitchFamily="34" charset="0"/>
                <a:ea typeface="Inter Bold" pitchFamily="34" charset="-122"/>
                <a:cs typeface="Inter Bold" pitchFamily="34" charset="-120"/>
              </a:rPr>
              <a:t>HomePageTest</a:t>
            </a:r>
            <a:r>
              <a:rPr lang="en-US" sz="1950" b="1">
                <a:solidFill>
                  <a:srgbClr val="FFFFFF"/>
                </a:solidFill>
                <a:latin typeface="Inter Bold" pitchFamily="34" charset="0"/>
                <a:ea typeface="Inter Bold" pitchFamily="34" charset="-122"/>
                <a:cs typeface="Inter Bold" pitchFamily="34" charset="-120"/>
              </a:rPr>
              <a:t> (9 tests)</a:t>
            </a:r>
            <a:endParaRPr lang="en-US" sz="1950"/>
          </a:p>
        </p:txBody>
      </p:sp>
      <p:sp>
        <p:nvSpPr>
          <p:cNvPr id="7" name="Text 3"/>
          <p:cNvSpPr/>
          <p:nvPr/>
        </p:nvSpPr>
        <p:spPr>
          <a:xfrm>
            <a:off x="793790" y="3437453"/>
            <a:ext cx="2169200" cy="3840004"/>
          </a:xfrm>
          <a:prstGeom prst="rect">
            <a:avLst/>
          </a:prstGeom>
          <a:noFill/>
          <a:ln/>
        </p:spPr>
        <p:txBody>
          <a:bodyPr wrap="square" lIns="0" tIns="0" rIns="0" bIns="0" rtlCol="0" anchor="t"/>
          <a:lstStyle/>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Page title contains "GOG"</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Header and logo present</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At least one product tile rendered</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Sign In link accessible</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Footer present</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URL is HTTPS</a:t>
            </a:r>
            <a:endParaRPr lang="en-US" sz="1550"/>
          </a:p>
        </p:txBody>
      </p:sp>
      <p:sp>
        <p:nvSpPr>
          <p:cNvPr id="8" name="Text 4"/>
          <p:cNvSpPr/>
          <p:nvPr/>
        </p:nvSpPr>
        <p:spPr>
          <a:xfrm>
            <a:off x="3454718" y="2618780"/>
            <a:ext cx="2169200" cy="620316"/>
          </a:xfrm>
          <a:prstGeom prst="rect">
            <a:avLst/>
          </a:prstGeom>
          <a:noFill/>
          <a:ln/>
        </p:spPr>
        <p:txBody>
          <a:bodyPr wrap="square" lIns="0" tIns="0" rIns="0" bIns="0" rtlCol="0" anchor="t"/>
          <a:lstStyle/>
          <a:p>
            <a:pPr marL="0" indent="0" algn="l">
              <a:lnSpc>
                <a:spcPts val="2400"/>
              </a:lnSpc>
              <a:buNone/>
            </a:pPr>
            <a:r>
              <a:rPr lang="en-US" sz="1950" b="1" err="1">
                <a:solidFill>
                  <a:srgbClr val="FFFFFF"/>
                </a:solidFill>
                <a:latin typeface="Inter Bold" pitchFamily="34" charset="0"/>
                <a:ea typeface="Inter Bold" pitchFamily="34" charset="-122"/>
                <a:cs typeface="Inter Bold" pitchFamily="34" charset="-120"/>
              </a:rPr>
              <a:t>LoginPageTest</a:t>
            </a:r>
            <a:r>
              <a:rPr lang="en-US" sz="1950" b="1">
                <a:solidFill>
                  <a:srgbClr val="FFFFFF"/>
                </a:solidFill>
                <a:latin typeface="Inter Bold" pitchFamily="34" charset="0"/>
                <a:ea typeface="Inter Bold" pitchFamily="34" charset="-122"/>
                <a:cs typeface="Inter Bold" pitchFamily="34" charset="-120"/>
              </a:rPr>
              <a:t> (10 tests)</a:t>
            </a:r>
            <a:endParaRPr lang="en-US" sz="1950"/>
          </a:p>
        </p:txBody>
      </p:sp>
      <p:sp>
        <p:nvSpPr>
          <p:cNvPr id="9" name="Text 5"/>
          <p:cNvSpPr/>
          <p:nvPr/>
        </p:nvSpPr>
        <p:spPr>
          <a:xfrm>
            <a:off x="3454718" y="3437453"/>
            <a:ext cx="2169200" cy="2996684"/>
          </a:xfrm>
          <a:prstGeom prst="rect">
            <a:avLst/>
          </a:prstGeom>
          <a:noFill/>
          <a:ln/>
        </p:spPr>
        <p:txBody>
          <a:bodyPr wrap="square" lIns="0" tIns="0" rIns="0" bIns="0" rtlCol="0" anchor="t"/>
          <a:lstStyle/>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Email, password, submit fields present</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Forgot password and create account links present</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Invalid credentials trigger error message</a:t>
            </a:r>
            <a:endParaRPr lang="en-US" sz="1550"/>
          </a:p>
        </p:txBody>
      </p:sp>
      <p:sp>
        <p:nvSpPr>
          <p:cNvPr id="10" name="Text 6"/>
          <p:cNvSpPr/>
          <p:nvPr/>
        </p:nvSpPr>
        <p:spPr>
          <a:xfrm>
            <a:off x="6115645" y="2618780"/>
            <a:ext cx="2249567" cy="620316"/>
          </a:xfrm>
          <a:prstGeom prst="rect">
            <a:avLst/>
          </a:prstGeom>
          <a:noFill/>
          <a:ln/>
        </p:spPr>
        <p:txBody>
          <a:bodyPr wrap="square" lIns="0" tIns="0" rIns="0" bIns="0" rtlCol="0" anchor="t"/>
          <a:lstStyle/>
          <a:p>
            <a:pPr marL="0" indent="0" algn="l">
              <a:lnSpc>
                <a:spcPts val="2400"/>
              </a:lnSpc>
              <a:buNone/>
            </a:pPr>
            <a:r>
              <a:rPr lang="en-US" sz="1950" b="1" err="1">
                <a:solidFill>
                  <a:srgbClr val="FFFFFF"/>
                </a:solidFill>
                <a:latin typeface="Inter Bold" pitchFamily="34" charset="0"/>
                <a:ea typeface="Inter Bold" pitchFamily="34" charset="-122"/>
                <a:cs typeface="Inter Bold" pitchFamily="34" charset="-120"/>
              </a:rPr>
              <a:t>SignupPageTest</a:t>
            </a:r>
            <a:r>
              <a:rPr lang="en-US" sz="1950" b="1">
                <a:solidFill>
                  <a:srgbClr val="FFFFFF"/>
                </a:solidFill>
                <a:latin typeface="Inter Bold" pitchFamily="34" charset="0"/>
                <a:ea typeface="Inter Bold" pitchFamily="34" charset="-122"/>
                <a:cs typeface="Inter Bold" pitchFamily="34" charset="-120"/>
              </a:rPr>
              <a:t> (8 tests)</a:t>
            </a:r>
            <a:endParaRPr lang="en-US" sz="1950"/>
          </a:p>
        </p:txBody>
      </p:sp>
      <p:sp>
        <p:nvSpPr>
          <p:cNvPr id="11" name="Text 7"/>
          <p:cNvSpPr/>
          <p:nvPr/>
        </p:nvSpPr>
        <p:spPr>
          <a:xfrm>
            <a:off x="6115645" y="3437453"/>
            <a:ext cx="2249567" cy="2679144"/>
          </a:xfrm>
          <a:prstGeom prst="rect">
            <a:avLst/>
          </a:prstGeom>
          <a:noFill/>
          <a:ln/>
        </p:spPr>
        <p:txBody>
          <a:bodyPr wrap="square" lIns="0" tIns="0" rIns="0" bIns="0" rtlCol="0" anchor="t"/>
          <a:lstStyle/>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Email, password, username, submit fields present</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Sign In and Privacy/Terms links accessible</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Page loads on gog.com domain</a:t>
            </a:r>
            <a:endParaRPr lang="en-US" sz="1550"/>
          </a:p>
        </p:txBody>
      </p:sp>
      <p:pic>
        <p:nvPicPr>
          <p:cNvPr id="13" name="Picture 12">
            <a:extLst>
              <a:ext uri="{FF2B5EF4-FFF2-40B4-BE49-F238E27FC236}">
                <a16:creationId xmlns:a16="http://schemas.microsoft.com/office/drawing/2014/main" id="{6BA0939D-416B-B4B0-46F5-94C4CF7998DE}"/>
              </a:ext>
            </a:extLst>
          </p:cNvPr>
          <p:cNvPicPr>
            <a:picLocks noChangeAspect="1"/>
          </p:cNvPicPr>
          <p:nvPr/>
        </p:nvPicPr>
        <p:blipFill>
          <a:blip r:embed="rId5"/>
          <a:srcRect r="44033"/>
          <a:stretch>
            <a:fillRect/>
          </a:stretch>
        </p:blipFill>
        <p:spPr>
          <a:xfrm>
            <a:off x="9144000" y="0"/>
            <a:ext cx="5486400" cy="8229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Shape 0"/>
          <p:cNvSpPr/>
          <p:nvPr/>
        </p:nvSpPr>
        <p:spPr>
          <a:xfrm>
            <a:off x="9144000" y="0"/>
            <a:ext cx="5486400" cy="8229600"/>
          </a:xfrm>
          <a:prstGeom prst="rect">
            <a:avLst/>
          </a:prstGeom>
          <a:solidFill>
            <a:srgbClr val="DFDFE0"/>
          </a:solidFill>
          <a:ln/>
        </p:spPr>
        <p:txBody>
          <a:bodyPr/>
          <a:lstStyle/>
          <a:p>
            <a:endParaRPr lang="en-US"/>
          </a:p>
        </p:txBody>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793790" y="917377"/>
            <a:ext cx="7556421" cy="1240155"/>
          </a:xfrm>
          <a:prstGeom prst="rect">
            <a:avLst/>
          </a:prstGeom>
          <a:noFill/>
          <a:ln/>
        </p:spPr>
        <p:txBody>
          <a:bodyPr wrap="square" lIns="0" tIns="0" rIns="0" bIns="0" rtlCol="0" anchor="t"/>
          <a:lstStyle/>
          <a:p>
            <a:pPr marL="0" indent="0" algn="l">
              <a:lnSpc>
                <a:spcPts val="4850"/>
              </a:lnSpc>
              <a:buNone/>
            </a:pPr>
            <a:r>
              <a:rPr lang="en-US" sz="3900" b="1">
                <a:solidFill>
                  <a:srgbClr val="FFFFFF"/>
                </a:solidFill>
                <a:latin typeface="Inter Bold" pitchFamily="34" charset="0"/>
                <a:ea typeface="Inter Bold" pitchFamily="34" charset="-122"/>
                <a:cs typeface="Inter Bold" pitchFamily="34" charset="-120"/>
              </a:rPr>
              <a:t>Search, Navigation &amp; Genre Tests</a:t>
            </a:r>
            <a:endParaRPr lang="en-US" sz="3900"/>
          </a:p>
        </p:txBody>
      </p:sp>
      <p:sp>
        <p:nvSpPr>
          <p:cNvPr id="6" name="Text 2"/>
          <p:cNvSpPr/>
          <p:nvPr/>
        </p:nvSpPr>
        <p:spPr>
          <a:xfrm>
            <a:off x="793790" y="2653546"/>
            <a:ext cx="2169200" cy="620316"/>
          </a:xfrm>
          <a:prstGeom prst="rect">
            <a:avLst/>
          </a:prstGeom>
          <a:noFill/>
          <a:ln/>
        </p:spPr>
        <p:txBody>
          <a:bodyPr wrap="square" lIns="0" tIns="0" rIns="0" bIns="0" rtlCol="0" anchor="t"/>
          <a:lstStyle/>
          <a:p>
            <a:pPr marL="0" indent="0" algn="l">
              <a:lnSpc>
                <a:spcPts val="2400"/>
              </a:lnSpc>
              <a:buNone/>
            </a:pPr>
            <a:r>
              <a:rPr lang="en-US" sz="1950" b="1">
                <a:solidFill>
                  <a:srgbClr val="FFFFFF"/>
                </a:solidFill>
                <a:latin typeface="Inter Bold" pitchFamily="34" charset="0"/>
                <a:ea typeface="Inter Bold" pitchFamily="34" charset="-122"/>
                <a:cs typeface="Inter Bold" pitchFamily="34" charset="-120"/>
              </a:rPr>
              <a:t>SearchTest (6 tests)</a:t>
            </a:r>
            <a:endParaRPr lang="en-US" sz="1950"/>
          </a:p>
        </p:txBody>
      </p:sp>
      <p:sp>
        <p:nvSpPr>
          <p:cNvPr id="7" name="Text 3"/>
          <p:cNvSpPr/>
          <p:nvPr/>
        </p:nvSpPr>
        <p:spPr>
          <a:xfrm>
            <a:off x="793790" y="3472220"/>
            <a:ext cx="2169200" cy="3383637"/>
          </a:xfrm>
          <a:prstGeom prst="rect">
            <a:avLst/>
          </a:prstGeom>
          <a:noFill/>
          <a:ln/>
        </p:spPr>
        <p:txBody>
          <a:bodyPr wrap="square" lIns="0" tIns="0" rIns="0" bIns="0" rtlCol="0" anchor="t"/>
          <a:lstStyle/>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Search icon present in header</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Search results page loads for "witcher" query</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Product tiles, tile images, and tile titles present</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Sort/filter controls visible</a:t>
            </a:r>
            <a:endParaRPr lang="en-US" sz="1550"/>
          </a:p>
        </p:txBody>
      </p:sp>
      <p:sp>
        <p:nvSpPr>
          <p:cNvPr id="8" name="Text 4"/>
          <p:cNvSpPr/>
          <p:nvPr/>
        </p:nvSpPr>
        <p:spPr>
          <a:xfrm>
            <a:off x="3454718" y="2653546"/>
            <a:ext cx="2169200" cy="620316"/>
          </a:xfrm>
          <a:prstGeom prst="rect">
            <a:avLst/>
          </a:prstGeom>
          <a:noFill/>
          <a:ln/>
        </p:spPr>
        <p:txBody>
          <a:bodyPr wrap="square" lIns="0" tIns="0" rIns="0" bIns="0" rtlCol="0" anchor="t"/>
          <a:lstStyle/>
          <a:p>
            <a:pPr marL="0" indent="0" algn="l">
              <a:lnSpc>
                <a:spcPts val="2400"/>
              </a:lnSpc>
              <a:buNone/>
            </a:pPr>
            <a:r>
              <a:rPr lang="en-US" sz="1950" b="1">
                <a:solidFill>
                  <a:srgbClr val="FFFFFF"/>
                </a:solidFill>
                <a:latin typeface="Inter Bold" pitchFamily="34" charset="0"/>
                <a:ea typeface="Inter Bold" pitchFamily="34" charset="-122"/>
                <a:cs typeface="Inter Bold" pitchFamily="34" charset="-120"/>
              </a:rPr>
              <a:t>NavigationTest (6 tests)</a:t>
            </a:r>
            <a:endParaRPr lang="en-US" sz="1950"/>
          </a:p>
        </p:txBody>
      </p:sp>
      <p:sp>
        <p:nvSpPr>
          <p:cNvPr id="9" name="Text 5"/>
          <p:cNvSpPr/>
          <p:nvPr/>
        </p:nvSpPr>
        <p:spPr>
          <a:xfrm>
            <a:off x="3454718" y="3472220"/>
            <a:ext cx="2169200" cy="3770590"/>
          </a:xfrm>
          <a:prstGeom prst="rect">
            <a:avLst/>
          </a:prstGeom>
          <a:noFill/>
          <a:ln/>
        </p:spPr>
        <p:txBody>
          <a:bodyPr wrap="square" lIns="0" tIns="0" rIns="0" bIns="0" rtlCol="0" anchor="t"/>
          <a:lstStyle/>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Logo navigates to home</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Store/Games link in header</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Sign In button accessible</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Header persists across multiple pages</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Cart/wishlist icon present</a:t>
            </a:r>
            <a:endParaRPr lang="en-US" sz="1550"/>
          </a:p>
        </p:txBody>
      </p:sp>
      <p:sp>
        <p:nvSpPr>
          <p:cNvPr id="10" name="Text 6"/>
          <p:cNvSpPr/>
          <p:nvPr/>
        </p:nvSpPr>
        <p:spPr>
          <a:xfrm>
            <a:off x="6115645" y="2653546"/>
            <a:ext cx="2249567" cy="620316"/>
          </a:xfrm>
          <a:prstGeom prst="rect">
            <a:avLst/>
          </a:prstGeom>
          <a:noFill/>
          <a:ln/>
        </p:spPr>
        <p:txBody>
          <a:bodyPr wrap="square" lIns="0" tIns="0" rIns="0" bIns="0" rtlCol="0" anchor="t"/>
          <a:lstStyle/>
          <a:p>
            <a:pPr marL="0" indent="0" algn="l">
              <a:lnSpc>
                <a:spcPts val="2400"/>
              </a:lnSpc>
              <a:buNone/>
            </a:pPr>
            <a:r>
              <a:rPr lang="en-US" sz="1950" b="1">
                <a:solidFill>
                  <a:srgbClr val="FFFFFF"/>
                </a:solidFill>
                <a:latin typeface="Inter Bold" pitchFamily="34" charset="0"/>
                <a:ea typeface="Inter Bold" pitchFamily="34" charset="-122"/>
                <a:cs typeface="Inter Bold" pitchFamily="34" charset="-120"/>
              </a:rPr>
              <a:t>GenreBrowseTest (6 tests)</a:t>
            </a:r>
            <a:endParaRPr lang="en-US" sz="1950"/>
          </a:p>
        </p:txBody>
      </p:sp>
      <p:sp>
        <p:nvSpPr>
          <p:cNvPr id="11" name="Text 7"/>
          <p:cNvSpPr/>
          <p:nvPr/>
        </p:nvSpPr>
        <p:spPr>
          <a:xfrm>
            <a:off x="6115645" y="3472220"/>
            <a:ext cx="2249567" cy="3701177"/>
          </a:xfrm>
          <a:prstGeom prst="rect">
            <a:avLst/>
          </a:prstGeom>
          <a:noFill/>
          <a:ln/>
        </p:spPr>
        <p:txBody>
          <a:bodyPr wrap="square" lIns="0" tIns="0" rIns="0" bIns="0" rtlCol="0" anchor="t"/>
          <a:lstStyle/>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/games catalog and /games?genres=rpg load successfully</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RPG genre tiles and cover images present</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Sort/filter controls visible</a:t>
            </a:r>
            <a:endParaRPr lang="en-US" sz="1550"/>
          </a:p>
          <a:p>
            <a:pPr marL="342900" indent="-342900" algn="l">
              <a:lnSpc>
                <a:spcPts val="2500"/>
              </a:lnSpc>
              <a:buSzPct val="100000"/>
              <a:buChar char="•"/>
            </a:pPr>
            <a:r>
              <a:rPr lang="en-US" sz="1550">
                <a:solidFill>
                  <a:srgbClr val="E5E0DF"/>
                </a:solidFill>
                <a:latin typeface="Inter" pitchFamily="34" charset="0"/>
                <a:ea typeface="Inter" pitchFamily="34" charset="-122"/>
                <a:cs typeface="Inter" pitchFamily="34" charset="-120"/>
              </a:rPr>
              <a:t>Page heading contains "GOG" or "game"</a:t>
            </a:r>
            <a:endParaRPr lang="en-US" sz="1550"/>
          </a:p>
        </p:txBody>
      </p:sp>
      <p:pic>
        <p:nvPicPr>
          <p:cNvPr id="13" name="Picture 12">
            <a:extLst>
              <a:ext uri="{FF2B5EF4-FFF2-40B4-BE49-F238E27FC236}">
                <a16:creationId xmlns:a16="http://schemas.microsoft.com/office/drawing/2014/main" id="{0B07AA0E-B08D-C79F-DC0D-25FF9EC0459D}"/>
              </a:ext>
            </a:extLst>
          </p:cNvPr>
          <p:cNvPicPr>
            <a:picLocks noChangeAspect="1"/>
          </p:cNvPicPr>
          <p:nvPr/>
        </p:nvPicPr>
        <p:blipFill>
          <a:blip r:embed="rId5"/>
          <a:srcRect r="36126"/>
          <a:stretch>
            <a:fillRect/>
          </a:stretch>
        </p:blipFill>
        <p:spPr>
          <a:xfrm>
            <a:off x="9159001" y="0"/>
            <a:ext cx="5486400" cy="8229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Shape 0"/>
          <p:cNvSpPr/>
          <p:nvPr/>
        </p:nvSpPr>
        <p:spPr>
          <a:xfrm>
            <a:off x="9144000" y="0"/>
            <a:ext cx="5486400" cy="8229600"/>
          </a:xfrm>
          <a:prstGeom prst="rect">
            <a:avLst/>
          </a:prstGeom>
          <a:solidFill>
            <a:srgbClr val="DFDFE0"/>
          </a:solidFill>
          <a:ln/>
        </p:spPr>
        <p:txBody>
          <a:bodyPr/>
          <a:lstStyle/>
          <a:p>
            <a:endParaRPr lang="en-US"/>
          </a:p>
        </p:txBody>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793790" y="1333738"/>
            <a:ext cx="4961811" cy="620078"/>
          </a:xfrm>
          <a:prstGeom prst="rect">
            <a:avLst/>
          </a:prstGeom>
          <a:noFill/>
          <a:ln/>
        </p:spPr>
        <p:txBody>
          <a:bodyPr wrap="none" lIns="0" tIns="0" rIns="0" bIns="0" rtlCol="0" anchor="t"/>
          <a:lstStyle/>
          <a:p>
            <a:pPr marL="0" indent="0" algn="l">
              <a:lnSpc>
                <a:spcPts val="4850"/>
              </a:lnSpc>
              <a:buNone/>
            </a:pPr>
            <a:r>
              <a:rPr lang="en-US" sz="3900" b="1">
                <a:solidFill>
                  <a:srgbClr val="FFFFFF"/>
                </a:solidFill>
                <a:latin typeface="Inter Bold" pitchFamily="34" charset="0"/>
                <a:ea typeface="Inter Bold" pitchFamily="34" charset="-122"/>
                <a:cs typeface="Inter Bold" pitchFamily="34" charset="-120"/>
              </a:rPr>
              <a:t>Key Takeaways</a:t>
            </a:r>
            <a:endParaRPr lang="en-US" sz="3900"/>
          </a:p>
        </p:txBody>
      </p:sp>
      <p:sp>
        <p:nvSpPr>
          <p:cNvPr id="6" name="Shape 2"/>
          <p:cNvSpPr/>
          <p:nvPr/>
        </p:nvSpPr>
        <p:spPr>
          <a:xfrm>
            <a:off x="793790" y="2251472"/>
            <a:ext cx="3679031" cy="1793796"/>
          </a:xfrm>
          <a:prstGeom prst="roundRect">
            <a:avLst>
              <a:gd name="adj" fmla="val 4647"/>
            </a:avLst>
          </a:prstGeom>
          <a:solidFill>
            <a:srgbClr val="110080"/>
          </a:solidFill>
          <a:ln w="7620">
            <a:solidFill>
              <a:srgbClr val="2A1999"/>
            </a:solidFill>
            <a:prstDash val="solid"/>
          </a:ln>
        </p:spPr>
        <p:txBody>
          <a:bodyPr/>
          <a:lstStyle/>
          <a:p>
            <a:endParaRPr lang="en-US"/>
          </a:p>
        </p:txBody>
      </p:sp>
      <p:sp>
        <p:nvSpPr>
          <p:cNvPr id="7" name="Text 3"/>
          <p:cNvSpPr/>
          <p:nvPr/>
        </p:nvSpPr>
        <p:spPr>
          <a:xfrm>
            <a:off x="999768" y="2457450"/>
            <a:ext cx="3143369"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Comprehensive Coverage</a:t>
            </a:r>
            <a:endParaRPr lang="en-US" sz="1950"/>
          </a:p>
        </p:txBody>
      </p:sp>
      <p:sp>
        <p:nvSpPr>
          <p:cNvPr id="8" name="Text 4"/>
          <p:cNvSpPr/>
          <p:nvPr/>
        </p:nvSpPr>
        <p:spPr>
          <a:xfrm>
            <a:off x="999768" y="2886670"/>
            <a:ext cx="3267075" cy="952619"/>
          </a:xfrm>
          <a:prstGeom prst="rect">
            <a:avLst/>
          </a:prstGeom>
          <a:noFill/>
          <a:ln/>
        </p:spPr>
        <p:txBody>
          <a:bodyPr wrap="squar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53 test methods across 8 classes validate critical user flows from browsing to checkout</a:t>
            </a:r>
            <a:endParaRPr lang="en-US" sz="1550"/>
          </a:p>
        </p:txBody>
      </p:sp>
      <p:sp>
        <p:nvSpPr>
          <p:cNvPr id="9" name="Shape 5"/>
          <p:cNvSpPr/>
          <p:nvPr/>
        </p:nvSpPr>
        <p:spPr>
          <a:xfrm>
            <a:off x="4671179" y="2251472"/>
            <a:ext cx="3679031" cy="1793796"/>
          </a:xfrm>
          <a:prstGeom prst="roundRect">
            <a:avLst>
              <a:gd name="adj" fmla="val 4647"/>
            </a:avLst>
          </a:prstGeom>
          <a:solidFill>
            <a:srgbClr val="110080"/>
          </a:solidFill>
          <a:ln w="7620">
            <a:solidFill>
              <a:srgbClr val="2A1999"/>
            </a:solidFill>
            <a:prstDash val="solid"/>
          </a:ln>
        </p:spPr>
        <p:txBody>
          <a:bodyPr/>
          <a:lstStyle/>
          <a:p>
            <a:endParaRPr lang="en-US"/>
          </a:p>
        </p:txBody>
      </p:sp>
      <p:sp>
        <p:nvSpPr>
          <p:cNvPr id="10" name="Text 6"/>
          <p:cNvSpPr/>
          <p:nvPr/>
        </p:nvSpPr>
        <p:spPr>
          <a:xfrm>
            <a:off x="4877157" y="2457450"/>
            <a:ext cx="2480905"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Robust Architecture</a:t>
            </a:r>
            <a:endParaRPr lang="en-US" sz="1950"/>
          </a:p>
        </p:txBody>
      </p:sp>
      <p:sp>
        <p:nvSpPr>
          <p:cNvPr id="11" name="Text 7"/>
          <p:cNvSpPr/>
          <p:nvPr/>
        </p:nvSpPr>
        <p:spPr>
          <a:xfrm>
            <a:off x="4877157" y="2886670"/>
            <a:ext cx="3267075" cy="952619"/>
          </a:xfrm>
          <a:prstGeom prst="rect">
            <a:avLst/>
          </a:prstGeom>
          <a:noFill/>
          <a:ln/>
        </p:spPr>
        <p:txBody>
          <a:bodyPr wrap="squar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BaseTest and TestUtils provide reusable infrastructure, reducing code duplication and maintenance</a:t>
            </a:r>
            <a:endParaRPr lang="en-US" sz="1550"/>
          </a:p>
        </p:txBody>
      </p:sp>
      <p:sp>
        <p:nvSpPr>
          <p:cNvPr id="12" name="Shape 8"/>
          <p:cNvSpPr/>
          <p:nvPr/>
        </p:nvSpPr>
        <p:spPr>
          <a:xfrm>
            <a:off x="793790" y="4243626"/>
            <a:ext cx="7556421" cy="1476256"/>
          </a:xfrm>
          <a:prstGeom prst="roundRect">
            <a:avLst>
              <a:gd name="adj" fmla="val 5647"/>
            </a:avLst>
          </a:prstGeom>
          <a:solidFill>
            <a:srgbClr val="110080"/>
          </a:solidFill>
          <a:ln w="7620">
            <a:solidFill>
              <a:srgbClr val="2A1999"/>
            </a:solidFill>
            <a:prstDash val="solid"/>
          </a:ln>
        </p:spPr>
        <p:txBody>
          <a:bodyPr/>
          <a:lstStyle/>
          <a:p>
            <a:endParaRPr lang="en-US"/>
          </a:p>
        </p:txBody>
      </p:sp>
      <p:sp>
        <p:nvSpPr>
          <p:cNvPr id="13" name="Text 9"/>
          <p:cNvSpPr/>
          <p:nvPr/>
        </p:nvSpPr>
        <p:spPr>
          <a:xfrm>
            <a:off x="999768" y="4449604"/>
            <a:ext cx="2826425" cy="310158"/>
          </a:xfrm>
          <a:prstGeom prst="rect">
            <a:avLst/>
          </a:prstGeom>
          <a:noFill/>
          <a:ln/>
        </p:spPr>
        <p:txBody>
          <a:bodyPr wrap="none" lIns="0" tIns="0" rIns="0" bIns="0" rtlCol="0" anchor="t"/>
          <a:lstStyle/>
          <a:p>
            <a:pPr marL="0" indent="0" algn="l">
              <a:lnSpc>
                <a:spcPts val="2400"/>
              </a:lnSpc>
              <a:buNone/>
            </a:pPr>
            <a:r>
              <a:rPr lang="en-US" sz="1950" b="1">
                <a:solidFill>
                  <a:srgbClr val="E5E0DF"/>
                </a:solidFill>
                <a:latin typeface="Inter Bold" pitchFamily="34" charset="0"/>
                <a:ea typeface="Inter Bold" pitchFamily="34" charset="-122"/>
                <a:cs typeface="Inter Bold" pitchFamily="34" charset="-120"/>
              </a:rPr>
              <a:t>Real-World Constraints</a:t>
            </a:r>
            <a:endParaRPr lang="en-US" sz="1950"/>
          </a:p>
        </p:txBody>
      </p:sp>
      <p:sp>
        <p:nvSpPr>
          <p:cNvPr id="14" name="Text 10"/>
          <p:cNvSpPr/>
          <p:nvPr/>
        </p:nvSpPr>
        <p:spPr>
          <a:xfrm>
            <a:off x="999768" y="4878824"/>
            <a:ext cx="7144464" cy="635079"/>
          </a:xfrm>
          <a:prstGeom prst="rect">
            <a:avLst/>
          </a:prstGeom>
          <a:noFill/>
          <a:ln/>
        </p:spPr>
        <p:txBody>
          <a:bodyPr wrap="squar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Successfully handled GDPR, CAPTCHA, age-gates, lazy-loading, and anti-automation detection</a:t>
            </a:r>
            <a:endParaRPr lang="en-US" sz="1550"/>
          </a:p>
        </p:txBody>
      </p:sp>
      <p:sp>
        <p:nvSpPr>
          <p:cNvPr id="15" name="Text 11"/>
          <p:cNvSpPr/>
          <p:nvPr/>
        </p:nvSpPr>
        <p:spPr>
          <a:xfrm>
            <a:off x="793790" y="5943124"/>
            <a:ext cx="7556421" cy="952619"/>
          </a:xfrm>
          <a:prstGeom prst="rect">
            <a:avLst/>
          </a:prstGeom>
          <a:noFill/>
          <a:ln/>
        </p:spPr>
        <p:txBody>
          <a:bodyPr wrap="square" lIns="0" tIns="0" rIns="0" bIns="0" rtlCol="0" anchor="t"/>
          <a:lstStyle/>
          <a:p>
            <a:pPr marL="0" indent="0" algn="l">
              <a:lnSpc>
                <a:spcPts val="2500"/>
              </a:lnSpc>
              <a:buNone/>
            </a:pPr>
            <a:r>
              <a:rPr lang="en-US" sz="1550">
                <a:solidFill>
                  <a:srgbClr val="E5E0DF"/>
                </a:solidFill>
                <a:latin typeface="Inter" pitchFamily="34" charset="0"/>
                <a:ea typeface="Inter" pitchFamily="34" charset="-122"/>
                <a:cs typeface="Inter" pitchFamily="34" charset="-120"/>
              </a:rPr>
              <a:t>This automated test suite establishes a repeatable regression baseline for GOG.com, improving product quality confidence and reducing manual testing burden.</a:t>
            </a:r>
            <a:endParaRPr lang="en-US" sz="1550"/>
          </a:p>
        </p:txBody>
      </p:sp>
      <p:pic>
        <p:nvPicPr>
          <p:cNvPr id="19" name="Picture 18">
            <a:extLst>
              <a:ext uri="{FF2B5EF4-FFF2-40B4-BE49-F238E27FC236}">
                <a16:creationId xmlns:a16="http://schemas.microsoft.com/office/drawing/2014/main" id="{41850DAD-03FC-5A3C-A068-B565504A62E2}"/>
              </a:ext>
            </a:extLst>
          </p:cNvPr>
          <p:cNvPicPr>
            <a:picLocks noChangeAspect="1"/>
          </p:cNvPicPr>
          <p:nvPr/>
        </p:nvPicPr>
        <p:blipFill>
          <a:blip r:embed="rId5"/>
          <a:srcRect l="31219"/>
          <a:stretch>
            <a:fillRect/>
          </a:stretch>
        </p:blipFill>
        <p:spPr>
          <a:xfrm>
            <a:off x="9144000" y="0"/>
            <a:ext cx="5486400" cy="8229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2">
            <a:extLst>
              <a:ext uri="{FF2B5EF4-FFF2-40B4-BE49-F238E27FC236}">
                <a16:creationId xmlns:a16="http://schemas.microsoft.com/office/drawing/2014/main" id="{5EF1EAE9-3951-9CE2-1825-926EA4FDB62A}"/>
              </a:ext>
            </a:extLst>
          </p:cNvPr>
          <p:cNvSpPr/>
          <p:nvPr/>
        </p:nvSpPr>
        <p:spPr>
          <a:xfrm>
            <a:off x="5961577" y="2259656"/>
            <a:ext cx="6857846" cy="1584579"/>
          </a:xfrm>
          <a:prstGeom prst="roundRect">
            <a:avLst>
              <a:gd name="adj" fmla="val 4647"/>
            </a:avLst>
          </a:prstGeom>
          <a:solidFill>
            <a:srgbClr val="110080"/>
          </a:solidFill>
          <a:ln w="7620">
            <a:solidFill>
              <a:srgbClr val="2A1999"/>
            </a:solidFill>
            <a:prstDash val="solid"/>
          </a:ln>
        </p:spPr>
        <p:txBody>
          <a:bodyPr/>
          <a:lstStyle/>
          <a:p>
            <a:endParaRPr lang="en-US"/>
          </a:p>
        </p:txBody>
      </p:sp>
      <p:pic>
        <p:nvPicPr>
          <p:cNvPr id="3" name="Picture 2">
            <a:extLst>
              <a:ext uri="{FF2B5EF4-FFF2-40B4-BE49-F238E27FC236}">
                <a16:creationId xmlns:a16="http://schemas.microsoft.com/office/drawing/2014/main" id="{9AC9DA1E-25B3-B8DB-32D1-D828C6418390}"/>
              </a:ext>
            </a:extLst>
          </p:cNvPr>
          <p:cNvPicPr/>
          <p:nvPr/>
        </p:nvPicPr>
        <p:blipFill>
          <a:blip r:embed="rId2"/>
          <a:stretch>
            <a:fillRect/>
          </a:stretch>
        </p:blipFill>
        <p:spPr>
          <a:xfrm>
            <a:off x="11620080" y="7715178"/>
            <a:ext cx="3010320" cy="514422"/>
          </a:xfrm>
          <a:prstGeom prst="rect">
            <a:avLst/>
          </a:prstGeom>
        </p:spPr>
      </p:pic>
      <p:sp>
        <p:nvSpPr>
          <p:cNvPr id="4" name="Text 1">
            <a:extLst>
              <a:ext uri="{FF2B5EF4-FFF2-40B4-BE49-F238E27FC236}">
                <a16:creationId xmlns:a16="http://schemas.microsoft.com/office/drawing/2014/main" id="{795315F3-4A4C-1431-1821-39024AEA05FE}"/>
              </a:ext>
            </a:extLst>
          </p:cNvPr>
          <p:cNvSpPr/>
          <p:nvPr/>
        </p:nvSpPr>
        <p:spPr>
          <a:xfrm>
            <a:off x="793790" y="1333738"/>
            <a:ext cx="4961811" cy="620078"/>
          </a:xfrm>
          <a:prstGeom prst="rect">
            <a:avLst/>
          </a:prstGeom>
          <a:noFill/>
          <a:ln/>
        </p:spPr>
        <p:txBody>
          <a:bodyPr wrap="none" lIns="0" tIns="0" rIns="0" bIns="0" rtlCol="0" anchor="t"/>
          <a:lstStyle/>
          <a:p>
            <a:pPr marL="0" indent="0" algn="l">
              <a:lnSpc>
                <a:spcPts val="4850"/>
              </a:lnSpc>
              <a:buNone/>
            </a:pPr>
            <a:r>
              <a:rPr lang="en-US" sz="3900" b="1">
                <a:solidFill>
                  <a:srgbClr val="FFFFFF"/>
                </a:solidFill>
                <a:latin typeface="Inter Bold" pitchFamily="34" charset="0"/>
                <a:ea typeface="Inter Bold" pitchFamily="34" charset="-122"/>
                <a:cs typeface="Inter Bold" pitchFamily="34" charset="-120"/>
              </a:rPr>
              <a:t>Future Improvements</a:t>
            </a:r>
            <a:endParaRPr lang="en-US" sz="3900"/>
          </a:p>
        </p:txBody>
      </p:sp>
      <p:sp>
        <p:nvSpPr>
          <p:cNvPr id="5" name="Text 3">
            <a:extLst>
              <a:ext uri="{FF2B5EF4-FFF2-40B4-BE49-F238E27FC236}">
                <a16:creationId xmlns:a16="http://schemas.microsoft.com/office/drawing/2014/main" id="{50DF7DBC-69DF-B964-12D6-1CC3AA4E5E69}"/>
              </a:ext>
            </a:extLst>
          </p:cNvPr>
          <p:cNvSpPr/>
          <p:nvPr/>
        </p:nvSpPr>
        <p:spPr>
          <a:xfrm>
            <a:off x="999768" y="2457450"/>
            <a:ext cx="3143369" cy="310158"/>
          </a:xfrm>
          <a:prstGeom prst="rect">
            <a:avLst/>
          </a:prstGeom>
          <a:noFill/>
          <a:ln/>
        </p:spPr>
        <p:txBody>
          <a:bodyPr wrap="none" lIns="0" tIns="0" rIns="0" bIns="0" rtlCol="0" anchor="t"/>
          <a:lstStyle/>
          <a:p>
            <a:pPr marL="0" indent="0" algn="l">
              <a:lnSpc>
                <a:spcPts val="2400"/>
              </a:lnSpc>
              <a:buNone/>
            </a:pPr>
            <a:endParaRPr lang="en-US" sz="1950"/>
          </a:p>
        </p:txBody>
      </p:sp>
      <p:sp>
        <p:nvSpPr>
          <p:cNvPr id="8" name="Shape 2">
            <a:extLst>
              <a:ext uri="{FF2B5EF4-FFF2-40B4-BE49-F238E27FC236}">
                <a16:creationId xmlns:a16="http://schemas.microsoft.com/office/drawing/2014/main" id="{6724E083-B5E7-0778-28F6-90BA909EEA22}"/>
              </a:ext>
            </a:extLst>
          </p:cNvPr>
          <p:cNvSpPr/>
          <p:nvPr/>
        </p:nvSpPr>
        <p:spPr>
          <a:xfrm>
            <a:off x="793790" y="2251472"/>
            <a:ext cx="4961811" cy="2351926"/>
          </a:xfrm>
          <a:prstGeom prst="roundRect">
            <a:avLst>
              <a:gd name="adj" fmla="val 4647"/>
            </a:avLst>
          </a:prstGeom>
          <a:solidFill>
            <a:srgbClr val="110080"/>
          </a:solidFill>
          <a:ln w="7620">
            <a:solidFill>
              <a:srgbClr val="2A1999"/>
            </a:solidFill>
            <a:prstDash val="solid"/>
          </a:ln>
        </p:spPr>
        <p:txBody>
          <a:bodyPr/>
          <a:lstStyle/>
          <a:p>
            <a:endParaRPr lang="en-US"/>
          </a:p>
        </p:txBody>
      </p:sp>
      <p:sp>
        <p:nvSpPr>
          <p:cNvPr id="9" name="Text 3">
            <a:extLst>
              <a:ext uri="{FF2B5EF4-FFF2-40B4-BE49-F238E27FC236}">
                <a16:creationId xmlns:a16="http://schemas.microsoft.com/office/drawing/2014/main" id="{EA2B9F73-B29B-4449-E9D7-91DA55AC10EE}"/>
              </a:ext>
            </a:extLst>
          </p:cNvPr>
          <p:cNvSpPr/>
          <p:nvPr/>
        </p:nvSpPr>
        <p:spPr>
          <a:xfrm>
            <a:off x="999768" y="2457450"/>
            <a:ext cx="3143369" cy="310158"/>
          </a:xfrm>
          <a:prstGeom prst="rect">
            <a:avLst/>
          </a:prstGeom>
          <a:noFill/>
          <a:ln/>
        </p:spPr>
        <p:txBody>
          <a:bodyPr wrap="none" lIns="0" tIns="0" rIns="0" bIns="0" rtlCol="0" anchor="t"/>
          <a:lstStyle/>
          <a:p>
            <a:pPr>
              <a:lnSpc>
                <a:spcPts val="2400"/>
              </a:lnSpc>
            </a:pPr>
            <a:r>
              <a:rPr lang="en-US" sz="2000">
                <a:solidFill>
                  <a:schemeClr val="bg1"/>
                </a:solidFill>
              </a:rPr>
              <a:t>Parallel Test Execution</a:t>
            </a:r>
            <a:endParaRPr lang="en-US" sz="1950"/>
          </a:p>
        </p:txBody>
      </p:sp>
      <p:sp>
        <p:nvSpPr>
          <p:cNvPr id="10" name="Text 4">
            <a:extLst>
              <a:ext uri="{FF2B5EF4-FFF2-40B4-BE49-F238E27FC236}">
                <a16:creationId xmlns:a16="http://schemas.microsoft.com/office/drawing/2014/main" id="{CE7FB8BB-6FBC-251A-1659-F9158A5C8ABF}"/>
              </a:ext>
            </a:extLst>
          </p:cNvPr>
          <p:cNvSpPr/>
          <p:nvPr/>
        </p:nvSpPr>
        <p:spPr>
          <a:xfrm>
            <a:off x="999768" y="2886670"/>
            <a:ext cx="3267075" cy="952619"/>
          </a:xfrm>
          <a:prstGeom prst="rect">
            <a:avLst/>
          </a:prstGeom>
          <a:noFill/>
          <a:ln/>
        </p:spPr>
        <p:txBody>
          <a:bodyPr wrap="square" lIns="0" tIns="0" rIns="0" bIns="0" rtlCol="0" anchor="t"/>
          <a:lstStyle/>
          <a:p>
            <a:pPr>
              <a:lnSpc>
                <a:spcPts val="2500"/>
              </a:lnSpc>
            </a:pPr>
            <a:r>
              <a:rPr lang="en-US">
                <a:solidFill>
                  <a:schemeClr val="bg1"/>
                </a:solidFill>
              </a:rPr>
              <a:t>To help further testing processes, using parallel executions, tests can be reduced from the 4-minute run time to under 90 seconds</a:t>
            </a:r>
          </a:p>
          <a:p>
            <a:pPr>
              <a:lnSpc>
                <a:spcPts val="2500"/>
              </a:lnSpc>
            </a:pPr>
            <a:endParaRPr lang="en-US">
              <a:solidFill>
                <a:schemeClr val="bg1"/>
              </a:solidFill>
            </a:endParaRPr>
          </a:p>
        </p:txBody>
      </p:sp>
      <p:sp>
        <p:nvSpPr>
          <p:cNvPr id="13" name="TextBox 12">
            <a:extLst>
              <a:ext uri="{FF2B5EF4-FFF2-40B4-BE49-F238E27FC236}">
                <a16:creationId xmlns:a16="http://schemas.microsoft.com/office/drawing/2014/main" id="{614905EE-B46F-3E08-F723-AA33E5E97927}"/>
              </a:ext>
            </a:extLst>
          </p:cNvPr>
          <p:cNvSpPr txBox="1"/>
          <p:nvPr/>
        </p:nvSpPr>
        <p:spPr>
          <a:xfrm>
            <a:off x="5975025" y="2278304"/>
            <a:ext cx="6857846" cy="1200329"/>
          </a:xfrm>
          <a:prstGeom prst="rect">
            <a:avLst/>
          </a:prstGeom>
          <a:noFill/>
        </p:spPr>
        <p:txBody>
          <a:bodyPr wrap="square" lIns="91440" tIns="45720" rIns="91440" bIns="45720" rtlCol="0" anchor="t">
            <a:spAutoFit/>
          </a:bodyPr>
          <a:lstStyle/>
          <a:p>
            <a:r>
              <a:rPr lang="en-US" b="1">
                <a:solidFill>
                  <a:schemeClr val="bg1"/>
                </a:solidFill>
              </a:rPr>
              <a:t>Integrate with CI/CD (GitHub Actions) </a:t>
            </a:r>
          </a:p>
          <a:p>
            <a:r>
              <a:rPr lang="en-US">
                <a:solidFill>
                  <a:schemeClr val="bg1"/>
                </a:solidFill>
                <a:ea typeface="+mn-lt"/>
                <a:cs typeface="+mn-lt"/>
              </a:rPr>
              <a:t> using GitHub Actions will provide to further testing practices that tests can be automatically executed on every push or pull request. Helping catch bugs early, maintain code quality, and further bugs </a:t>
            </a:r>
            <a:endParaRPr lang="en-US">
              <a:solidFill>
                <a:schemeClr val="bg1"/>
              </a:solidFill>
              <a:ea typeface="Calibri"/>
              <a:cs typeface="Calibri"/>
            </a:endParaRPr>
          </a:p>
        </p:txBody>
      </p:sp>
      <p:sp>
        <p:nvSpPr>
          <p:cNvPr id="18" name="Shape 2">
            <a:extLst>
              <a:ext uri="{FF2B5EF4-FFF2-40B4-BE49-F238E27FC236}">
                <a16:creationId xmlns:a16="http://schemas.microsoft.com/office/drawing/2014/main" id="{3A9C688E-E37F-9E13-1140-D5EB2A70BDEE}"/>
              </a:ext>
            </a:extLst>
          </p:cNvPr>
          <p:cNvSpPr/>
          <p:nvPr/>
        </p:nvSpPr>
        <p:spPr>
          <a:xfrm>
            <a:off x="5961576" y="4118780"/>
            <a:ext cx="6857846" cy="1329085"/>
          </a:xfrm>
          <a:prstGeom prst="roundRect">
            <a:avLst>
              <a:gd name="adj" fmla="val 4647"/>
            </a:avLst>
          </a:prstGeom>
          <a:solidFill>
            <a:srgbClr val="110080"/>
          </a:solidFill>
          <a:ln w="7620">
            <a:solidFill>
              <a:srgbClr val="2A1999"/>
            </a:solidFill>
            <a:prstDash val="solid"/>
          </a:ln>
        </p:spPr>
        <p:txBody>
          <a:bodyPr/>
          <a:lstStyle/>
          <a:p>
            <a:endParaRPr lang="en-US"/>
          </a:p>
        </p:txBody>
      </p:sp>
      <p:sp>
        <p:nvSpPr>
          <p:cNvPr id="20" name="TextBox 19">
            <a:extLst>
              <a:ext uri="{FF2B5EF4-FFF2-40B4-BE49-F238E27FC236}">
                <a16:creationId xmlns:a16="http://schemas.microsoft.com/office/drawing/2014/main" id="{F912DB3C-FEF0-9597-C043-6B8B722DAA28}"/>
              </a:ext>
            </a:extLst>
          </p:cNvPr>
          <p:cNvSpPr txBox="1"/>
          <p:nvPr/>
        </p:nvSpPr>
        <p:spPr>
          <a:xfrm>
            <a:off x="5961578" y="4122111"/>
            <a:ext cx="6857846" cy="1213776"/>
          </a:xfrm>
          <a:prstGeom prst="rect">
            <a:avLst/>
          </a:prstGeom>
          <a:noFill/>
        </p:spPr>
        <p:txBody>
          <a:bodyPr wrap="square" lIns="91440" tIns="45720" rIns="91440" bIns="45720" anchor="t">
            <a:spAutoFit/>
          </a:bodyPr>
          <a:lstStyle/>
          <a:p>
            <a:r>
              <a:rPr lang="en-US" b="1">
                <a:solidFill>
                  <a:schemeClr val="bg1"/>
                </a:solidFill>
              </a:rPr>
              <a:t>Expand login test coverage with CAPTCHA </a:t>
            </a:r>
            <a:endParaRPr lang="en-US" b="1">
              <a:solidFill>
                <a:schemeClr val="bg1"/>
              </a:solidFill>
              <a:ea typeface="+mn-lt"/>
              <a:cs typeface="+mn-lt"/>
            </a:endParaRPr>
          </a:p>
          <a:p>
            <a:r>
              <a:rPr lang="en-US">
                <a:solidFill>
                  <a:schemeClr val="bg1"/>
                </a:solidFill>
                <a:ea typeface="+mn-lt"/>
                <a:cs typeface="+mn-lt"/>
              </a:rPr>
              <a:t>To </a:t>
            </a:r>
            <a:r>
              <a:rPr lang="en-US" err="1">
                <a:solidFill>
                  <a:schemeClr val="bg1"/>
                </a:solidFill>
                <a:ea typeface="+mn-lt"/>
                <a:cs typeface="+mn-lt"/>
              </a:rPr>
              <a:t>consistenly</a:t>
            </a:r>
            <a:r>
              <a:rPr lang="en-US">
                <a:solidFill>
                  <a:schemeClr val="bg1"/>
                </a:solidFill>
                <a:ea typeface="+mn-lt"/>
                <a:cs typeface="+mn-lt"/>
              </a:rPr>
              <a:t> authorize user access, test coverage can be built to include both CAPTCHA checks and third-party login flows (OAuth/social providers).  </a:t>
            </a:r>
            <a:endParaRPr lang="en-US">
              <a:solidFill>
                <a:schemeClr val="bg1"/>
              </a:solidFill>
              <a:ea typeface="Calibri"/>
              <a:cs typeface="Calibri"/>
            </a:endParaRPr>
          </a:p>
        </p:txBody>
      </p:sp>
      <p:sp>
        <p:nvSpPr>
          <p:cNvPr id="21" name="Shape 2">
            <a:extLst>
              <a:ext uri="{FF2B5EF4-FFF2-40B4-BE49-F238E27FC236}">
                <a16:creationId xmlns:a16="http://schemas.microsoft.com/office/drawing/2014/main" id="{DCF471EB-ACA2-8C3B-5490-5ABABB761EE1}"/>
              </a:ext>
            </a:extLst>
          </p:cNvPr>
          <p:cNvSpPr/>
          <p:nvPr/>
        </p:nvSpPr>
        <p:spPr>
          <a:xfrm>
            <a:off x="5961578" y="5829988"/>
            <a:ext cx="6857846" cy="1342532"/>
          </a:xfrm>
          <a:prstGeom prst="roundRect">
            <a:avLst>
              <a:gd name="adj" fmla="val 4647"/>
            </a:avLst>
          </a:prstGeom>
          <a:solidFill>
            <a:srgbClr val="110080"/>
          </a:solidFill>
          <a:ln w="7620">
            <a:solidFill>
              <a:srgbClr val="2A1999"/>
            </a:solidFill>
            <a:prstDash val="solid"/>
          </a:ln>
        </p:spPr>
        <p:txBody>
          <a:bodyPr/>
          <a:lstStyle/>
          <a:p>
            <a:endParaRPr lang="en-US"/>
          </a:p>
        </p:txBody>
      </p:sp>
      <p:sp>
        <p:nvSpPr>
          <p:cNvPr id="22" name="TextBox 21">
            <a:extLst>
              <a:ext uri="{FF2B5EF4-FFF2-40B4-BE49-F238E27FC236}">
                <a16:creationId xmlns:a16="http://schemas.microsoft.com/office/drawing/2014/main" id="{98E5FA3A-D688-7EE4-A75B-E03FE53E3F26}"/>
              </a:ext>
            </a:extLst>
          </p:cNvPr>
          <p:cNvSpPr txBox="1"/>
          <p:nvPr/>
        </p:nvSpPr>
        <p:spPr>
          <a:xfrm>
            <a:off x="5959248" y="5808294"/>
            <a:ext cx="6862507" cy="1477328"/>
          </a:xfrm>
          <a:prstGeom prst="rect">
            <a:avLst/>
          </a:prstGeom>
          <a:noFill/>
        </p:spPr>
        <p:txBody>
          <a:bodyPr wrap="square" lIns="91440" tIns="45720" rIns="91440" bIns="45720" rtlCol="0" anchor="t">
            <a:spAutoFit/>
          </a:bodyPr>
          <a:lstStyle/>
          <a:p>
            <a:r>
              <a:rPr lang="en-US" b="1">
                <a:solidFill>
                  <a:schemeClr val="bg1"/>
                </a:solidFill>
              </a:rPr>
              <a:t>Add visual regression testing using</a:t>
            </a:r>
            <a:r>
              <a:rPr lang="en-US">
                <a:solidFill>
                  <a:schemeClr val="bg1"/>
                </a:solidFill>
              </a:rPr>
              <a:t> </a:t>
            </a:r>
          </a:p>
          <a:p>
            <a:r>
              <a:rPr lang="en-US">
                <a:solidFill>
                  <a:schemeClr val="bg1"/>
                </a:solidFill>
              </a:rPr>
              <a:t>Using a tool like Ashot to catch UI layout changes push can help </a:t>
            </a:r>
            <a:r>
              <a:rPr lang="en-US">
                <a:solidFill>
                  <a:schemeClr val="bg1"/>
                </a:solidFill>
                <a:ea typeface="+mn-lt"/>
                <a:cs typeface="+mn-lt"/>
              </a:rPr>
              <a:t>capture screenshots of your UI and compare them to baseline images, detecting unintended layout or styling changes, which can be Integrated into CI/CD, automatically flags visual differences </a:t>
            </a:r>
            <a:endParaRPr lang="en-US">
              <a:solidFill>
                <a:schemeClr val="bg1"/>
              </a:solidFill>
              <a:ea typeface="Calibri"/>
              <a:cs typeface="Calibri"/>
            </a:endParaRPr>
          </a:p>
        </p:txBody>
      </p:sp>
      <p:sp>
        <p:nvSpPr>
          <p:cNvPr id="23" name="Text 3">
            <a:extLst>
              <a:ext uri="{FF2B5EF4-FFF2-40B4-BE49-F238E27FC236}">
                <a16:creationId xmlns:a16="http://schemas.microsoft.com/office/drawing/2014/main" id="{536A9AC7-2EFC-39FF-48F3-256E1894E746}"/>
              </a:ext>
            </a:extLst>
          </p:cNvPr>
          <p:cNvSpPr/>
          <p:nvPr/>
        </p:nvSpPr>
        <p:spPr>
          <a:xfrm>
            <a:off x="999765" y="5015354"/>
            <a:ext cx="3143369" cy="310158"/>
          </a:xfrm>
          <a:prstGeom prst="rect">
            <a:avLst/>
          </a:prstGeom>
          <a:noFill/>
          <a:ln/>
        </p:spPr>
        <p:txBody>
          <a:bodyPr wrap="none" lIns="0" tIns="0" rIns="0" bIns="0" rtlCol="0" anchor="t"/>
          <a:lstStyle/>
          <a:p>
            <a:pPr marL="0" indent="0" algn="l">
              <a:lnSpc>
                <a:spcPts val="2400"/>
              </a:lnSpc>
              <a:buNone/>
            </a:pPr>
            <a:endParaRPr lang="en-US" sz="1950"/>
          </a:p>
        </p:txBody>
      </p:sp>
      <p:sp>
        <p:nvSpPr>
          <p:cNvPr id="24" name="Shape 2">
            <a:extLst>
              <a:ext uri="{FF2B5EF4-FFF2-40B4-BE49-F238E27FC236}">
                <a16:creationId xmlns:a16="http://schemas.microsoft.com/office/drawing/2014/main" id="{12F37EB4-AB2D-536D-569E-ED7E5826120B}"/>
              </a:ext>
            </a:extLst>
          </p:cNvPr>
          <p:cNvSpPr/>
          <p:nvPr/>
        </p:nvSpPr>
        <p:spPr>
          <a:xfrm>
            <a:off x="793787" y="4809376"/>
            <a:ext cx="4961811" cy="2351926"/>
          </a:xfrm>
          <a:prstGeom prst="roundRect">
            <a:avLst>
              <a:gd name="adj" fmla="val 4647"/>
            </a:avLst>
          </a:prstGeom>
          <a:solidFill>
            <a:srgbClr val="110080"/>
          </a:solidFill>
          <a:ln w="7620">
            <a:solidFill>
              <a:srgbClr val="2A1999"/>
            </a:solidFill>
            <a:prstDash val="solid"/>
          </a:ln>
        </p:spPr>
        <p:txBody>
          <a:bodyPr/>
          <a:lstStyle/>
          <a:p>
            <a:endParaRPr lang="en-US"/>
          </a:p>
        </p:txBody>
      </p:sp>
      <p:sp>
        <p:nvSpPr>
          <p:cNvPr id="25" name="Text 3">
            <a:extLst>
              <a:ext uri="{FF2B5EF4-FFF2-40B4-BE49-F238E27FC236}">
                <a16:creationId xmlns:a16="http://schemas.microsoft.com/office/drawing/2014/main" id="{CD06F339-79A6-3B89-3683-4E62F060115C}"/>
              </a:ext>
            </a:extLst>
          </p:cNvPr>
          <p:cNvSpPr/>
          <p:nvPr/>
        </p:nvSpPr>
        <p:spPr>
          <a:xfrm>
            <a:off x="896775" y="5015354"/>
            <a:ext cx="3143369" cy="310158"/>
          </a:xfrm>
          <a:prstGeom prst="rect">
            <a:avLst/>
          </a:prstGeom>
          <a:noFill/>
          <a:ln/>
        </p:spPr>
        <p:txBody>
          <a:bodyPr wrap="none" lIns="0" tIns="0" rIns="0" bIns="0" rtlCol="0" anchor="t"/>
          <a:lstStyle/>
          <a:p>
            <a:pPr>
              <a:lnSpc>
                <a:spcPts val="2400"/>
              </a:lnSpc>
            </a:pPr>
            <a:r>
              <a:rPr lang="en-US" sz="2000" b="1">
                <a:solidFill>
                  <a:schemeClr val="bg1"/>
                </a:solidFill>
              </a:rPr>
              <a:t>Parameterize test Data Test Execution</a:t>
            </a:r>
            <a:endParaRPr lang="en-US" sz="1950" b="1"/>
          </a:p>
        </p:txBody>
      </p:sp>
      <p:sp>
        <p:nvSpPr>
          <p:cNvPr id="26" name="Text 4">
            <a:extLst>
              <a:ext uri="{FF2B5EF4-FFF2-40B4-BE49-F238E27FC236}">
                <a16:creationId xmlns:a16="http://schemas.microsoft.com/office/drawing/2014/main" id="{34C38912-9D56-9E5E-E782-043772AEFF00}"/>
              </a:ext>
            </a:extLst>
          </p:cNvPr>
          <p:cNvSpPr/>
          <p:nvPr/>
        </p:nvSpPr>
        <p:spPr>
          <a:xfrm>
            <a:off x="896775" y="5444574"/>
            <a:ext cx="4755833" cy="1716728"/>
          </a:xfrm>
          <a:prstGeom prst="rect">
            <a:avLst/>
          </a:prstGeom>
          <a:noFill/>
          <a:ln/>
        </p:spPr>
        <p:txBody>
          <a:bodyPr wrap="square" lIns="0" tIns="0" rIns="0" bIns="0" rtlCol="0" anchor="t"/>
          <a:lstStyle/>
          <a:p>
            <a:r>
              <a:rPr lang="en-US">
                <a:solidFill>
                  <a:schemeClr val="bg1"/>
                </a:solidFill>
              </a:rPr>
              <a:t>In order to use multiple search terms, and multiple game pages using TestNG. In future iterations we can use @DataProvider Add cross-browser coverage (Firefox, Edge) via </a:t>
            </a:r>
            <a:r>
              <a:rPr lang="en-US" err="1">
                <a:solidFill>
                  <a:schemeClr val="bg1"/>
                </a:solidFill>
              </a:rPr>
              <a:t>WebDriverManager's</a:t>
            </a:r>
            <a:r>
              <a:rPr lang="en-US">
                <a:solidFill>
                  <a:schemeClr val="bg1"/>
                </a:solidFill>
              </a:rPr>
              <a:t> built-in support Mock the GOG API responses for faster, network-independent unit-level tests </a:t>
            </a:r>
            <a:br>
              <a:rPr lang="en-US" sz="1600">
                <a:solidFill>
                  <a:schemeClr val="bg1"/>
                </a:solidFill>
              </a:rPr>
            </a:br>
            <a:endParaRPr lang="en-US"/>
          </a:p>
          <a:p>
            <a:pPr>
              <a:lnSpc>
                <a:spcPts val="2500"/>
              </a:lnSpc>
            </a:pPr>
            <a:endParaRPr lang="en-US">
              <a:solidFill>
                <a:schemeClr val="bg1"/>
              </a:solidFill>
            </a:endParaRPr>
          </a:p>
        </p:txBody>
      </p:sp>
    </p:spTree>
    <p:extLst>
      <p:ext uri="{BB962C8B-B14F-4D97-AF65-F5344CB8AC3E}">
        <p14:creationId xmlns:p14="http://schemas.microsoft.com/office/powerpoint/2010/main" val="3627838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67DC1-25F9-D168-231A-5F62C702F79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C60CFC5-3A9C-76F6-950F-F2F6F5611650}"/>
              </a:ext>
            </a:extLst>
          </p:cNvPr>
          <p:cNvPicPr/>
          <p:nvPr/>
        </p:nvPicPr>
        <p:blipFill>
          <a:blip r:embed="rId2"/>
          <a:stretch>
            <a:fillRect/>
          </a:stretch>
        </p:blipFill>
        <p:spPr>
          <a:xfrm>
            <a:off x="11620080" y="7715178"/>
            <a:ext cx="3010320" cy="514422"/>
          </a:xfrm>
          <a:prstGeom prst="rect">
            <a:avLst/>
          </a:prstGeom>
        </p:spPr>
      </p:pic>
      <p:sp>
        <p:nvSpPr>
          <p:cNvPr id="4" name="Text 1">
            <a:extLst>
              <a:ext uri="{FF2B5EF4-FFF2-40B4-BE49-F238E27FC236}">
                <a16:creationId xmlns:a16="http://schemas.microsoft.com/office/drawing/2014/main" id="{00F4F32A-EA87-6BD3-8429-D0B1A87F383F}"/>
              </a:ext>
            </a:extLst>
          </p:cNvPr>
          <p:cNvSpPr/>
          <p:nvPr/>
        </p:nvSpPr>
        <p:spPr>
          <a:xfrm>
            <a:off x="793790" y="1333738"/>
            <a:ext cx="4961811" cy="620078"/>
          </a:xfrm>
          <a:prstGeom prst="rect">
            <a:avLst/>
          </a:prstGeom>
          <a:noFill/>
          <a:ln/>
        </p:spPr>
        <p:txBody>
          <a:bodyPr wrap="none" lIns="0" tIns="0" rIns="0" bIns="0" rtlCol="0" anchor="t"/>
          <a:lstStyle/>
          <a:p>
            <a:pPr marL="0" indent="0" algn="l">
              <a:lnSpc>
                <a:spcPts val="4850"/>
              </a:lnSpc>
              <a:buNone/>
            </a:pPr>
            <a:r>
              <a:rPr lang="en-US" sz="3900" b="1">
                <a:solidFill>
                  <a:srgbClr val="FFFFFF"/>
                </a:solidFill>
                <a:latin typeface="Inter Bold" pitchFamily="34" charset="0"/>
                <a:ea typeface="Inter Bold" pitchFamily="34" charset="-122"/>
                <a:cs typeface="Inter Bold" pitchFamily="34" charset="-120"/>
              </a:rPr>
              <a:t>Conclusion</a:t>
            </a:r>
            <a:endParaRPr lang="en-US" sz="3900"/>
          </a:p>
        </p:txBody>
      </p:sp>
      <p:sp>
        <p:nvSpPr>
          <p:cNvPr id="6" name="Shape 2">
            <a:extLst>
              <a:ext uri="{FF2B5EF4-FFF2-40B4-BE49-F238E27FC236}">
                <a16:creationId xmlns:a16="http://schemas.microsoft.com/office/drawing/2014/main" id="{B283368A-C2E9-6C88-3F4E-1ECDBB49F19C}"/>
              </a:ext>
            </a:extLst>
          </p:cNvPr>
          <p:cNvSpPr/>
          <p:nvPr/>
        </p:nvSpPr>
        <p:spPr>
          <a:xfrm>
            <a:off x="793790" y="2251472"/>
            <a:ext cx="8127206" cy="5451396"/>
          </a:xfrm>
          <a:prstGeom prst="roundRect">
            <a:avLst>
              <a:gd name="adj" fmla="val 4647"/>
            </a:avLst>
          </a:prstGeom>
          <a:solidFill>
            <a:srgbClr val="110080"/>
          </a:solidFill>
          <a:ln w="7620">
            <a:solidFill>
              <a:srgbClr val="2A1999"/>
            </a:solidFill>
            <a:prstDash val="solid"/>
          </a:ln>
        </p:spPr>
        <p:txBody>
          <a:bodyPr/>
          <a:lstStyle/>
          <a:p>
            <a:endParaRPr lang="en-US"/>
          </a:p>
        </p:txBody>
      </p:sp>
      <p:sp>
        <p:nvSpPr>
          <p:cNvPr id="10" name="TextBox 9">
            <a:extLst>
              <a:ext uri="{FF2B5EF4-FFF2-40B4-BE49-F238E27FC236}">
                <a16:creationId xmlns:a16="http://schemas.microsoft.com/office/drawing/2014/main" id="{C7D79B87-0E46-0FBC-B628-BB1CFBD7860B}"/>
              </a:ext>
            </a:extLst>
          </p:cNvPr>
          <p:cNvSpPr txBox="1"/>
          <p:nvPr/>
        </p:nvSpPr>
        <p:spPr>
          <a:xfrm>
            <a:off x="1270534" y="2618071"/>
            <a:ext cx="7177438" cy="47705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E5E0DF"/>
                </a:solidFill>
                <a:latin typeface="Inter"/>
                <a:ea typeface="Inter"/>
                <a:cs typeface="Calibri"/>
              </a:rPr>
              <a:t>Our complete end-to-end test suite was designed to cover various test cases that may occur from account login to browsing and checkout. </a:t>
            </a:r>
            <a:endParaRPr lang="en-US" sz="1600">
              <a:ea typeface="Calibri"/>
              <a:cs typeface="Calibri"/>
            </a:endParaRPr>
          </a:p>
          <a:p>
            <a:pPr marL="285750" indent="-285750">
              <a:buFont typeface="Arial"/>
              <a:buChar char="•"/>
            </a:pPr>
            <a:r>
              <a:rPr lang="en-US" sz="1600">
                <a:solidFill>
                  <a:srgbClr val="E5E0DF"/>
                </a:solidFill>
                <a:latin typeface="Inter"/>
                <a:ea typeface="Inter"/>
                <a:cs typeface="Calibri"/>
              </a:rPr>
              <a:t>70 test cases over 8 different test classes</a:t>
            </a:r>
            <a:endParaRPr lang="en-US" sz="1600">
              <a:solidFill>
                <a:srgbClr val="000000"/>
              </a:solidFill>
              <a:latin typeface="Calibri" panose="020F0502020204030204"/>
              <a:ea typeface="Calibri" panose="020F0502020204030204"/>
              <a:cs typeface="Calibri"/>
            </a:endParaRPr>
          </a:p>
          <a:p>
            <a:pPr marL="742950" lvl="1" indent="-285750">
              <a:buFont typeface="Courier New"/>
              <a:buChar char="o"/>
            </a:pPr>
            <a:r>
              <a:rPr lang="en-US" sz="1600">
                <a:solidFill>
                  <a:srgbClr val="E5E0DF"/>
                </a:solidFill>
                <a:latin typeface="Inter"/>
                <a:ea typeface="Inter"/>
                <a:cs typeface="Calibri"/>
              </a:rPr>
              <a:t>All pass without failures or long executions. </a:t>
            </a:r>
            <a:endParaRPr lang="en-US" sz="1600">
              <a:solidFill>
                <a:srgbClr val="000000"/>
              </a:solidFill>
              <a:latin typeface="Calibri" panose="020F0502020204030204"/>
              <a:ea typeface="Calibri" panose="020F0502020204030204"/>
              <a:cs typeface="Calibri"/>
            </a:endParaRPr>
          </a:p>
          <a:p>
            <a:pPr marL="1200150" lvl="2" indent="-285750">
              <a:buFont typeface="Wingdings"/>
              <a:buChar char="§"/>
            </a:pPr>
            <a:r>
              <a:rPr lang="en-US" sz="1600">
                <a:solidFill>
                  <a:srgbClr val="E5E0DF"/>
                </a:solidFill>
                <a:latin typeface="Inter"/>
                <a:ea typeface="Inter"/>
                <a:cs typeface="Calibri"/>
              </a:rPr>
              <a:t>form inputs, keyboard events, page scrolling, screenshots, cookie validation, HTTPS verification, attribute assertations, and navigation between pages. </a:t>
            </a:r>
            <a:endParaRPr lang="en-US" sz="1600">
              <a:solidFill>
                <a:srgbClr val="000000"/>
              </a:solidFill>
              <a:latin typeface="Calibri" panose="020F0502020204030204"/>
              <a:ea typeface="Calibri" panose="020F0502020204030204"/>
              <a:cs typeface="Calibri"/>
            </a:endParaRPr>
          </a:p>
          <a:p>
            <a:r>
              <a:rPr lang="en-US" sz="1600">
                <a:solidFill>
                  <a:srgbClr val="E5E0DF"/>
                </a:solidFill>
                <a:latin typeface="Inter"/>
                <a:ea typeface="Inter"/>
                <a:cs typeface="Calibri"/>
              </a:rPr>
              <a:t>Our testing suite follows the industry-standard patterns for test case creation of:</a:t>
            </a:r>
            <a:endParaRPr lang="en-US" sz="1600">
              <a:solidFill>
                <a:srgbClr val="000000"/>
              </a:solidFill>
              <a:latin typeface="Calibri" panose="020F0502020204030204"/>
              <a:ea typeface="Calibri" panose="020F0502020204030204"/>
              <a:cs typeface="Calibri"/>
            </a:endParaRPr>
          </a:p>
          <a:p>
            <a:pPr marL="1200150" lvl="2" indent="-285750">
              <a:buFont typeface="Wingdings"/>
              <a:buChar char="§"/>
            </a:pPr>
            <a:r>
              <a:rPr lang="en-US" sz="1600">
                <a:solidFill>
                  <a:srgbClr val="E5E0DF"/>
                </a:solidFill>
                <a:latin typeface="Inter"/>
                <a:ea typeface="Inter"/>
                <a:cs typeface="Calibri"/>
              </a:rPr>
              <a:t>Page Object Separation via </a:t>
            </a:r>
            <a:r>
              <a:rPr lang="en-US" sz="1600" err="1">
                <a:solidFill>
                  <a:srgbClr val="E5E0DF"/>
                </a:solidFill>
                <a:latin typeface="Inter"/>
                <a:ea typeface="Inter"/>
                <a:cs typeface="Calibri"/>
              </a:rPr>
              <a:t>BaseTest</a:t>
            </a:r>
            <a:r>
              <a:rPr lang="en-US" sz="1600">
                <a:solidFill>
                  <a:srgbClr val="E5E0DF"/>
                </a:solidFill>
                <a:latin typeface="Inter"/>
                <a:ea typeface="Inter"/>
                <a:cs typeface="Calibri"/>
              </a:rPr>
              <a:t>, shared utilities in </a:t>
            </a:r>
            <a:r>
              <a:rPr lang="en-US" sz="1600" err="1">
                <a:solidFill>
                  <a:srgbClr val="E5E0DF"/>
                </a:solidFill>
                <a:latin typeface="Inter"/>
                <a:ea typeface="Inter"/>
                <a:cs typeface="Calibri"/>
              </a:rPr>
              <a:t>TestUtils</a:t>
            </a:r>
            <a:r>
              <a:rPr lang="en-US" sz="1600">
                <a:solidFill>
                  <a:srgbClr val="E5E0DF"/>
                </a:solidFill>
                <a:latin typeface="Inter"/>
                <a:ea typeface="Inter"/>
                <a:cs typeface="Calibri"/>
              </a:rPr>
              <a:t>, and external credential management via </a:t>
            </a:r>
            <a:r>
              <a:rPr lang="en-US" sz="1600" err="1">
                <a:solidFill>
                  <a:srgbClr val="E5E0DF"/>
                </a:solidFill>
                <a:latin typeface="Inter"/>
                <a:ea typeface="Inter"/>
                <a:cs typeface="Calibri"/>
              </a:rPr>
              <a:t>config.properties</a:t>
            </a:r>
            <a:r>
              <a:rPr lang="en-US" sz="1600">
                <a:solidFill>
                  <a:srgbClr val="E5E0DF"/>
                </a:solidFill>
                <a:latin typeface="Inter"/>
                <a:ea typeface="Inter"/>
                <a:cs typeface="Calibri"/>
              </a:rPr>
              <a:t>. </a:t>
            </a:r>
            <a:endParaRPr lang="en-US" sz="1600">
              <a:solidFill>
                <a:srgbClr val="000000"/>
              </a:solidFill>
              <a:latin typeface="Calibri" panose="020F0502020204030204"/>
              <a:ea typeface="Calibri" panose="020F0502020204030204"/>
              <a:cs typeface="Calibri"/>
            </a:endParaRPr>
          </a:p>
          <a:p>
            <a:r>
              <a:rPr lang="en-US" sz="1600">
                <a:solidFill>
                  <a:srgbClr val="E5E0DF"/>
                </a:solidFill>
                <a:latin typeface="Inter"/>
                <a:ea typeface="Inter"/>
                <a:cs typeface="Calibri"/>
              </a:rPr>
              <a:t>The testing suite also will generate a report after every execution using a customized TestNG listener. </a:t>
            </a:r>
            <a:endParaRPr lang="en-US" sz="1600">
              <a:solidFill>
                <a:srgbClr val="000000"/>
              </a:solidFill>
              <a:latin typeface="Calibri" panose="020F0502020204030204"/>
              <a:ea typeface="Calibri" panose="020F0502020204030204"/>
              <a:cs typeface="Calibri"/>
            </a:endParaRPr>
          </a:p>
          <a:p>
            <a:endParaRPr lang="en-US" sz="1600">
              <a:solidFill>
                <a:srgbClr val="E5E0DF"/>
              </a:solidFill>
              <a:latin typeface="Inter"/>
              <a:ea typeface="Inter"/>
              <a:cs typeface="Calibri"/>
            </a:endParaRPr>
          </a:p>
          <a:p>
            <a:r>
              <a:rPr lang="en-US" sz="1600">
                <a:solidFill>
                  <a:srgbClr val="E5E0DF"/>
                </a:solidFill>
                <a:latin typeface="Inter"/>
                <a:ea typeface="Inter"/>
                <a:cs typeface="Calibri"/>
              </a:rPr>
              <a:t>This project demonstrated real-world SPA automation requiring working around angular rendering delays, age gates, authorization redirects, and missing semantics in HTML elements; all of which we had encountered and solved during the development of the TestNG suite.</a:t>
            </a:r>
            <a:endParaRPr lang="en-US" sz="1600">
              <a:ea typeface="Calibri" panose="020F0502020204030204"/>
              <a:cs typeface="Calibri" panose="020F0502020204030204"/>
            </a:endParaRPr>
          </a:p>
        </p:txBody>
      </p:sp>
      <p:pic>
        <p:nvPicPr>
          <p:cNvPr id="12" name="Picture 4" descr="A purple and white logo&#10;&#10;AI-generated content may be incorrect.">
            <a:extLst>
              <a:ext uri="{FF2B5EF4-FFF2-40B4-BE49-F238E27FC236}">
                <a16:creationId xmlns:a16="http://schemas.microsoft.com/office/drawing/2014/main" id="{93A29454-2866-DBE0-7988-5A4CE228D2A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075" r="33592"/>
          <a:stretch>
            <a:fillRect/>
          </a:stretch>
        </p:blipFill>
        <p:spPr bwMode="auto">
          <a:xfrm>
            <a:off x="11473313" y="0"/>
            <a:ext cx="3157087" cy="476450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A screenshot of a web page&#10;&#10;AI-generated content may be incorrect.">
            <a:extLst>
              <a:ext uri="{FF2B5EF4-FFF2-40B4-BE49-F238E27FC236}">
                <a16:creationId xmlns:a16="http://schemas.microsoft.com/office/drawing/2014/main" id="{E4B86B89-75D6-93AD-B4DD-4E199B4B185D}"/>
              </a:ext>
            </a:extLst>
          </p:cNvPr>
          <p:cNvPicPr>
            <a:picLocks noChangeAspect="1"/>
          </p:cNvPicPr>
          <p:nvPr/>
        </p:nvPicPr>
        <p:blipFill>
          <a:blip r:embed="rId4"/>
          <a:srcRect l="31238" t="56654" b="232"/>
          <a:stretch>
            <a:fillRect/>
          </a:stretch>
        </p:blipFill>
        <p:spPr>
          <a:xfrm>
            <a:off x="9317255" y="4697126"/>
            <a:ext cx="5119726" cy="3275931"/>
          </a:xfrm>
          <a:prstGeom prst="rect">
            <a:avLst/>
          </a:prstGeom>
        </p:spPr>
      </p:pic>
    </p:spTree>
    <p:extLst>
      <p:ext uri="{BB962C8B-B14F-4D97-AF65-F5344CB8AC3E}">
        <p14:creationId xmlns:p14="http://schemas.microsoft.com/office/powerpoint/2010/main" val="21246671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7a5a4ef-4ffa-4c80-bfb3-c12e28872099}" enabled="0" method="" siteId="{f7a5a4ef-4ffa-4c80-bfb3-c12e28872099}" removed="1"/>
</clbl:labelList>
</file>

<file path=docProps/app.xml><?xml version="1.0" encoding="utf-8"?>
<Properties xmlns="http://schemas.openxmlformats.org/officeDocument/2006/extended-properties" xmlns:vt="http://schemas.openxmlformats.org/officeDocument/2006/docPropsVTypes">
  <TotalTime>0</TotalTime>
  <Words>1798</Words>
  <Application>Microsoft Office PowerPoint</Application>
  <PresentationFormat>Custom</PresentationFormat>
  <Paragraphs>243</Paragraphs>
  <Slides>15</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Courier New</vt:lpstr>
      <vt:lpstr>Inter Bold</vt:lpstr>
      <vt:lpstr>Wingdings</vt:lpstr>
      <vt:lpstr>Calibri</vt: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Robert</dc:creator>
  <cp:lastModifiedBy>Robert Benstine</cp:lastModifiedBy>
  <cp:revision>2</cp:revision>
  <dcterms:created xsi:type="dcterms:W3CDTF">2026-04-14T21:04:49Z</dcterms:created>
  <dcterms:modified xsi:type="dcterms:W3CDTF">2026-04-18T15:09:27Z</dcterms:modified>
</cp:coreProperties>
</file>