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GOG.com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slideLayout" Target="../slideLayouts/slideLayout6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://GOG.com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291667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End-to-End Testing of </a:t>
            </a:r>
            <a:pPr algn="l" indent="0" marL="0">
              <a:lnSpc>
                <a:spcPts val="4850"/>
              </a:lnSpc>
              <a:buNone/>
            </a:pPr>
            <a:r>
              <a:rPr lang="en-US" sz="3900" b="1" u="sng" dirty="0">
                <a:solidFill>
                  <a:srgbClr val="7B6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GOG.com</a:t>
            </a:r>
            <a:endParaRPr lang="en-US" sz="3900" dirty="0"/>
          </a:p>
        </p:txBody>
      </p:sp>
      <p:sp>
        <p:nvSpPr>
          <p:cNvPr id="6" name="Text 2"/>
          <p:cNvSpPr/>
          <p:nvPr/>
        </p:nvSpPr>
        <p:spPr>
          <a:xfrm>
            <a:off x="793790" y="445448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 4072: Software Testing – Spring 2026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793790" y="499526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Number: 15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6788"/>
            <a:ext cx="610171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Goal &amp; Motivation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983700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9768" y="218967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B0A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479" y="2353270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9768" y="2983349"/>
            <a:ext cx="311908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 System Testing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9768" y="3412569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end-to-end testing of GOG.com to verify core user-facing features work correctly and consistently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4379" y="1983700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20357" y="218967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B0A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4068" y="2353270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357" y="29833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 Regressions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20357" y="3412569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Catch regressions from front-end updates, SPA routing changes, or UI restructuring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93790" y="4451985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9768" y="465796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B0A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479" y="4821555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9768" y="54516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 User Flows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99768" y="5880854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browsing, searching, login, signup, game pages, and cart/checkout without manual testing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14379" y="4451985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20357" y="465796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B0A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84068" y="4821555"/>
            <a:ext cx="267891" cy="2678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0357" y="54516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Constraints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20357" y="5880854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CAPTCHA, GDPR banners, age-gate overlays, lazy-loaded content, and dynamic XHR tiles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93790" y="694515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product quality confidence through repeatable, automated regression testing.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9677" y="401479"/>
            <a:ext cx="3256121" cy="406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Workflow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677" y="979289"/>
            <a:ext cx="390644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55689" y="1109424"/>
            <a:ext cx="162806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 Config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655689" y="1363980"/>
            <a:ext cx="9795034" cy="172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config.properties for credentials and game URLs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940" y="1846064"/>
            <a:ext cx="390644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50952" y="1976199"/>
            <a:ext cx="162806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BaseTest Setup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2850952" y="2230755"/>
            <a:ext cx="9599771" cy="172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@BeforeClass launches ChromeDriver with anti-automation flags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321" y="2712839"/>
            <a:ext cx="390644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46333" y="2842974"/>
            <a:ext cx="162806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TestUtils Actions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3046333" y="3097530"/>
            <a:ext cx="9404390" cy="172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Dismiss cookie consent, perform login, wait for page load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703" y="3579614"/>
            <a:ext cx="390644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41715" y="3709749"/>
            <a:ext cx="162806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Execute Tests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3241715" y="3964305"/>
            <a:ext cx="9209008" cy="172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7–8 @Test methods per class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321" y="4446389"/>
            <a:ext cx="390644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046333" y="4576524"/>
            <a:ext cx="162806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TestNG Assertions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3046333" y="4831080"/>
            <a:ext cx="9404390" cy="172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pass/fail conditions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4940" y="5313164"/>
            <a:ext cx="390644" cy="1143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850952" y="5443299"/>
            <a:ext cx="162806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Teardown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2850952" y="5697855"/>
            <a:ext cx="9599771" cy="172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@AfterClass quits driver</a:t>
            </a:r>
            <a:endParaRPr lang="en-US" sz="10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9677" y="6179939"/>
            <a:ext cx="390644" cy="11430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655689" y="6310074"/>
            <a:ext cx="162806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Maven Execution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2655689" y="6564630"/>
            <a:ext cx="9795034" cy="172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Surefire runs 8 test classes via testng.xml</a:t>
            </a:r>
            <a:endParaRPr lang="en-US" sz="10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4940" y="7046714"/>
            <a:ext cx="390644" cy="11430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2850952" y="7176849"/>
            <a:ext cx="162806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 Generation</a:t>
            </a:r>
            <a:endParaRPr lang="en-US" sz="1250" dirty="0"/>
          </a:p>
        </p:txBody>
      </p:sp>
      <p:sp>
        <p:nvSpPr>
          <p:cNvPr id="26" name="Text 16"/>
          <p:cNvSpPr/>
          <p:nvPr/>
        </p:nvSpPr>
        <p:spPr>
          <a:xfrm>
            <a:off x="2850952" y="7431405"/>
            <a:ext cx="9599771" cy="172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TestNG HTML report in target/surefire-reports/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720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Contributions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332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Robert Benstine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041809"/>
            <a:ext cx="4024313" cy="267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HomePageTest (7 tests): title, header, logo, tiles, sign-in, footer, HTTPS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LoginPageTest (7 tests): form fields, invalid login error, forgot password, create account link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NavigationTest (6 tests): logo navigation, store link, catalog routing, header persistence, cart icon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309830" y="25332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Dennis Kerry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309830" y="3041809"/>
            <a:ext cx="4024313" cy="3314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GamePageTest (7 tests): product page load, title H1, buy button, description, screenshots, system requirements, HTTPS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CartPageTest (7 tests): cart page load, title, main content, empty-cart state, continue-shopping link, header, HTTPS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BaseTest &amp; AuthenticatedTest infrastructure: ChromeDriver setup, anti-bot flags, login lifecycle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825871" y="25332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Myles Vinal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825871" y="3041809"/>
            <a:ext cx="4024313" cy="370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SearchTest (6 tests): search icon, results page load, result tiles, tile titles, tile images, filter controls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GenreBrowseTest (6 tests): catalog page, RPG genre filter, tile images, sort/filter controls, page heading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TestUtils shared utility: performLogin, dismissCookieConsent, waitForPageLoad, isElementPresent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testng.xml integration and Maven Surefire configuration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4505"/>
            <a:ext cx="51436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Tools &amp; Technologies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1821418"/>
            <a:ext cx="396835" cy="3968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46626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 17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2895481"/>
            <a:ext cx="41821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programming language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3986" y="1821418"/>
            <a:ext cx="396835" cy="3968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3986" y="2466261"/>
            <a:ext cx="318563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Selenium WebDriver 4.18.1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223986" y="2895481"/>
            <a:ext cx="41823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automation framework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4302" y="1821418"/>
            <a:ext cx="396835" cy="3968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54302" y="246626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TestNG 7.9.0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54302" y="2895481"/>
            <a:ext cx="41823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framework, assertions, HTML reporting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3609856"/>
            <a:ext cx="396835" cy="3968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4254698"/>
            <a:ext cx="30131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WebDriverManager 5.7.0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793790" y="4683919"/>
            <a:ext cx="41821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ChromeDriver binary management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23986" y="3609856"/>
            <a:ext cx="396835" cy="39683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23986" y="4254698"/>
            <a:ext cx="29801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Maven 3 + Surefire 3.2.5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5223986" y="4683919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Build, dependency management, test execution</a:t>
            </a:r>
            <a:endParaRPr lang="en-US" sz="15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54302" y="3609856"/>
            <a:ext cx="396835" cy="39683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54302" y="42546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Chrome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9654302" y="4683919"/>
            <a:ext cx="41823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under test</a:t>
            </a:r>
            <a:endParaRPr lang="en-US" sz="15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3790" y="5715833"/>
            <a:ext cx="396835" cy="39683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93790" y="63606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Windows 10/11</a:t>
            </a:r>
            <a:endParaRPr lang="en-US" sz="1950" dirty="0"/>
          </a:p>
        </p:txBody>
      </p:sp>
      <p:sp>
        <p:nvSpPr>
          <p:cNvPr id="23" name="Text 14"/>
          <p:cNvSpPr/>
          <p:nvPr/>
        </p:nvSpPr>
        <p:spPr>
          <a:xfrm>
            <a:off x="793790" y="6789896"/>
            <a:ext cx="41821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system</a:t>
            </a:r>
            <a:endParaRPr lang="en-US" sz="15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23986" y="5715833"/>
            <a:ext cx="396835" cy="39683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23986" y="63606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/ GitHub</a:t>
            </a:r>
            <a:endParaRPr lang="en-US" sz="1950" dirty="0"/>
          </a:p>
        </p:txBody>
      </p:sp>
      <p:sp>
        <p:nvSpPr>
          <p:cNvPr id="26" name="Text 16"/>
          <p:cNvSpPr/>
          <p:nvPr/>
        </p:nvSpPr>
        <p:spPr>
          <a:xfrm>
            <a:off x="5223986" y="6789896"/>
            <a:ext cx="41823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 and code repository</a:t>
            </a:r>
            <a:endParaRPr lang="en-US" sz="15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54302" y="5715833"/>
            <a:ext cx="396835" cy="39683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654302" y="63606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config.properties</a:t>
            </a:r>
            <a:endParaRPr lang="en-US" sz="1950" dirty="0"/>
          </a:p>
        </p:txBody>
      </p:sp>
      <p:sp>
        <p:nvSpPr>
          <p:cNvPr id="29" name="Text 18"/>
          <p:cNvSpPr/>
          <p:nvPr/>
        </p:nvSpPr>
        <p:spPr>
          <a:xfrm>
            <a:off x="9654302" y="6789896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Externalized credential and URL configuration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29828"/>
            <a:ext cx="6539151" cy="56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Under Test: </a:t>
            </a:r>
            <a:pPr algn="l" indent="0" marL="0">
              <a:lnSpc>
                <a:spcPts val="4400"/>
              </a:lnSpc>
              <a:buNone/>
            </a:pPr>
            <a:r>
              <a:rPr lang="en-US" sz="3500" b="1" u="sng" dirty="0">
                <a:solidFill>
                  <a:srgbClr val="7B6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GOG.com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9376" y="1417915"/>
            <a:ext cx="131916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GOG.com is a DRM-free digital PC game store owned by CD PROJEKT. The platform features an Angular-based SPA with asynchronous XHR content loading.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9376" y="2210991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Features Tested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19376" y="2736413"/>
            <a:ext cx="13191649" cy="193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page, Login, and Signup flows</a:t>
            </a:r>
            <a:endParaRPr lang="en-US" sz="1400" dirty="0"/>
          </a:p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functionality and results</a:t>
            </a:r>
            <a:endParaRPr lang="en-US" sz="1400" dirty="0"/>
          </a:p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 product page (The Witcher 3)</a:t>
            </a:r>
            <a:endParaRPr lang="en-US" sz="1400" dirty="0"/>
          </a:p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Genre browser (RPG category)</a:t>
            </a:r>
            <a:endParaRPr lang="en-US" sz="1400" dirty="0"/>
          </a:p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 and Checkout process</a:t>
            </a:r>
            <a:endParaRPr lang="en-US" sz="1400" dirty="0"/>
          </a:p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 navigation persistence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9376" y="4911923"/>
            <a:ext cx="406991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Automation Constraints Encountered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19376" y="5437346"/>
            <a:ext cx="13191649" cy="226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 cookie consent banner (handled by TestUtils.dismissCookieConsent)</a:t>
            </a:r>
            <a:endParaRPr lang="en-US" sz="1400" dirty="0"/>
          </a:p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gate button must be clicked before form fields appear</a:t>
            </a:r>
            <a:endParaRPr lang="en-US" sz="1400" dirty="0"/>
          </a:p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CAPTCHA/bot protection on login after repeated failures</a:t>
            </a:r>
            <a:endParaRPr lang="en-US" sz="1400" dirty="0"/>
          </a:p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Age-gate overlay on game detail pages</a:t>
            </a:r>
            <a:endParaRPr lang="en-US" sz="1400" dirty="0"/>
          </a:p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Lazy-loaded product tiles requiring timed pauses</a:t>
            </a:r>
            <a:endParaRPr lang="en-US" sz="1400" dirty="0"/>
          </a:p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Price/availability changes during sales (tested for presence only)</a:t>
            </a:r>
            <a:endParaRPr lang="en-US" sz="1400" dirty="0"/>
          </a:p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Anti-automation detection (mitigated via Chrome flags)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7882"/>
            <a:ext cx="645783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Architecture &amp; Design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164794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164794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3860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 Test Classes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2815233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in separate Java file under com.gog.tests package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164794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2164794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2386013"/>
            <a:ext cx="29384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BaseTest Abstract Class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04177" y="2815233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ChromeDriver setup/teardown, WebDriverWait (20s), anti-automation Chrome flags, implicit wait (10s), BASE_URL constant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187428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4187428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588" y="4408646"/>
            <a:ext cx="35138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AuthenticatedTest Extension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83588" y="4837867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Extends BaseTest with automatic pre-test login for authenticated test classes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4187428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1519" y="4187428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04177" y="4408646"/>
            <a:ext cx="299085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TestUtils Shared Helpers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704177" y="4837867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 utilities avoiding code duplication across all 8 classes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3790" y="5892522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0930" y="5892522"/>
            <a:ext cx="91440" cy="118919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83588" y="6113740"/>
            <a:ext cx="255317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Sequential Execution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83588" y="6542961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parallel="none" to avoid session/cookie conflicts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414379" y="5892522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91519" y="5892522"/>
            <a:ext cx="91440" cy="118919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04177" y="61137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53 Test Methods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704177" y="6542961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across all test classes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882610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Home Page, Login &amp; Signup Tests</a:t>
            </a:r>
            <a:endParaRPr lang="en-US" sz="3900" dirty="0"/>
          </a:p>
        </p:txBody>
      </p:sp>
      <p:sp>
        <p:nvSpPr>
          <p:cNvPr id="6" name="Text 2"/>
          <p:cNvSpPr/>
          <p:nvPr/>
        </p:nvSpPr>
        <p:spPr>
          <a:xfrm>
            <a:off x="793790" y="2618780"/>
            <a:ext cx="216920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HomePageTest (7 tests)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793790" y="3437453"/>
            <a:ext cx="2169200" cy="384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title contains "GOG"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 and logo present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least one product tile rendered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In link accessible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Footer present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 is HTTPS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3454718" y="2618780"/>
            <a:ext cx="216920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LoginPageTest (7 tests)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3454718" y="3437453"/>
            <a:ext cx="2169200" cy="2996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Email, password, submit fields present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Forgot password and create account links present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Invalid credentials trigger error message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115645" y="2618780"/>
            <a:ext cx="224956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SignupPageTest (7 tests)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6115645" y="3437453"/>
            <a:ext cx="2249567" cy="267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Email, password, username, submit fields present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In and Privacy/Terms links accessible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loads on gog.com domain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917377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Search, Navigation &amp; Genre Tests</a:t>
            </a:r>
            <a:endParaRPr lang="en-US" sz="3900" dirty="0"/>
          </a:p>
        </p:txBody>
      </p:sp>
      <p:sp>
        <p:nvSpPr>
          <p:cNvPr id="6" name="Text 2"/>
          <p:cNvSpPr/>
          <p:nvPr/>
        </p:nvSpPr>
        <p:spPr>
          <a:xfrm>
            <a:off x="793790" y="2653546"/>
            <a:ext cx="216920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SearchTest (6 tests)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793790" y="3472220"/>
            <a:ext cx="2169200" cy="3383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icon present in header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results page loads for "witcher" query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tiles, tile images, and tile titles present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Sort/filter controls visible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3454718" y="2653546"/>
            <a:ext cx="216920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NavigationTest (6 tests)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3454718" y="3472220"/>
            <a:ext cx="2169200" cy="3770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navigates to home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Store/Games link in header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In button accessible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 persists across multiple pages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Cart/wishlist icon present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115645" y="2653546"/>
            <a:ext cx="224956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GenreBrowseTest (6 tests)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6115645" y="3472220"/>
            <a:ext cx="2249567" cy="370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/games catalog and /games?genres=rpg load successfully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RPG genre tiles and cover images present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Sort/filter controls visible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heading contains "GOG" or "game"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133373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3900" dirty="0"/>
          </a:p>
        </p:txBody>
      </p:sp>
      <p:sp>
        <p:nvSpPr>
          <p:cNvPr id="6" name="Shape 2"/>
          <p:cNvSpPr/>
          <p:nvPr/>
        </p:nvSpPr>
        <p:spPr>
          <a:xfrm>
            <a:off x="793790" y="2251472"/>
            <a:ext cx="3679031" cy="1793796"/>
          </a:xfrm>
          <a:prstGeom prst="roundRect">
            <a:avLst>
              <a:gd name="adj" fmla="val 464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99768" y="2457450"/>
            <a:ext cx="31433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Comprehensive Coverage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99768" y="2886670"/>
            <a:ext cx="32670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 test methods across 8 classes validate critical user flows from browsing to checkout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4671179" y="2251472"/>
            <a:ext cx="3679031" cy="1793796"/>
          </a:xfrm>
          <a:prstGeom prst="roundRect">
            <a:avLst>
              <a:gd name="adj" fmla="val 464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77157" y="24574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 Architecture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4877157" y="2886670"/>
            <a:ext cx="32670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BaseTest and TestUtils provide reusable infrastructure, reducing code duplication and maintenance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793790" y="4243626"/>
            <a:ext cx="7556421" cy="1476256"/>
          </a:xfrm>
          <a:prstGeom prst="roundRect">
            <a:avLst>
              <a:gd name="adj" fmla="val 564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99768" y="4449604"/>
            <a:ext cx="28264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Constraints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999768" y="4878824"/>
            <a:ext cx="71444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handled GDPR, CAPTCHA, age-gates, lazy-loading, and anti-automation detection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93790" y="5943124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automated test suite establishes a repeatable regression baseline for GOG.com, improving product quality confidence and reducing manual testing burden.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2026-04-14T21:04:49Z</dcterms:created>
  <dcterms:modified xsi:type="dcterms:W3CDTF">2026-04-14T21:04:49Z</dcterms:modified>
</cp:coreProperties>
</file>