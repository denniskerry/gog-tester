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4630400" cy="8229600"/>
  <p:notesSz cx="8229600" cy="14630400"/>
  <p:embeddedFontLst>
    <p:embeddedFont>
      <p:font typeface="Inter" panose="020B0604020202020204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7" d="100"/>
          <a:sy n="67" d="100"/>
        </p:scale>
        <p:origin x="96" y="18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97081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GOG.com" TargetMode="Externa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svg"/><Relationship Id="rId11" Type="http://schemas.openxmlformats.org/officeDocument/2006/relationships/image" Target="../media/image17.svg"/><Relationship Id="rId5" Type="http://schemas.openxmlformats.org/officeDocument/2006/relationships/image" Target="../media/image11.svg"/><Relationship Id="rId10" Type="http://schemas.openxmlformats.org/officeDocument/2006/relationships/image" Target="../media/image16.svg"/><Relationship Id="rId4" Type="http://schemas.openxmlformats.org/officeDocument/2006/relationships/image" Target="../media/image10.svg"/><Relationship Id="rId9" Type="http://schemas.openxmlformats.org/officeDocument/2006/relationships/image" Target="../media/image15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GOG.com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0" y="0"/>
            <a:ext cx="5486400" cy="8229600"/>
          </a:xfrm>
          <a:prstGeom prst="rect">
            <a:avLst/>
          </a:prstGeom>
          <a:solidFill>
            <a:srgbClr val="DFDFE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93790" y="2916674"/>
            <a:ext cx="7556421" cy="124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Automated End-to-End Testing of </a:t>
            </a:r>
            <a:r>
              <a:rPr lang="en-US" sz="3900" b="1" u="sng" dirty="0">
                <a:solidFill>
                  <a:srgbClr val="7B66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GOG.com</a:t>
            </a:r>
            <a:endParaRPr lang="en-US" sz="3900" dirty="0"/>
          </a:p>
        </p:txBody>
      </p:sp>
      <p:sp>
        <p:nvSpPr>
          <p:cNvPr id="6" name="Text 2"/>
          <p:cNvSpPr/>
          <p:nvPr/>
        </p:nvSpPr>
        <p:spPr>
          <a:xfrm>
            <a:off x="793790" y="4454485"/>
            <a:ext cx="75564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 4072: Software Testing – Spring 2026</a:t>
            </a:r>
            <a:endParaRPr lang="en-US" sz="1550" dirty="0"/>
          </a:p>
        </p:txBody>
      </p:sp>
      <p:sp>
        <p:nvSpPr>
          <p:cNvPr id="7" name="Text 3"/>
          <p:cNvSpPr/>
          <p:nvPr/>
        </p:nvSpPr>
        <p:spPr>
          <a:xfrm>
            <a:off x="793790" y="4995267"/>
            <a:ext cx="75564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Number: 15</a:t>
            </a:r>
          </a:p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Dennis Kerry, Myles Vinal, Robert Benstine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966788"/>
            <a:ext cx="6101715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Project Goal &amp; Motivation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93790" y="1983700"/>
            <a:ext cx="6422231" cy="2269927"/>
          </a:xfrm>
          <a:prstGeom prst="roundRect">
            <a:avLst>
              <a:gd name="adj" fmla="val 3672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99768" y="2189678"/>
            <a:ext cx="595313" cy="595313"/>
          </a:xfrm>
          <a:prstGeom prst="roundRect">
            <a:avLst>
              <a:gd name="adj" fmla="val 15358451"/>
            </a:avLst>
          </a:prstGeom>
          <a:solidFill>
            <a:srgbClr val="2B0A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479" y="2353270"/>
            <a:ext cx="267891" cy="26789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99768" y="2983349"/>
            <a:ext cx="3119080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Automate System Testing</a:t>
            </a:r>
            <a:endParaRPr lang="en-US" sz="1950" dirty="0"/>
          </a:p>
        </p:txBody>
      </p:sp>
      <p:sp>
        <p:nvSpPr>
          <p:cNvPr id="7" name="Text 4"/>
          <p:cNvSpPr/>
          <p:nvPr/>
        </p:nvSpPr>
        <p:spPr>
          <a:xfrm>
            <a:off x="999768" y="3412569"/>
            <a:ext cx="601027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Automate end-to-end testing of GOG.com to verify core user-facing features work correctly and consistently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7414379" y="1983700"/>
            <a:ext cx="6422231" cy="2269927"/>
          </a:xfrm>
          <a:prstGeom prst="roundRect">
            <a:avLst>
              <a:gd name="adj" fmla="val 3672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7620357" y="2189678"/>
            <a:ext cx="595313" cy="595313"/>
          </a:xfrm>
          <a:prstGeom prst="roundRect">
            <a:avLst>
              <a:gd name="adj" fmla="val 15358451"/>
            </a:avLst>
          </a:prstGeom>
          <a:solidFill>
            <a:srgbClr val="2B0A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84068" y="2353270"/>
            <a:ext cx="267891" cy="26789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20357" y="2983349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Detect Regressions</a:t>
            </a:r>
            <a:endParaRPr lang="en-US" sz="1950" dirty="0"/>
          </a:p>
        </p:txBody>
      </p:sp>
      <p:sp>
        <p:nvSpPr>
          <p:cNvPr id="12" name="Text 8"/>
          <p:cNvSpPr/>
          <p:nvPr/>
        </p:nvSpPr>
        <p:spPr>
          <a:xfrm>
            <a:off x="7620357" y="3412569"/>
            <a:ext cx="601027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 regressions from front-end updates, SPA routing changes, or UI restructuring</a:t>
            </a:r>
            <a:endParaRPr lang="en-US" sz="1550" dirty="0"/>
          </a:p>
        </p:txBody>
      </p:sp>
      <p:sp>
        <p:nvSpPr>
          <p:cNvPr id="13" name="Shape 9"/>
          <p:cNvSpPr/>
          <p:nvPr/>
        </p:nvSpPr>
        <p:spPr>
          <a:xfrm>
            <a:off x="793790" y="4451985"/>
            <a:ext cx="6422231" cy="2269927"/>
          </a:xfrm>
          <a:prstGeom prst="roundRect">
            <a:avLst>
              <a:gd name="adj" fmla="val 3672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999768" y="4657963"/>
            <a:ext cx="595313" cy="595313"/>
          </a:xfrm>
          <a:prstGeom prst="roundRect">
            <a:avLst>
              <a:gd name="adj" fmla="val 15358451"/>
            </a:avLst>
          </a:prstGeom>
          <a:solidFill>
            <a:srgbClr val="2B0A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3479" y="4821555"/>
            <a:ext cx="267891" cy="26789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99768" y="545163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Validate User Flows</a:t>
            </a:r>
            <a:endParaRPr lang="en-US" sz="1950" dirty="0"/>
          </a:p>
        </p:txBody>
      </p:sp>
      <p:sp>
        <p:nvSpPr>
          <p:cNvPr id="17" name="Text 12"/>
          <p:cNvSpPr/>
          <p:nvPr/>
        </p:nvSpPr>
        <p:spPr>
          <a:xfrm>
            <a:off x="999768" y="5880854"/>
            <a:ext cx="601027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browsing, searching, login, signup, game pages, and cart/checkout without manual testing</a:t>
            </a:r>
            <a:endParaRPr lang="en-US" sz="1550" dirty="0"/>
          </a:p>
        </p:txBody>
      </p:sp>
      <p:sp>
        <p:nvSpPr>
          <p:cNvPr id="18" name="Shape 13"/>
          <p:cNvSpPr/>
          <p:nvPr/>
        </p:nvSpPr>
        <p:spPr>
          <a:xfrm>
            <a:off x="7414379" y="4451985"/>
            <a:ext cx="6422231" cy="2269927"/>
          </a:xfrm>
          <a:prstGeom prst="roundRect">
            <a:avLst>
              <a:gd name="adj" fmla="val 3672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7620357" y="4657963"/>
            <a:ext cx="595313" cy="595313"/>
          </a:xfrm>
          <a:prstGeom prst="roundRect">
            <a:avLst>
              <a:gd name="adj" fmla="val 15358451"/>
            </a:avLst>
          </a:prstGeom>
          <a:solidFill>
            <a:srgbClr val="2B0A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84068" y="4821555"/>
            <a:ext cx="267891" cy="267891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620357" y="545163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Identify Constraints</a:t>
            </a:r>
            <a:endParaRPr lang="en-US" sz="1950" dirty="0"/>
          </a:p>
        </p:txBody>
      </p:sp>
      <p:sp>
        <p:nvSpPr>
          <p:cNvPr id="22" name="Text 16"/>
          <p:cNvSpPr/>
          <p:nvPr/>
        </p:nvSpPr>
        <p:spPr>
          <a:xfrm>
            <a:off x="7620357" y="5880854"/>
            <a:ext cx="601027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CAPTCHA, GDPR banners, age-gate overlays, lazy-loaded content, and dynamic XHR tiles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793790" y="6945154"/>
            <a:ext cx="130428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Improve product quality confidence through repeatable, automated regression testing.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79677" y="401479"/>
            <a:ext cx="3256121" cy="406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Testing Workflow</a:t>
            </a:r>
            <a:endParaRPr lang="en-US" sz="25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677" y="979289"/>
            <a:ext cx="390644" cy="1143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655689" y="1109424"/>
            <a:ext cx="1628061" cy="203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Load Config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2655689" y="1363980"/>
            <a:ext cx="9795034" cy="172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config.properties for credentials and game URLs</a:t>
            </a:r>
            <a:endParaRPr lang="en-US" sz="10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4940" y="1846064"/>
            <a:ext cx="390644" cy="1143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850952" y="1976199"/>
            <a:ext cx="1628061" cy="203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BaseTest Setup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2850952" y="2230755"/>
            <a:ext cx="9599771" cy="172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@BeforeClass launches ChromeDriver with anti-automation flags</a:t>
            </a:r>
            <a:endParaRPr lang="en-US" sz="10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0321" y="2712839"/>
            <a:ext cx="390644" cy="11430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3046333" y="2842974"/>
            <a:ext cx="1628061" cy="203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TestUtils Actions</a:t>
            </a:r>
            <a:endParaRPr lang="en-US" sz="1250" dirty="0"/>
          </a:p>
        </p:txBody>
      </p:sp>
      <p:sp>
        <p:nvSpPr>
          <p:cNvPr id="11" name="Text 6"/>
          <p:cNvSpPr/>
          <p:nvPr/>
        </p:nvSpPr>
        <p:spPr>
          <a:xfrm>
            <a:off x="3046333" y="3097530"/>
            <a:ext cx="9404390" cy="172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Dismiss cookie consent, perform login, wait for page load</a:t>
            </a:r>
            <a:endParaRPr lang="en-US" sz="10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5703" y="3579614"/>
            <a:ext cx="390644" cy="114300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3241715" y="3709749"/>
            <a:ext cx="1628061" cy="203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Execute Tests</a:t>
            </a:r>
            <a:endParaRPr lang="en-US" sz="1250" dirty="0"/>
          </a:p>
        </p:txBody>
      </p:sp>
      <p:sp>
        <p:nvSpPr>
          <p:cNvPr id="14" name="Text 8"/>
          <p:cNvSpPr/>
          <p:nvPr/>
        </p:nvSpPr>
        <p:spPr>
          <a:xfrm>
            <a:off x="3241715" y="3964305"/>
            <a:ext cx="9209008" cy="172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7–8 @Test methods per class</a:t>
            </a:r>
            <a:endParaRPr lang="en-US" sz="10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0321" y="4446389"/>
            <a:ext cx="390644" cy="11430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3046333" y="4576524"/>
            <a:ext cx="1628061" cy="203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TestNG Assertions</a:t>
            </a:r>
            <a:endParaRPr lang="en-US" sz="1250" dirty="0"/>
          </a:p>
        </p:txBody>
      </p:sp>
      <p:sp>
        <p:nvSpPr>
          <p:cNvPr id="17" name="Text 10"/>
          <p:cNvSpPr/>
          <p:nvPr/>
        </p:nvSpPr>
        <p:spPr>
          <a:xfrm>
            <a:off x="3046333" y="4831080"/>
            <a:ext cx="9404390" cy="172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Validate pass/fail conditions</a:t>
            </a:r>
            <a:endParaRPr lang="en-US" sz="10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4940" y="5313164"/>
            <a:ext cx="390644" cy="114300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2850952" y="5443299"/>
            <a:ext cx="1628061" cy="203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Teardown</a:t>
            </a:r>
            <a:endParaRPr lang="en-US" sz="1250" dirty="0"/>
          </a:p>
        </p:txBody>
      </p:sp>
      <p:sp>
        <p:nvSpPr>
          <p:cNvPr id="20" name="Text 12"/>
          <p:cNvSpPr/>
          <p:nvPr/>
        </p:nvSpPr>
        <p:spPr>
          <a:xfrm>
            <a:off x="2850952" y="5697855"/>
            <a:ext cx="9599771" cy="172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@AfterClass quits driver</a:t>
            </a:r>
            <a:endParaRPr lang="en-US" sz="100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677" y="6179939"/>
            <a:ext cx="390644" cy="1143000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2655689" y="6310074"/>
            <a:ext cx="1628061" cy="203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Maven Execution</a:t>
            </a:r>
            <a:endParaRPr lang="en-US" sz="1250" dirty="0"/>
          </a:p>
        </p:txBody>
      </p:sp>
      <p:sp>
        <p:nvSpPr>
          <p:cNvPr id="23" name="Text 14"/>
          <p:cNvSpPr/>
          <p:nvPr/>
        </p:nvSpPr>
        <p:spPr>
          <a:xfrm>
            <a:off x="2655689" y="6564630"/>
            <a:ext cx="9795034" cy="172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Surefire runs 8 test classes via testng.xml</a:t>
            </a:r>
            <a:endParaRPr lang="en-US" sz="1000" dirty="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4940" y="7046714"/>
            <a:ext cx="390644" cy="114300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2850952" y="7176849"/>
            <a:ext cx="1628061" cy="203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Report Generation</a:t>
            </a:r>
            <a:endParaRPr lang="en-US" sz="1250" dirty="0"/>
          </a:p>
        </p:txBody>
      </p:sp>
      <p:sp>
        <p:nvSpPr>
          <p:cNvPr id="26" name="Text 16"/>
          <p:cNvSpPr/>
          <p:nvPr/>
        </p:nvSpPr>
        <p:spPr>
          <a:xfrm>
            <a:off x="2850952" y="7431405"/>
            <a:ext cx="9599771" cy="172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TestNG HTML report in target/surefire-reports/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17201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Team Contributions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793790" y="2533293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Robert Benstine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793790" y="3041809"/>
            <a:ext cx="4024313" cy="2679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HomePageTest (7 tests): title, header, logo, tiles, sign-in, footer, HTTPS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LoginPageTest (7 tests): form fields, invalid login error, forgot password, create account link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NavigationTest (6 tests): logo navigation, store link, catalog routing, header persistence, cart icon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309830" y="2533293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Dennis Kerry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309830" y="3041809"/>
            <a:ext cx="4024313" cy="3314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GamePageTest (7 tests): product page load, title H1, buy button, description, screenshots, system requirements, HTTPS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CartPageTest (7 tests): cart page load, title, main content, empty-cart state, continue-shopping link, header, HTTPS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BaseTest &amp; AuthenticatedTest infrastructure: ChromeDriver setup, anti-bot flags, login lifecycle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9825871" y="2533293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Myles Vinal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825871" y="3041809"/>
            <a:ext cx="4024313" cy="3701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SearchTest (6 tests): search icon, results page load, result tiles, tile titles, tile images, filter controls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GenreBrowseTest (6 tests): catalog page, RPG genre filter, tile images, sort/filter controls, page heading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TestUtils shared utility: performLogin, dismissCookieConsent, waitForPageLoad, isElementPresent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testng.xml integration and Maven Surefire configuration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04505"/>
            <a:ext cx="5143619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Tools &amp; Technologies</a:t>
            </a:r>
            <a:endParaRPr lang="en-US" sz="3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3790" y="1821418"/>
            <a:ext cx="396835" cy="39683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3790" y="2466261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Java 17</a:t>
            </a:r>
            <a:endParaRPr lang="en-US" sz="1950" dirty="0"/>
          </a:p>
        </p:txBody>
      </p:sp>
      <p:sp>
        <p:nvSpPr>
          <p:cNvPr id="5" name="Text 2"/>
          <p:cNvSpPr/>
          <p:nvPr/>
        </p:nvSpPr>
        <p:spPr>
          <a:xfrm>
            <a:off x="793790" y="2895481"/>
            <a:ext cx="418218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programming language</a:t>
            </a:r>
            <a:endParaRPr lang="en-US" sz="15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23986" y="1821418"/>
            <a:ext cx="396835" cy="39683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223986" y="2466261"/>
            <a:ext cx="3185636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Selenium WebDriver 4.18.1</a:t>
            </a:r>
            <a:endParaRPr lang="en-US" sz="1950" dirty="0"/>
          </a:p>
        </p:txBody>
      </p:sp>
      <p:sp>
        <p:nvSpPr>
          <p:cNvPr id="8" name="Text 4"/>
          <p:cNvSpPr/>
          <p:nvPr/>
        </p:nvSpPr>
        <p:spPr>
          <a:xfrm>
            <a:off x="5223986" y="2895481"/>
            <a:ext cx="41823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Browser automation framework</a:t>
            </a:r>
            <a:endParaRPr lang="en-US" sz="15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54302" y="1821418"/>
            <a:ext cx="396835" cy="39683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654302" y="2466261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TestNG 7.9.0</a:t>
            </a:r>
            <a:endParaRPr lang="en-US" sz="1950" dirty="0"/>
          </a:p>
        </p:txBody>
      </p:sp>
      <p:sp>
        <p:nvSpPr>
          <p:cNvPr id="11" name="Text 6"/>
          <p:cNvSpPr/>
          <p:nvPr/>
        </p:nvSpPr>
        <p:spPr>
          <a:xfrm>
            <a:off x="9654302" y="2895481"/>
            <a:ext cx="41823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framework, assertions, HTML reporting</a:t>
            </a:r>
            <a:endParaRPr lang="en-US" sz="15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3790" y="3609856"/>
            <a:ext cx="396835" cy="39683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93790" y="4254698"/>
            <a:ext cx="301311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WebDriverManager 5.7.0</a:t>
            </a:r>
            <a:endParaRPr lang="en-US" sz="1950" dirty="0"/>
          </a:p>
        </p:txBody>
      </p:sp>
      <p:sp>
        <p:nvSpPr>
          <p:cNvPr id="14" name="Text 8"/>
          <p:cNvSpPr/>
          <p:nvPr/>
        </p:nvSpPr>
        <p:spPr>
          <a:xfrm>
            <a:off x="793790" y="4683919"/>
            <a:ext cx="4182189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Automatic ChromeDriver binary management</a:t>
            </a:r>
            <a:endParaRPr lang="en-US" sz="15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23986" y="3609856"/>
            <a:ext cx="396835" cy="396835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223986" y="4254698"/>
            <a:ext cx="2980134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Maven 3 + Surefire 3.2.5</a:t>
            </a:r>
            <a:endParaRPr lang="en-US" sz="1950" dirty="0"/>
          </a:p>
        </p:txBody>
      </p:sp>
      <p:sp>
        <p:nvSpPr>
          <p:cNvPr id="17" name="Text 10"/>
          <p:cNvSpPr/>
          <p:nvPr/>
        </p:nvSpPr>
        <p:spPr>
          <a:xfrm>
            <a:off x="5223986" y="4683919"/>
            <a:ext cx="4182308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Build, dependency management, test execution</a:t>
            </a:r>
            <a:endParaRPr lang="en-US" sz="155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54302" y="3609856"/>
            <a:ext cx="396835" cy="396835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9654302" y="4254698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Google Chrome</a:t>
            </a:r>
            <a:endParaRPr lang="en-US" sz="1950" dirty="0"/>
          </a:p>
        </p:txBody>
      </p:sp>
      <p:sp>
        <p:nvSpPr>
          <p:cNvPr id="20" name="Text 12"/>
          <p:cNvSpPr/>
          <p:nvPr/>
        </p:nvSpPr>
        <p:spPr>
          <a:xfrm>
            <a:off x="9654302" y="4683919"/>
            <a:ext cx="41823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Browser under test</a:t>
            </a:r>
            <a:endParaRPr lang="en-US" sz="155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3790" y="5715833"/>
            <a:ext cx="396835" cy="396835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793790" y="6360676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Windows 10/11</a:t>
            </a:r>
            <a:endParaRPr lang="en-US" sz="1950" dirty="0"/>
          </a:p>
        </p:txBody>
      </p:sp>
      <p:sp>
        <p:nvSpPr>
          <p:cNvPr id="23" name="Text 14"/>
          <p:cNvSpPr/>
          <p:nvPr/>
        </p:nvSpPr>
        <p:spPr>
          <a:xfrm>
            <a:off x="793790" y="6789896"/>
            <a:ext cx="418218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Operating system</a:t>
            </a:r>
            <a:endParaRPr lang="en-US" sz="1550" dirty="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23986" y="5715833"/>
            <a:ext cx="396835" cy="396835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5223986" y="6360676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Git / GitHub</a:t>
            </a:r>
            <a:endParaRPr lang="en-US" sz="1950" dirty="0"/>
          </a:p>
        </p:txBody>
      </p:sp>
      <p:sp>
        <p:nvSpPr>
          <p:cNvPr id="26" name="Text 16"/>
          <p:cNvSpPr/>
          <p:nvPr/>
        </p:nvSpPr>
        <p:spPr>
          <a:xfrm>
            <a:off x="5223986" y="6789896"/>
            <a:ext cx="41823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Version control and code repository</a:t>
            </a:r>
            <a:endParaRPr lang="en-US" sz="1550" dirty="0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654302" y="5715833"/>
            <a:ext cx="396835" cy="396835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9654302" y="6360676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config.properties</a:t>
            </a:r>
            <a:endParaRPr lang="en-US" sz="1950" dirty="0"/>
          </a:p>
        </p:txBody>
      </p:sp>
      <p:sp>
        <p:nvSpPr>
          <p:cNvPr id="29" name="Text 18"/>
          <p:cNvSpPr/>
          <p:nvPr/>
        </p:nvSpPr>
        <p:spPr>
          <a:xfrm>
            <a:off x="9654302" y="6789896"/>
            <a:ext cx="4182308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Externalized credential and URL configuration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376" y="529828"/>
            <a:ext cx="6539151" cy="562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System Under Test: </a:t>
            </a:r>
            <a:r>
              <a:rPr lang="en-US" sz="3500" b="1" u="sng" dirty="0">
                <a:solidFill>
                  <a:srgbClr val="7B66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GOG.com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719376" y="1417915"/>
            <a:ext cx="1319164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GOG.com is a DRM-free digital PC game store owned by CD PROJEKT. The platform features an Angular-based SPA with asynchronous XHR content loading.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19376" y="2210991"/>
            <a:ext cx="2248257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Features Tested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19376" y="2736413"/>
            <a:ext cx="13191649" cy="1931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Home page, Login, and Account Sign-up flows</a:t>
            </a:r>
            <a:endParaRPr lang="en-US" sz="1400" dirty="0"/>
          </a:p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Search functionality and results</a:t>
            </a:r>
            <a:endParaRPr lang="en-US" sz="1400" dirty="0"/>
          </a:p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Game product page (The Witcher 3)</a:t>
            </a:r>
            <a:endParaRPr lang="en-US" sz="1400" dirty="0"/>
          </a:p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Genre browser (RPG category)</a:t>
            </a:r>
            <a:endParaRPr lang="en-US" sz="1400" dirty="0"/>
          </a:p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 and Checkout process</a:t>
            </a:r>
            <a:endParaRPr lang="en-US" sz="1400" dirty="0"/>
          </a:p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 navigation persistence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19376" y="4911923"/>
            <a:ext cx="406991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Automation Constraints Encountered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19376" y="5437346"/>
            <a:ext cx="13191649" cy="22624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GDPR cookie consent banner (handled by TestUtils.dismissCookieConsent)</a:t>
            </a:r>
            <a:endParaRPr lang="en-US" sz="1400" dirty="0"/>
          </a:p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Login gate button must be clicked before form fields appear</a:t>
            </a:r>
            <a:endParaRPr lang="en-US" sz="1400" dirty="0"/>
          </a:p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CAPTCHA/bot protection on login after repeated failures</a:t>
            </a:r>
            <a:endParaRPr lang="en-US" sz="1400" dirty="0"/>
          </a:p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Age-gate overlay on game detail pages</a:t>
            </a:r>
            <a:endParaRPr lang="en-US" sz="1400" dirty="0"/>
          </a:p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Lazy-loaded product tiles requiring timed pauses</a:t>
            </a:r>
            <a:endParaRPr lang="en-US" sz="1400" dirty="0"/>
          </a:p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Price/availability changes during sales (tested for presence only)</a:t>
            </a:r>
            <a:endParaRPr lang="en-US" sz="1400" dirty="0"/>
          </a:p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Anti-automation detection (mitigated via Chrome flags)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147882"/>
            <a:ext cx="645783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Test Architecture &amp; Design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93790" y="2164794"/>
            <a:ext cx="6422231" cy="1824276"/>
          </a:xfrm>
          <a:prstGeom prst="roundRect">
            <a:avLst>
              <a:gd name="adj" fmla="val 6015"/>
            </a:avLst>
          </a:prstGeom>
          <a:solidFill>
            <a:srgbClr val="272525"/>
          </a:solidFill>
          <a:ln w="2286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70930" y="2164794"/>
            <a:ext cx="91440" cy="1824276"/>
          </a:xfrm>
          <a:prstGeom prst="roundRect">
            <a:avLst>
              <a:gd name="adj" fmla="val 91163"/>
            </a:avLst>
          </a:prstGeom>
          <a:solidFill>
            <a:srgbClr val="2B0A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83588" y="2386013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8 Test Classes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083588" y="2815233"/>
            <a:ext cx="59112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in separate Java file under com.gog.tests package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7414379" y="2164794"/>
            <a:ext cx="6422231" cy="1824276"/>
          </a:xfrm>
          <a:prstGeom prst="roundRect">
            <a:avLst>
              <a:gd name="adj" fmla="val 6015"/>
            </a:avLst>
          </a:prstGeom>
          <a:solidFill>
            <a:srgbClr val="272525"/>
          </a:solidFill>
          <a:ln w="2286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91519" y="2164794"/>
            <a:ext cx="91440" cy="1824276"/>
          </a:xfrm>
          <a:prstGeom prst="roundRect">
            <a:avLst>
              <a:gd name="adj" fmla="val 91163"/>
            </a:avLst>
          </a:prstGeom>
          <a:solidFill>
            <a:srgbClr val="2B0A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04177" y="2386013"/>
            <a:ext cx="2938463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BaseTest Abstract Class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7704177" y="2815233"/>
            <a:ext cx="5911215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ChromeDriver setup/teardown, WebDriverWait (20s), anti-automation Chrome flags, implicit wait (10s), BASE_URL constant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793790" y="4187428"/>
            <a:ext cx="6422231" cy="1506736"/>
          </a:xfrm>
          <a:prstGeom prst="roundRect">
            <a:avLst>
              <a:gd name="adj" fmla="val 7282"/>
            </a:avLst>
          </a:prstGeom>
          <a:solidFill>
            <a:srgbClr val="272525"/>
          </a:solidFill>
          <a:ln w="2286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70930" y="4187428"/>
            <a:ext cx="91440" cy="1506736"/>
          </a:xfrm>
          <a:prstGeom prst="roundRect">
            <a:avLst>
              <a:gd name="adj" fmla="val 91163"/>
            </a:avLst>
          </a:prstGeom>
          <a:solidFill>
            <a:srgbClr val="2B0A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83588" y="4408646"/>
            <a:ext cx="3513892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AuthenticatedTest Extension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083588" y="4837867"/>
            <a:ext cx="591121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Extends BaseTest with automatic pre-test login for authenticated test classes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7414379" y="4187428"/>
            <a:ext cx="6422231" cy="1506736"/>
          </a:xfrm>
          <a:prstGeom prst="roundRect">
            <a:avLst>
              <a:gd name="adj" fmla="val 7282"/>
            </a:avLst>
          </a:prstGeom>
          <a:solidFill>
            <a:srgbClr val="272525"/>
          </a:solidFill>
          <a:ln w="2286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391519" y="4187428"/>
            <a:ext cx="91440" cy="1506736"/>
          </a:xfrm>
          <a:prstGeom prst="roundRect">
            <a:avLst>
              <a:gd name="adj" fmla="val 91163"/>
            </a:avLst>
          </a:prstGeom>
          <a:solidFill>
            <a:srgbClr val="2B0A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04177" y="4408646"/>
            <a:ext cx="2990850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TestUtils Shared Helpers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7704177" y="4837867"/>
            <a:ext cx="591121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Reusable utilities avoiding code duplication across all 8 classes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793790" y="5892522"/>
            <a:ext cx="6422231" cy="1189196"/>
          </a:xfrm>
          <a:prstGeom prst="roundRect">
            <a:avLst>
              <a:gd name="adj" fmla="val 9227"/>
            </a:avLst>
          </a:prstGeom>
          <a:solidFill>
            <a:srgbClr val="272525"/>
          </a:solidFill>
          <a:ln w="2286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0930" y="5892522"/>
            <a:ext cx="91440" cy="1189196"/>
          </a:xfrm>
          <a:prstGeom prst="roundRect">
            <a:avLst>
              <a:gd name="adj" fmla="val 91163"/>
            </a:avLst>
          </a:prstGeom>
          <a:solidFill>
            <a:srgbClr val="2B0A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83588" y="6113740"/>
            <a:ext cx="2553176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Sequential Execution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083588" y="6542961"/>
            <a:ext cx="59112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parallel="none" to avoid session/cookie conflicts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7414379" y="5892522"/>
            <a:ext cx="6422231" cy="1189196"/>
          </a:xfrm>
          <a:prstGeom prst="roundRect">
            <a:avLst>
              <a:gd name="adj" fmla="val 9227"/>
            </a:avLst>
          </a:prstGeom>
          <a:solidFill>
            <a:srgbClr val="272525"/>
          </a:solidFill>
          <a:ln w="2286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391519" y="5892522"/>
            <a:ext cx="91440" cy="1189196"/>
          </a:xfrm>
          <a:prstGeom prst="roundRect">
            <a:avLst>
              <a:gd name="adj" fmla="val 91163"/>
            </a:avLst>
          </a:prstGeom>
          <a:solidFill>
            <a:srgbClr val="2B0A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704177" y="6113740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53 Test Methods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7704177" y="6542961"/>
            <a:ext cx="59112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across all test classes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0" y="0"/>
            <a:ext cx="5486400" cy="8229600"/>
          </a:xfrm>
          <a:prstGeom prst="rect">
            <a:avLst/>
          </a:prstGeom>
          <a:solidFill>
            <a:srgbClr val="DFDFE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93790" y="882610"/>
            <a:ext cx="7556421" cy="124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Home Page, Login &amp; Signup Tests</a:t>
            </a:r>
            <a:endParaRPr lang="en-US" sz="3900" dirty="0"/>
          </a:p>
        </p:txBody>
      </p:sp>
      <p:sp>
        <p:nvSpPr>
          <p:cNvPr id="6" name="Text 2"/>
          <p:cNvSpPr/>
          <p:nvPr/>
        </p:nvSpPr>
        <p:spPr>
          <a:xfrm>
            <a:off x="793790" y="2618780"/>
            <a:ext cx="2169200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HomePageTest (7 tests)</a:t>
            </a:r>
            <a:endParaRPr lang="en-US" sz="1950" dirty="0"/>
          </a:p>
        </p:txBody>
      </p:sp>
      <p:sp>
        <p:nvSpPr>
          <p:cNvPr id="7" name="Text 3"/>
          <p:cNvSpPr/>
          <p:nvPr/>
        </p:nvSpPr>
        <p:spPr>
          <a:xfrm>
            <a:off x="793790" y="3437453"/>
            <a:ext cx="2169200" cy="3840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Page title contains "GOG"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 and logo present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least one product tile rendered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 In link accessible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Footer present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URL is HTTPS</a:t>
            </a:r>
            <a:endParaRPr lang="en-US" sz="1550" dirty="0"/>
          </a:p>
        </p:txBody>
      </p:sp>
      <p:sp>
        <p:nvSpPr>
          <p:cNvPr id="8" name="Text 4"/>
          <p:cNvSpPr/>
          <p:nvPr/>
        </p:nvSpPr>
        <p:spPr>
          <a:xfrm>
            <a:off x="3454718" y="2618780"/>
            <a:ext cx="2169200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LoginPageTest (7 tests)</a:t>
            </a:r>
            <a:endParaRPr lang="en-US" sz="1950" dirty="0"/>
          </a:p>
        </p:txBody>
      </p:sp>
      <p:sp>
        <p:nvSpPr>
          <p:cNvPr id="9" name="Text 5"/>
          <p:cNvSpPr/>
          <p:nvPr/>
        </p:nvSpPr>
        <p:spPr>
          <a:xfrm>
            <a:off x="3454718" y="3437453"/>
            <a:ext cx="2169200" cy="2996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Email, password, submit fields present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Forgot password and create account links present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Invalid credentials trigger error message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6115645" y="2618780"/>
            <a:ext cx="2249567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SignupPageTest (7 tests)</a:t>
            </a:r>
            <a:endParaRPr lang="en-US" sz="1950" dirty="0"/>
          </a:p>
        </p:txBody>
      </p:sp>
      <p:sp>
        <p:nvSpPr>
          <p:cNvPr id="11" name="Text 7"/>
          <p:cNvSpPr/>
          <p:nvPr/>
        </p:nvSpPr>
        <p:spPr>
          <a:xfrm>
            <a:off x="6115645" y="3437453"/>
            <a:ext cx="2249567" cy="2679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Email, password, username, submit fields present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 In and Privacy/Terms links accessible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Page loads on gog.com domain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0" y="0"/>
            <a:ext cx="5486400" cy="8229600"/>
          </a:xfrm>
          <a:prstGeom prst="rect">
            <a:avLst/>
          </a:prstGeom>
          <a:solidFill>
            <a:srgbClr val="DFDFE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93790" y="917377"/>
            <a:ext cx="7556421" cy="124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Search, Navigation &amp; Genre Tests</a:t>
            </a:r>
            <a:endParaRPr lang="en-US" sz="3900" dirty="0"/>
          </a:p>
        </p:txBody>
      </p:sp>
      <p:sp>
        <p:nvSpPr>
          <p:cNvPr id="6" name="Text 2"/>
          <p:cNvSpPr/>
          <p:nvPr/>
        </p:nvSpPr>
        <p:spPr>
          <a:xfrm>
            <a:off x="793790" y="2653546"/>
            <a:ext cx="2169200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SearchTest (6 tests)</a:t>
            </a:r>
            <a:endParaRPr lang="en-US" sz="1950" dirty="0"/>
          </a:p>
        </p:txBody>
      </p:sp>
      <p:sp>
        <p:nvSpPr>
          <p:cNvPr id="7" name="Text 3"/>
          <p:cNvSpPr/>
          <p:nvPr/>
        </p:nvSpPr>
        <p:spPr>
          <a:xfrm>
            <a:off x="793790" y="3472220"/>
            <a:ext cx="2169200" cy="33836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Search icon present in header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Search results page loads for "witcher" query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tiles, tile images, and tile titles present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Sort/filter controls visible</a:t>
            </a:r>
            <a:endParaRPr lang="en-US" sz="1550" dirty="0"/>
          </a:p>
        </p:txBody>
      </p:sp>
      <p:sp>
        <p:nvSpPr>
          <p:cNvPr id="8" name="Text 4"/>
          <p:cNvSpPr/>
          <p:nvPr/>
        </p:nvSpPr>
        <p:spPr>
          <a:xfrm>
            <a:off x="3454718" y="2653546"/>
            <a:ext cx="2169200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NavigationTest (6 tests)</a:t>
            </a:r>
            <a:endParaRPr lang="en-US" sz="1950" dirty="0"/>
          </a:p>
        </p:txBody>
      </p:sp>
      <p:sp>
        <p:nvSpPr>
          <p:cNvPr id="9" name="Text 5"/>
          <p:cNvSpPr/>
          <p:nvPr/>
        </p:nvSpPr>
        <p:spPr>
          <a:xfrm>
            <a:off x="3454718" y="3472220"/>
            <a:ext cx="2169200" cy="3770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navigates to home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Store/Games link in header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 In button accessible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 persists across multiple pages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Cart/wishlist icon present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6115645" y="2653546"/>
            <a:ext cx="2249567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GenreBrowseTest (6 tests)</a:t>
            </a:r>
            <a:endParaRPr lang="en-US" sz="1950" dirty="0"/>
          </a:p>
        </p:txBody>
      </p:sp>
      <p:sp>
        <p:nvSpPr>
          <p:cNvPr id="11" name="Text 7"/>
          <p:cNvSpPr/>
          <p:nvPr/>
        </p:nvSpPr>
        <p:spPr>
          <a:xfrm>
            <a:off x="6115645" y="3472220"/>
            <a:ext cx="2249567" cy="3701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/games catalog and /games?genres=rpg load successfully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RPG genre tiles and cover images present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Sort/filter controls visible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Page heading contains "GOG" or "game"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0" y="0"/>
            <a:ext cx="5486400" cy="8229600"/>
          </a:xfrm>
          <a:prstGeom prst="rect">
            <a:avLst/>
          </a:prstGeom>
          <a:solidFill>
            <a:srgbClr val="DFDFE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93790" y="1333738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Key Takeaways</a:t>
            </a:r>
            <a:endParaRPr lang="en-US" sz="3900" dirty="0"/>
          </a:p>
        </p:txBody>
      </p:sp>
      <p:sp>
        <p:nvSpPr>
          <p:cNvPr id="6" name="Shape 2"/>
          <p:cNvSpPr/>
          <p:nvPr/>
        </p:nvSpPr>
        <p:spPr>
          <a:xfrm>
            <a:off x="793790" y="2251472"/>
            <a:ext cx="3679031" cy="1793796"/>
          </a:xfrm>
          <a:prstGeom prst="roundRect">
            <a:avLst>
              <a:gd name="adj" fmla="val 4647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999768" y="2457450"/>
            <a:ext cx="3143369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Comprehensive Coverage</a:t>
            </a:r>
            <a:endParaRPr lang="en-US" sz="1950" dirty="0"/>
          </a:p>
        </p:txBody>
      </p:sp>
      <p:sp>
        <p:nvSpPr>
          <p:cNvPr id="8" name="Text 4"/>
          <p:cNvSpPr/>
          <p:nvPr/>
        </p:nvSpPr>
        <p:spPr>
          <a:xfrm>
            <a:off x="999768" y="2886670"/>
            <a:ext cx="3267075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 test methods across 8 classes validate critical user flows from browsing to checkout</a:t>
            </a:r>
            <a:endParaRPr lang="en-US" sz="1550" dirty="0"/>
          </a:p>
        </p:txBody>
      </p:sp>
      <p:sp>
        <p:nvSpPr>
          <p:cNvPr id="9" name="Shape 5"/>
          <p:cNvSpPr/>
          <p:nvPr/>
        </p:nvSpPr>
        <p:spPr>
          <a:xfrm>
            <a:off x="4671179" y="2251472"/>
            <a:ext cx="3679031" cy="1793796"/>
          </a:xfrm>
          <a:prstGeom prst="roundRect">
            <a:avLst>
              <a:gd name="adj" fmla="val 4647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4877157" y="2457450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Robust Architecture</a:t>
            </a:r>
            <a:endParaRPr lang="en-US" sz="1950" dirty="0"/>
          </a:p>
        </p:txBody>
      </p:sp>
      <p:sp>
        <p:nvSpPr>
          <p:cNvPr id="11" name="Text 7"/>
          <p:cNvSpPr/>
          <p:nvPr/>
        </p:nvSpPr>
        <p:spPr>
          <a:xfrm>
            <a:off x="4877157" y="2886670"/>
            <a:ext cx="3267075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BaseTest and TestUtils provide reusable infrastructure, reducing code duplication and maintenance</a:t>
            </a:r>
            <a:endParaRPr lang="en-US" sz="1550" dirty="0"/>
          </a:p>
        </p:txBody>
      </p:sp>
      <p:sp>
        <p:nvSpPr>
          <p:cNvPr id="12" name="Shape 8"/>
          <p:cNvSpPr/>
          <p:nvPr/>
        </p:nvSpPr>
        <p:spPr>
          <a:xfrm>
            <a:off x="793790" y="4243626"/>
            <a:ext cx="7556421" cy="1476256"/>
          </a:xfrm>
          <a:prstGeom prst="roundRect">
            <a:avLst>
              <a:gd name="adj" fmla="val 5647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999768" y="4449604"/>
            <a:ext cx="282642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Real-World Constraints</a:t>
            </a:r>
            <a:endParaRPr lang="en-US" sz="1950" dirty="0"/>
          </a:p>
        </p:txBody>
      </p:sp>
      <p:sp>
        <p:nvSpPr>
          <p:cNvPr id="14" name="Text 10"/>
          <p:cNvSpPr/>
          <p:nvPr/>
        </p:nvSpPr>
        <p:spPr>
          <a:xfrm>
            <a:off x="999768" y="4878824"/>
            <a:ext cx="7144464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Successfully handled GDPR, CAPTCHA, age-gates, lazy-loading, and anti-automation detection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793790" y="5943124"/>
            <a:ext cx="7556421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automated test suite establishes a repeatable regression baseline for GOG.com, improving product quality confidence and reducing manual testing burden.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6722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947</Words>
  <Application>Microsoft Office PowerPoint</Application>
  <PresentationFormat>Custom</PresentationFormat>
  <Paragraphs>145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Inter Bold</vt:lpstr>
      <vt:lpstr>Arial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Robert Benstine</cp:lastModifiedBy>
  <cp:revision>2</cp:revision>
  <dcterms:created xsi:type="dcterms:W3CDTF">2026-04-14T21:04:49Z</dcterms:created>
  <dcterms:modified xsi:type="dcterms:W3CDTF">2026-04-14T23:27:32Z</dcterms:modified>
</cp:coreProperties>
</file>