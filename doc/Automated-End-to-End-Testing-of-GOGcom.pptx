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</p:sldIdLst>
  <p:sldSz cx="14630400" cy="8229600"/>
  <p:notesSz cx="8229600" cy="14630400"/>
  <p:embeddedFontLst>
    <p:embeddedFont>
      <p:font typeface="Inter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96" y="1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9708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65A6-3BEB-DA4E-C57D-02F067FA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6CC053-3896-1B39-EE82-A114A9A37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5BA64F-EF41-F326-57DE-65EEE9AD5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6AEC8-F20F-3EFD-F5A1-3BA8AB24A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451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GOG.com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sv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GOG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2916674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Automated End-to-End Testing of </a:t>
            </a:r>
            <a:r>
              <a:rPr lang="en-US" sz="3900" b="1" u="sng" dirty="0">
                <a:solidFill>
                  <a:srgbClr val="7B66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GOG.com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793790" y="4454485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 4072: Software Testing – Spring 2026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793790" y="4995267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Number: 15</a:t>
            </a:r>
          </a:p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</a:rPr>
              <a:t>Dennis Kerry, Myles Vinal, Robert Benstine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66788"/>
            <a:ext cx="6101715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Goal &amp; Motivation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1983700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9768" y="2189678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479" y="2353270"/>
            <a:ext cx="267891" cy="2678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9768" y="2983349"/>
            <a:ext cx="311908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Automate System Testing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99768" y="3412569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end-to-end testing of GOG.com to verify core user-facing features work correctly and consistently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414379" y="1983700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20357" y="2189678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84068" y="2353270"/>
            <a:ext cx="267891" cy="2678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20357" y="298334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Detect Regressions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7620357" y="3412569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regressions from front-end updates, SPA routing changes, or UI restructuring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793790" y="4451985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99768" y="46579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3479" y="4821555"/>
            <a:ext cx="267891" cy="2678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99768" y="54516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Validate User Flows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999768" y="5880854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browsing, searching, login, signup, game pages, and cart/checkout without manual testing</a:t>
            </a:r>
            <a:endParaRPr lang="en-US" sz="1550" dirty="0"/>
          </a:p>
        </p:txBody>
      </p:sp>
      <p:sp>
        <p:nvSpPr>
          <p:cNvPr id="18" name="Shape 13"/>
          <p:cNvSpPr/>
          <p:nvPr/>
        </p:nvSpPr>
        <p:spPr>
          <a:xfrm>
            <a:off x="7414379" y="4451985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620357" y="46579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84068" y="4821555"/>
            <a:ext cx="267891" cy="2678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20357" y="54516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Identify Constraints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7620357" y="5880854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CAPTCHA, GDPR banners, age-gate overlays, lazy-loaded content, and dynamic XHR tiles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93790" y="6945154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Improve product quality confidence through repeatable, automated regression testing.</a:t>
            </a:r>
            <a:endParaRPr lang="en-US" sz="15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8A7C5FB-B504-B4FE-8895-1B809187D571}"/>
              </a:ext>
            </a:extLst>
          </p:cNvPr>
          <p:cNvPicPr/>
          <p:nvPr/>
        </p:nvPicPr>
        <p:blipFill>
          <a:blip r:embed="rId7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79677" y="401479"/>
            <a:ext cx="3256121" cy="406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Testing Workflow</a:t>
            </a:r>
            <a:endParaRPr lang="en-US" sz="25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77" y="979289"/>
            <a:ext cx="390644" cy="1143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655689" y="110942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Load Config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655689" y="1363980"/>
            <a:ext cx="9795034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config.properties for credentials and game URLs</a:t>
            </a:r>
            <a:endParaRPr lang="en-US" sz="10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40" y="1846064"/>
            <a:ext cx="390644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850952" y="197619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BaseTest Setup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2850952" y="2230755"/>
            <a:ext cx="9599771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@BeforeClass launches ChromeDriver with anti-automation flags</a:t>
            </a:r>
            <a:endParaRPr lang="en-US" sz="10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321" y="2712839"/>
            <a:ext cx="390644" cy="1143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046333" y="284297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TestUtils Actions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3046333" y="3097530"/>
            <a:ext cx="9404390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Dismiss cookie consent, perform login, wait for page load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703" y="3579614"/>
            <a:ext cx="390644" cy="11430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241715" y="370974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Execute Tests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3241715" y="3964305"/>
            <a:ext cx="9209008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7–8 @Test methods per class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321" y="4446389"/>
            <a:ext cx="390644" cy="11430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046333" y="457652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TestNG Assertions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3046333" y="4831080"/>
            <a:ext cx="9404390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pass/fail conditions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40" y="5313164"/>
            <a:ext cx="390644" cy="114300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2850952" y="544329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Teardown</a:t>
            </a:r>
            <a:endParaRPr lang="en-US" sz="1250" dirty="0"/>
          </a:p>
        </p:txBody>
      </p:sp>
      <p:sp>
        <p:nvSpPr>
          <p:cNvPr id="20" name="Text 12"/>
          <p:cNvSpPr/>
          <p:nvPr/>
        </p:nvSpPr>
        <p:spPr>
          <a:xfrm>
            <a:off x="2850952" y="5697855"/>
            <a:ext cx="9599771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@AfterClass quits driver</a:t>
            </a:r>
            <a:endParaRPr lang="en-US" sz="10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77" y="6179939"/>
            <a:ext cx="390644" cy="114300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2655689" y="6310074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Maven Execution</a:t>
            </a:r>
            <a:endParaRPr lang="en-US" sz="1250" dirty="0"/>
          </a:p>
        </p:txBody>
      </p:sp>
      <p:sp>
        <p:nvSpPr>
          <p:cNvPr id="23" name="Text 14"/>
          <p:cNvSpPr/>
          <p:nvPr/>
        </p:nvSpPr>
        <p:spPr>
          <a:xfrm>
            <a:off x="2655689" y="6564630"/>
            <a:ext cx="9795034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Surefire runs 8 test classes via testng.xml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40" y="7046714"/>
            <a:ext cx="390644" cy="11430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2850952" y="7176849"/>
            <a:ext cx="1628061" cy="203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Report Generation</a:t>
            </a:r>
            <a:endParaRPr lang="en-US" sz="1250" dirty="0"/>
          </a:p>
        </p:txBody>
      </p:sp>
      <p:sp>
        <p:nvSpPr>
          <p:cNvPr id="26" name="Text 16"/>
          <p:cNvSpPr/>
          <p:nvPr/>
        </p:nvSpPr>
        <p:spPr>
          <a:xfrm>
            <a:off x="2850952" y="7431405"/>
            <a:ext cx="9599771" cy="172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TestNG HTML report in target/surefire-reports/</a:t>
            </a:r>
            <a:endParaRPr lang="en-US" sz="10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8917F21-0991-B79F-02DB-ECBA3B61B84F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17201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Team Contributions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5332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Robert Benstine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041809"/>
            <a:ext cx="4024313" cy="267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HomePageTest (7 tests): title, header, logo, tiles, sign-in, footer, HTTPS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LoginPageTest (7 tests): form fields, invalid login error, forgot password, create account link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NavigationTest (6 tests): logo navigation, store link, catalog routing, header persistence, cart icon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309830" y="25332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Dennis Kerry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309830" y="3041809"/>
            <a:ext cx="4024313" cy="3314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GamePageTest (7 tests): product page load, title H1, buy button, description, screenshots, system requirements, HTTPS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CartPageTest (7 tests): cart page load, title, main content, empty-cart state, continue-shopping link, header, HTTPS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BaseTest &amp; AuthenticatedTest infrastructure: ChromeDriver setup, anti-bot flags, login lifecycle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825871" y="253329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Myles Vinal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825871" y="3041809"/>
            <a:ext cx="4024313" cy="3701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SearchTest (6 tests): search icon, results page load, result tiles, tile titles, tile images, filter controls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GenreBrowseTest (6 tests): catalog page, RPG genre filter, tile images, sort/filter controls, page heading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TestUtils shared utility: performLogin, dismissCookieConsent, waitForPageLoad, isElementPresent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testng.xml integration and Maven Surefire configuration</a:t>
            </a:r>
            <a:endParaRPr lang="en-US" sz="15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000B29-4400-6104-3BB4-A902716E068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04505"/>
            <a:ext cx="514361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Tools &amp; Technologies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1821418"/>
            <a:ext cx="396835" cy="3968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246626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Java 17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93790" y="2895481"/>
            <a:ext cx="418218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programming language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23986" y="1821418"/>
            <a:ext cx="396835" cy="39683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23986" y="2466261"/>
            <a:ext cx="318563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Selenium WebDriver 4.18.1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223986" y="2895481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automation framework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54302" y="1821418"/>
            <a:ext cx="396835" cy="39683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54302" y="246626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TestNG 7.9.0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9654302" y="2895481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framework, assertions, HTML reporting</a:t>
            </a:r>
            <a:endParaRPr lang="en-US" sz="15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3609856"/>
            <a:ext cx="396835" cy="39683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93790" y="4254698"/>
            <a:ext cx="301311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WebDriverManager 5.7.0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793790" y="4683919"/>
            <a:ext cx="41821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 ChromeDriver binary management</a:t>
            </a:r>
            <a:endParaRPr lang="en-US" sz="15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23986" y="3609856"/>
            <a:ext cx="396835" cy="39683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23986" y="4254698"/>
            <a:ext cx="298013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Maven 3 + Surefire 3.2.5</a:t>
            </a:r>
            <a:endParaRPr lang="en-US" sz="1950" dirty="0"/>
          </a:p>
        </p:txBody>
      </p:sp>
      <p:sp>
        <p:nvSpPr>
          <p:cNvPr id="17" name="Text 10"/>
          <p:cNvSpPr/>
          <p:nvPr/>
        </p:nvSpPr>
        <p:spPr>
          <a:xfrm>
            <a:off x="5223986" y="4683919"/>
            <a:ext cx="41823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Build, dependency management, test execution</a:t>
            </a:r>
            <a:endParaRPr lang="en-US" sz="15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54302" y="3609856"/>
            <a:ext cx="396835" cy="39683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654302" y="42546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Google Chrome</a:t>
            </a:r>
            <a:endParaRPr lang="en-US" sz="1950" dirty="0"/>
          </a:p>
        </p:txBody>
      </p:sp>
      <p:sp>
        <p:nvSpPr>
          <p:cNvPr id="20" name="Text 12"/>
          <p:cNvSpPr/>
          <p:nvPr/>
        </p:nvSpPr>
        <p:spPr>
          <a:xfrm>
            <a:off x="9654302" y="4683919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under test</a:t>
            </a:r>
            <a:endParaRPr lang="en-US" sz="15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3790" y="5715833"/>
            <a:ext cx="396835" cy="39683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93790" y="63606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Windows 10/11</a:t>
            </a:r>
            <a:endParaRPr lang="en-US" sz="1950" dirty="0"/>
          </a:p>
        </p:txBody>
      </p:sp>
      <p:sp>
        <p:nvSpPr>
          <p:cNvPr id="23" name="Text 14"/>
          <p:cNvSpPr/>
          <p:nvPr/>
        </p:nvSpPr>
        <p:spPr>
          <a:xfrm>
            <a:off x="793790" y="6789896"/>
            <a:ext cx="418218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system</a:t>
            </a:r>
            <a:endParaRPr lang="en-US" sz="155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986" y="5715833"/>
            <a:ext cx="396835" cy="39683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23986" y="63606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 / GitHub</a:t>
            </a:r>
            <a:endParaRPr lang="en-US" sz="1950" dirty="0"/>
          </a:p>
        </p:txBody>
      </p:sp>
      <p:sp>
        <p:nvSpPr>
          <p:cNvPr id="26" name="Text 16"/>
          <p:cNvSpPr/>
          <p:nvPr/>
        </p:nvSpPr>
        <p:spPr>
          <a:xfrm>
            <a:off x="5223986" y="6789896"/>
            <a:ext cx="41823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control and code repository</a:t>
            </a:r>
            <a:endParaRPr lang="en-US" sz="15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54302" y="5715833"/>
            <a:ext cx="396835" cy="39683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654302" y="636067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config.properties</a:t>
            </a:r>
            <a:endParaRPr lang="en-US" sz="1950" dirty="0"/>
          </a:p>
        </p:txBody>
      </p:sp>
      <p:sp>
        <p:nvSpPr>
          <p:cNvPr id="29" name="Text 18"/>
          <p:cNvSpPr/>
          <p:nvPr/>
        </p:nvSpPr>
        <p:spPr>
          <a:xfrm>
            <a:off x="9654302" y="6789896"/>
            <a:ext cx="41823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Externalized credential and URL configuration</a:t>
            </a:r>
            <a:endParaRPr lang="en-US" sz="15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4123A21-2192-F206-E68A-3635B3B33AB2}"/>
              </a:ext>
            </a:extLst>
          </p:cNvPr>
          <p:cNvPicPr/>
          <p:nvPr/>
        </p:nvPicPr>
        <p:blipFill>
          <a:blip r:embed="rId12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76" y="529828"/>
            <a:ext cx="6539151" cy="56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Under Test: </a:t>
            </a:r>
            <a:r>
              <a:rPr lang="en-US" sz="3500" b="1" u="sng" dirty="0">
                <a:solidFill>
                  <a:srgbClr val="7B66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GOG.com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19376" y="1417915"/>
            <a:ext cx="1319164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GOG.com is a DRM-free digital PC game store owned by CD PROJEKT. The platform features an Angular-based SPA with asynchronous XHR content loading.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19376" y="2210991"/>
            <a:ext cx="2248257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Features Tested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19376" y="2736413"/>
            <a:ext cx="13191649" cy="193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page, Login, and Account Sign-up flows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functionality and results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 product page (The Witcher 3)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Genre browser (RPG category)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 and Checkout process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navigation persistence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9376" y="4911923"/>
            <a:ext cx="406991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Automation Constraints Encountered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62702" y="5437346"/>
            <a:ext cx="13191649" cy="2262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GDPR cookie consent banner (handled by TestUtils.dismissCookieConsent)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 gate button must be clicked before form fields appear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CAPTCHA/bot protection on login after repeated failures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Age-gate overlay on game detail pages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Lazy-loaded product tiles requiring timed pauses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Price/availability changes during sales (tested for presence only)</a:t>
            </a:r>
            <a:endParaRPr lang="en-US" sz="1400" dirty="0"/>
          </a:p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0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Anti-automation detection (mitigated via Chrome flags)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9CC082-DB5E-7448-1187-C7C02E72CE0C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47882"/>
            <a:ext cx="645783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 Architecture &amp; Design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164794"/>
            <a:ext cx="6422231" cy="1824276"/>
          </a:xfrm>
          <a:prstGeom prst="roundRect">
            <a:avLst>
              <a:gd name="adj" fmla="val 6015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0930" y="2164794"/>
            <a:ext cx="91440" cy="182427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83588" y="238601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 Test Classes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83588" y="2815233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in separate Java file under com.gog.tests package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2164794"/>
            <a:ext cx="6422231" cy="1824276"/>
          </a:xfrm>
          <a:prstGeom prst="roundRect">
            <a:avLst>
              <a:gd name="adj" fmla="val 6015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1519" y="2164794"/>
            <a:ext cx="91440" cy="182427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04177" y="2386013"/>
            <a:ext cx="293846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BaseTest Abstract Class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704177" y="2815233"/>
            <a:ext cx="59112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ChromeDriver setup/teardown, WebDriverWait (20s), anti-automation Chrome flags, implicit wait (10s), BASE_URL constant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3790" y="4187428"/>
            <a:ext cx="6422231" cy="1506736"/>
          </a:xfrm>
          <a:prstGeom prst="roundRect">
            <a:avLst>
              <a:gd name="adj" fmla="val 7282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0930" y="4187428"/>
            <a:ext cx="91440" cy="150673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83588" y="4408646"/>
            <a:ext cx="351389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AuthenticatedTest Extension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3588" y="4837867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Extends BaseTest with automatic pre-test login for authenticated test classes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14379" y="4187428"/>
            <a:ext cx="6422231" cy="1506736"/>
          </a:xfrm>
          <a:prstGeom prst="roundRect">
            <a:avLst>
              <a:gd name="adj" fmla="val 7282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1519" y="4187428"/>
            <a:ext cx="91440" cy="150673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04177" y="4408646"/>
            <a:ext cx="299085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TestUtils Shared Helpers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704177" y="4837867"/>
            <a:ext cx="59112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Reusable utilities avoiding code duplication across all 8 classes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93790" y="5892522"/>
            <a:ext cx="6422231" cy="1189196"/>
          </a:xfrm>
          <a:prstGeom prst="roundRect">
            <a:avLst>
              <a:gd name="adj" fmla="val 9227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0930" y="5892522"/>
            <a:ext cx="91440" cy="118919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83588" y="6113740"/>
            <a:ext cx="255317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Sequential Execution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83588" y="6542961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parallel="none" to avoid session/cookie conflicts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14379" y="5892522"/>
            <a:ext cx="6422231" cy="1189196"/>
          </a:xfrm>
          <a:prstGeom prst="roundRect">
            <a:avLst>
              <a:gd name="adj" fmla="val 9227"/>
            </a:avLst>
          </a:prstGeom>
          <a:solidFill>
            <a:srgbClr val="272525"/>
          </a:solidFill>
          <a:ln w="2286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91519" y="5892522"/>
            <a:ext cx="91440" cy="1189196"/>
          </a:xfrm>
          <a:prstGeom prst="roundRect">
            <a:avLst>
              <a:gd name="adj" fmla="val 91163"/>
            </a:avLst>
          </a:prstGeom>
          <a:solidFill>
            <a:srgbClr val="2B0A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04177" y="611374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53 Test Methods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7704177" y="6542961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across all test classes</a:t>
            </a:r>
            <a:endParaRPr lang="en-US" sz="15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EB001D-19EB-60E0-9084-1C7339D931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882610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 Page, Login &amp; Signup Tests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793790" y="2618780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HomePageTest (7 tests)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793790" y="3437453"/>
            <a:ext cx="2169200" cy="3840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title contains "GOG"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and logo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one product tile rendered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link accessible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Footer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URL is HTTPS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3454718" y="2618780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LoginPageTest (7 tests)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3454718" y="3437453"/>
            <a:ext cx="2169200" cy="2996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password, submit fields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password and create account links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Invalid credentials trigger error message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115645" y="2618780"/>
            <a:ext cx="2249567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SignupPageTest (7 tests)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6115645" y="3437453"/>
            <a:ext cx="2249567" cy="267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password, username, submit fields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and Privacy/Terms links accessible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loads on gog.com domain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17377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Search, Navigation &amp; Genre Tests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793790" y="2653546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SearchTest (6 tests)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793790" y="3472220"/>
            <a:ext cx="2169200" cy="3383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icon present in header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results page loads for "witcher" query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tiles, tile images, and tile titles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Sort/filter controls visible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3454718" y="2653546"/>
            <a:ext cx="2169200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NavigationTest (6 tests)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3454718" y="3472220"/>
            <a:ext cx="2169200" cy="377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navigates to home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Store/Games link in header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button accessible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persists across multiple pages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Cart/wishlist icon present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115645" y="2653546"/>
            <a:ext cx="2249567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GenreBrowseTest (6 tests)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6115645" y="3472220"/>
            <a:ext cx="2249567" cy="3701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/games catalog and /games?genres=rpg load successfully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RPG genre tiles and cover images present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Sort/filter controls visible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heading contains "GOG" or "game"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133373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Takeaways</a:t>
            </a:r>
            <a:endParaRPr lang="en-US" sz="3900" dirty="0"/>
          </a:p>
        </p:txBody>
      </p:sp>
      <p:sp>
        <p:nvSpPr>
          <p:cNvPr id="6" name="Shape 2"/>
          <p:cNvSpPr/>
          <p:nvPr/>
        </p:nvSpPr>
        <p:spPr>
          <a:xfrm>
            <a:off x="793790" y="2251472"/>
            <a:ext cx="3679031" cy="1793796"/>
          </a:xfrm>
          <a:prstGeom prst="roundRect">
            <a:avLst>
              <a:gd name="adj" fmla="val 4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999768" y="2457450"/>
            <a:ext cx="314336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Comprehensive Coverage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999768" y="2886670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 test methods across 8 classes validate critical user flows from browsing to checkout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4671179" y="2251472"/>
            <a:ext cx="3679031" cy="1793796"/>
          </a:xfrm>
          <a:prstGeom prst="roundRect">
            <a:avLst>
              <a:gd name="adj" fmla="val 4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877157" y="24574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 Architecture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4877157" y="2886670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BaseTest and TestUtils provide reusable infrastructure, reducing code duplication and maintenance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793790" y="4243626"/>
            <a:ext cx="7556421" cy="1476256"/>
          </a:xfrm>
          <a:prstGeom prst="roundRect">
            <a:avLst>
              <a:gd name="adj" fmla="val 5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999768" y="4449604"/>
            <a:ext cx="282642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Real-World Constraints</a:t>
            </a:r>
            <a:endParaRPr lang="en-US" sz="1950" dirty="0"/>
          </a:p>
        </p:txBody>
      </p:sp>
      <p:sp>
        <p:nvSpPr>
          <p:cNvPr id="14" name="Text 10"/>
          <p:cNvSpPr/>
          <p:nvPr/>
        </p:nvSpPr>
        <p:spPr>
          <a:xfrm>
            <a:off x="999768" y="4878824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handled GDPR, CAPTCHA, age-gates, lazy-loading, and anti-automation detection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93790" y="5943124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automated test suite establishes a repeatable regression baseline for GOG.com, improving product quality confidence and reducing manual testing burden.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7A0F1-5D5D-846C-0DEB-34AAD86C3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4B85F87-42A0-3FF4-D9B1-2F71E9683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B5030F7B-66AE-01E4-DF75-1E44E9FBFC96}"/>
              </a:ext>
            </a:extLst>
          </p:cNvPr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32D7A89-F842-3F0D-B67C-610A2DB0E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14B731FC-9CFF-FAAC-E293-B42E52FEA7FB}"/>
              </a:ext>
            </a:extLst>
          </p:cNvPr>
          <p:cNvSpPr/>
          <p:nvPr/>
        </p:nvSpPr>
        <p:spPr>
          <a:xfrm>
            <a:off x="793790" y="133373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Takeaways</a:t>
            </a:r>
            <a:endParaRPr lang="en-US" sz="39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6500B6C-6A9A-65E0-3C47-59E89E402DD0}"/>
              </a:ext>
            </a:extLst>
          </p:cNvPr>
          <p:cNvSpPr/>
          <p:nvPr/>
        </p:nvSpPr>
        <p:spPr>
          <a:xfrm>
            <a:off x="793790" y="2251472"/>
            <a:ext cx="3679031" cy="1793796"/>
          </a:xfrm>
          <a:prstGeom prst="roundRect">
            <a:avLst>
              <a:gd name="adj" fmla="val 4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69A384F-7B3E-D571-F373-B28149F5F89E}"/>
              </a:ext>
            </a:extLst>
          </p:cNvPr>
          <p:cNvSpPr/>
          <p:nvPr/>
        </p:nvSpPr>
        <p:spPr>
          <a:xfrm>
            <a:off x="999768" y="2457450"/>
            <a:ext cx="314336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Comprehensive Coverage</a:t>
            </a:r>
            <a:endParaRPr lang="en-US" sz="195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4AA33A9-0BB2-312A-7DFD-C57F1801713E}"/>
              </a:ext>
            </a:extLst>
          </p:cNvPr>
          <p:cNvSpPr/>
          <p:nvPr/>
        </p:nvSpPr>
        <p:spPr>
          <a:xfrm>
            <a:off x="999768" y="2886670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 test methods across 8 classes validate critical user flows from browsing to checkout</a:t>
            </a:r>
            <a:endParaRPr lang="en-US" sz="155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3D862C9-7A0C-AC8A-E028-8DE73BBD97B2}"/>
              </a:ext>
            </a:extLst>
          </p:cNvPr>
          <p:cNvSpPr/>
          <p:nvPr/>
        </p:nvSpPr>
        <p:spPr>
          <a:xfrm>
            <a:off x="4671179" y="2251472"/>
            <a:ext cx="3679031" cy="1793796"/>
          </a:xfrm>
          <a:prstGeom prst="roundRect">
            <a:avLst>
              <a:gd name="adj" fmla="val 4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BFE7CC6-603C-461B-5909-6DFFAFC47CA7}"/>
              </a:ext>
            </a:extLst>
          </p:cNvPr>
          <p:cNvSpPr/>
          <p:nvPr/>
        </p:nvSpPr>
        <p:spPr>
          <a:xfrm>
            <a:off x="4877157" y="24574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 Architecture</a:t>
            </a:r>
            <a:endParaRPr lang="en-US" sz="195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E42372A-2562-4B36-38E2-DE5CA6769E99}"/>
              </a:ext>
            </a:extLst>
          </p:cNvPr>
          <p:cNvSpPr/>
          <p:nvPr/>
        </p:nvSpPr>
        <p:spPr>
          <a:xfrm>
            <a:off x="4877157" y="2886670"/>
            <a:ext cx="32670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BaseTest and TestUtils provide reusable infrastructure, reducing code duplication and maintenance</a:t>
            </a:r>
            <a:endParaRPr lang="en-US" sz="155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E6BC0B37-E042-D490-3566-B53180C26736}"/>
              </a:ext>
            </a:extLst>
          </p:cNvPr>
          <p:cNvSpPr/>
          <p:nvPr/>
        </p:nvSpPr>
        <p:spPr>
          <a:xfrm>
            <a:off x="793790" y="4243626"/>
            <a:ext cx="7556421" cy="1476256"/>
          </a:xfrm>
          <a:prstGeom prst="roundRect">
            <a:avLst>
              <a:gd name="adj" fmla="val 564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E80ADE8-AED6-1643-03CF-2C0DFA9C90C3}"/>
              </a:ext>
            </a:extLst>
          </p:cNvPr>
          <p:cNvSpPr/>
          <p:nvPr/>
        </p:nvSpPr>
        <p:spPr>
          <a:xfrm>
            <a:off x="999768" y="4449604"/>
            <a:ext cx="282642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Real-World Constraints</a:t>
            </a:r>
            <a:endParaRPr lang="en-US" sz="195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E11742D-127E-5132-D156-6D88824AF9CD}"/>
              </a:ext>
            </a:extLst>
          </p:cNvPr>
          <p:cNvSpPr/>
          <p:nvPr/>
        </p:nvSpPr>
        <p:spPr>
          <a:xfrm>
            <a:off x="999768" y="4878824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handled GDPR, CAPTCHA, age-gates, lazy-loading, and anti-automation detection</a:t>
            </a:r>
            <a:endParaRPr lang="en-US" sz="155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2E81F54F-BF5C-27A8-22EB-33A71C42497D}"/>
              </a:ext>
            </a:extLst>
          </p:cNvPr>
          <p:cNvSpPr/>
          <p:nvPr/>
        </p:nvSpPr>
        <p:spPr>
          <a:xfrm>
            <a:off x="793790" y="5943124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automated test suite establishes a repeatable regression baseline for GOG.com, improving product quality confidence and reducing manual testing burden.</a:t>
            </a:r>
            <a:endParaRPr lang="en-US" sz="1550" dirty="0"/>
          </a:p>
        </p:txBody>
      </p:sp>
    </p:spTree>
    <p:extLst>
      <p:ext uri="{BB962C8B-B14F-4D97-AF65-F5344CB8AC3E}">
        <p14:creationId xmlns:p14="http://schemas.microsoft.com/office/powerpoint/2010/main" val="4250509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C9DA1E-25B3-B8DB-32D1-D828C641839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95315F3-4A4C-1431-1821-39024AEA05FE}"/>
              </a:ext>
            </a:extLst>
          </p:cNvPr>
          <p:cNvSpPr/>
          <p:nvPr/>
        </p:nvSpPr>
        <p:spPr>
          <a:xfrm>
            <a:off x="793790" y="133373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Improvements</a:t>
            </a:r>
            <a:endParaRPr lang="en-US" sz="3900" dirty="0"/>
          </a:p>
        </p:txBody>
      </p:sp>
    </p:spTree>
    <p:extLst>
      <p:ext uri="{BB962C8B-B14F-4D97-AF65-F5344CB8AC3E}">
        <p14:creationId xmlns:p14="http://schemas.microsoft.com/office/powerpoint/2010/main" val="1547293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67DC1-25F9-D168-231A-5F62C702F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60CFC5-3A9C-76F6-950F-F2F6F561165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620080" y="7715178"/>
            <a:ext cx="3010320" cy="514422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0F4F32A-EA87-6BD3-8429-D0B1A87F383F}"/>
              </a:ext>
            </a:extLst>
          </p:cNvPr>
          <p:cNvSpPr/>
          <p:nvPr/>
        </p:nvSpPr>
        <p:spPr>
          <a:xfrm>
            <a:off x="793790" y="133373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</a:t>
            </a:r>
            <a:endParaRPr lang="en-US" sz="3900" dirty="0"/>
          </a:p>
        </p:txBody>
      </p:sp>
    </p:spTree>
    <p:extLst>
      <p:ext uri="{BB962C8B-B14F-4D97-AF65-F5344CB8AC3E}">
        <p14:creationId xmlns:p14="http://schemas.microsoft.com/office/powerpoint/2010/main" val="2124667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1022</Words>
  <Application>Microsoft Office PowerPoint</Application>
  <PresentationFormat>Custom</PresentationFormat>
  <Paragraphs>156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Inter Bold</vt:lpstr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Robert Benstine</cp:lastModifiedBy>
  <cp:revision>3</cp:revision>
  <dcterms:created xsi:type="dcterms:W3CDTF">2026-04-14T21:04:49Z</dcterms:created>
  <dcterms:modified xsi:type="dcterms:W3CDTF">2026-04-15T00:14:55Z</dcterms:modified>
</cp:coreProperties>
</file>